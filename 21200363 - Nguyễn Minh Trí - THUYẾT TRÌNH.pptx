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1" r:id="rId1"/>
  </p:sldMasterIdLst>
  <p:notesMasterIdLst>
    <p:notesMasterId r:id="rId16"/>
  </p:notesMasterIdLst>
  <p:sldIdLst>
    <p:sldId id="256" r:id="rId2"/>
    <p:sldId id="258" r:id="rId3"/>
    <p:sldId id="257" r:id="rId4"/>
    <p:sldId id="259" r:id="rId5"/>
    <p:sldId id="263" r:id="rId6"/>
    <p:sldId id="271" r:id="rId7"/>
    <p:sldId id="262" r:id="rId8"/>
    <p:sldId id="260" r:id="rId9"/>
    <p:sldId id="268" r:id="rId10"/>
    <p:sldId id="269" r:id="rId11"/>
    <p:sldId id="267" r:id="rId12"/>
    <p:sldId id="266" r:id="rId13"/>
    <p:sldId id="265" r:id="rId14"/>
    <p:sldId id="270" r:id="rId15"/>
  </p:sldIdLst>
  <p:sldSz cx="14630400" cy="8229600"/>
  <p:notesSz cx="8229600" cy="14630400"/>
  <p:embeddedFontLst>
    <p:embeddedFont>
      <p:font typeface="Alice" panose="020B0604020202020204" charset="0"/>
      <p:regular r:id="rId17"/>
    </p:embeddedFont>
    <p:embeddedFont>
      <p:font typeface="Cambria" panose="02040503050406030204" pitchFamily="18"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Figtree Black" panose="020B0604020202020204" charset="0"/>
      <p:bold r:id="rId26"/>
      <p:boldItalic r:id="rId27"/>
    </p:embeddedFont>
    <p:embeddedFont>
      <p:font typeface="Hanken Grotesk" panose="020B0604020202020204" charset="0"/>
      <p:regular r:id="rId28"/>
      <p:bold r:id="rId29"/>
      <p:italic r:id="rId30"/>
      <p:boldItalic r:id="rId31"/>
    </p:embeddedFont>
    <p:embeddedFont>
      <p:font typeface="Lora" pitchFamily="2" charset="0"/>
      <p:regular r:id="rId32"/>
      <p:bold r:id="rId33"/>
      <p:italic r:id="rId34"/>
      <p:boldItalic r:id="rId3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3660" autoAdjust="0"/>
  </p:normalViewPr>
  <p:slideViewPr>
    <p:cSldViewPr snapToGrid="0" snapToObjects="1">
      <p:cViewPr varScale="1">
        <p:scale>
          <a:sx n="57" d="100"/>
          <a:sy n="57" d="100"/>
        </p:scale>
        <p:origin x="1214" y="101"/>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tableStyles" Target="tableStyles.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50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13B3-D7D5-4CEF-E140-A243F3B43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11C14-95AF-AC48-8E6D-3B478E594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C107E-E06F-3B66-FDCA-3D67F25FE396}"/>
              </a:ext>
            </a:extLst>
          </p:cNvPr>
          <p:cNvSpPr>
            <a:spLocks noGrp="1"/>
          </p:cNvSpPr>
          <p:nvPr>
            <p:ph type="body" idx="1"/>
          </p:nvPr>
        </p:nvSpPr>
        <p:spPr/>
        <p:txBody>
          <a:bodyPr/>
          <a:lstStyle/>
          <a:p>
            <a:r>
              <a:rPr lang="vi-VN" b="1" dirty="0"/>
              <a:t>Kết Quả Huấn Luyện Mô Hình Phát Hiện Biển Số (YOLOv5 - Plate Detection)</a:t>
            </a:r>
          </a:p>
          <a:p>
            <a:r>
              <a:rPr lang="vi-VN" dirty="0"/>
              <a:t>Mô hình YOLOv5 dùng để </a:t>
            </a:r>
            <a:r>
              <a:rPr lang="vi-VN" b="1" dirty="0"/>
              <a:t>xác định vị trí biển số xe trong ảnh</a:t>
            </a:r>
            <a:r>
              <a:rPr lang="vi-VN" dirty="0"/>
              <a:t>, chuẩn bị cho bước trích xuất ký tự.</a:t>
            </a:r>
          </a:p>
          <a:p>
            <a:r>
              <a:rPr lang="vi-VN" dirty="0"/>
              <a:t>Bộ dữ liệu: </a:t>
            </a:r>
            <a:r>
              <a:rPr lang="vi-VN" b="1" dirty="0"/>
              <a:t>1652 ảnh</a:t>
            </a:r>
            <a:r>
              <a:rPr lang="vi-VN" dirty="0"/>
              <a:t>, chứa </a:t>
            </a:r>
            <a:r>
              <a:rPr lang="vi-VN" b="1" dirty="0"/>
              <a:t>1667 instance biển số</a:t>
            </a:r>
            <a:r>
              <a:rPr lang="vi-VN" dirty="0"/>
              <a:t>, huấn luyện trong </a:t>
            </a:r>
            <a:r>
              <a:rPr lang="vi-VN" b="1" dirty="0"/>
              <a:t>30 epochs (~34 phút)</a:t>
            </a:r>
            <a:r>
              <a:rPr lang="vi-VN" dirty="0"/>
              <a:t>.</a:t>
            </a:r>
          </a:p>
          <a:p>
            <a:r>
              <a:rPr lang="vi-VN" b="1" dirty="0"/>
              <a:t>Precision (P)</a:t>
            </a:r>
            <a:r>
              <a:rPr lang="en-US" b="1" dirty="0"/>
              <a:t>: </a:t>
            </a:r>
            <a:r>
              <a:rPr lang="vi-VN" dirty="0"/>
              <a:t>0.996Gần như không có báo động giả, mô hình cực kỳ chính xác khi dự đoán biển số.</a:t>
            </a:r>
            <a:endParaRPr lang="en-US" dirty="0"/>
          </a:p>
          <a:p>
            <a:r>
              <a:rPr lang="vi-VN" b="1" dirty="0"/>
              <a:t>Recall (R)</a:t>
            </a:r>
            <a:r>
              <a:rPr lang="en-US" b="1" dirty="0"/>
              <a:t>: </a:t>
            </a:r>
            <a:r>
              <a:rPr lang="vi-VN" dirty="0"/>
              <a:t>0.995Tìm được hầu như toàn bộ biển số thực tế trong ảnh.</a:t>
            </a:r>
            <a:endParaRPr lang="en-US" dirty="0"/>
          </a:p>
          <a:p>
            <a:r>
              <a:rPr lang="vi-VN" b="1" dirty="0"/>
              <a:t>mAP@0.5</a:t>
            </a:r>
            <a:r>
              <a:rPr lang="en-US" b="1" dirty="0"/>
              <a:t>: </a:t>
            </a:r>
            <a:r>
              <a:rPr lang="vi-VN" dirty="0"/>
              <a:t>0.995Mô hình xác định rất chính xác vùng chứa biển số.</a:t>
            </a:r>
            <a:endParaRPr lang="en-US" dirty="0"/>
          </a:p>
          <a:p>
            <a:r>
              <a:rPr lang="vi-VN" b="1" dirty="0"/>
              <a:t>mAP@0.5:0.95</a:t>
            </a:r>
            <a:r>
              <a:rPr lang="en-US" b="1" dirty="0"/>
              <a:t>: </a:t>
            </a:r>
            <a:r>
              <a:rPr lang="vi-VN" dirty="0"/>
              <a:t>0.733Hiệu quả tốt ngay cả với các trường hợp khó, như biển số nghiêng, mờ hoặc bị che khuất một phần.</a:t>
            </a:r>
          </a:p>
          <a:p>
            <a:r>
              <a:rPr lang="vi-VN" dirty="0"/>
              <a:t>Với độ chính xác cao gần như tuyệt đối, mô hình này là </a:t>
            </a:r>
            <a:r>
              <a:rPr lang="vi-VN" b="1" dirty="0"/>
              <a:t>bước đầu lý tưởng trong pipeline</a:t>
            </a:r>
            <a:r>
              <a:rPr lang="vi-VN" dirty="0"/>
              <a:t>, giúp xác định nhanh và đúng </a:t>
            </a:r>
            <a:r>
              <a:rPr lang="vi-VN" b="1" dirty="0"/>
              <a:t>vị trí biển số</a:t>
            </a:r>
            <a:r>
              <a:rPr lang="vi-VN" dirty="0"/>
              <a:t> để xử lý tiếp.</a:t>
            </a:r>
          </a:p>
          <a:p>
            <a:r>
              <a:rPr lang="vi-VN" dirty="0"/>
              <a:t>mAP@0.5:0.95 khá tốt chứng minh khả năng </a:t>
            </a:r>
            <a:r>
              <a:rPr lang="vi-VN" b="1" dirty="0"/>
              <a:t>chống chịu biến dạng hình ảnh</a:t>
            </a:r>
            <a:r>
              <a:rPr lang="vi-VN" dirty="0"/>
              <a:t>, giúp mô hình vận hành ổn định trong điều kiện ánh sáng yếu, lệch góc hoặc ảnh chất lượng thấp.</a:t>
            </a:r>
          </a:p>
          <a:p>
            <a:r>
              <a:rPr lang="vi-VN" dirty="0"/>
              <a:t>Khi sử dụng kết hợp với mô hình nhận diện ký tự (slide trước), hệ thống có thể thực hiện pipeline:</a:t>
            </a:r>
          </a:p>
          <a:p>
            <a:r>
              <a:rPr lang="vi-VN" b="1" dirty="0"/>
              <a:t>YOLOv5 (phát hiện biển số) → Cắt ảnh → Mô hình OCR (phân tích ký tự)</a:t>
            </a:r>
            <a:br>
              <a:rPr lang="vi-VN" dirty="0"/>
            </a:br>
            <a:r>
              <a:rPr lang="vi-VN" dirty="0"/>
              <a:t>→ đảm bảo hiệu quả cao từ phát hiện đến nhận dạng.</a:t>
            </a:r>
          </a:p>
          <a:p>
            <a:r>
              <a:rPr lang="vi-VN" dirty="0"/>
              <a:t>Sử dụng </a:t>
            </a:r>
            <a:r>
              <a:rPr lang="vi-VN" b="1" dirty="0"/>
              <a:t>auto-label</a:t>
            </a:r>
            <a:r>
              <a:rPr lang="vi-VN" dirty="0"/>
              <a:t> và tăng thêm dữ liệu biển số nghiêng hoặc ban đêm để cải thiện mAP@0.5:0.95.</a:t>
            </a:r>
          </a:p>
          <a:p>
            <a:r>
              <a:rPr lang="vi-VN" dirty="0"/>
              <a:t>Áp dụng mô hình vào video streaming để thử nghiệm hiệu năng thực tế theo thời gian thực.</a:t>
            </a:r>
          </a:p>
          <a:p>
            <a:endParaRPr lang="en-US" dirty="0"/>
          </a:p>
        </p:txBody>
      </p:sp>
      <p:sp>
        <p:nvSpPr>
          <p:cNvPr id="4" name="Slide Number Placeholder 3">
            <a:extLst>
              <a:ext uri="{FF2B5EF4-FFF2-40B4-BE49-F238E27FC236}">
                <a16:creationId xmlns:a16="http://schemas.microsoft.com/office/drawing/2014/main" id="{1B421239-7281-D210-E454-C1E7A648711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26848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7E13-7C19-1430-13DB-5F0F2E05F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E8DB2-6E23-CABC-4D6E-5CC0F192A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1935B-6CAE-F0AF-3FA2-56BA01E6996F}"/>
              </a:ext>
            </a:extLst>
          </p:cNvPr>
          <p:cNvSpPr>
            <a:spLocks noGrp="1"/>
          </p:cNvSpPr>
          <p:nvPr>
            <p:ph type="body" idx="1"/>
          </p:nvPr>
        </p:nvSpPr>
        <p:spPr/>
        <p:txBody>
          <a:bodyPr/>
          <a:lstStyle/>
          <a:p>
            <a:r>
              <a:rPr lang="vi-VN" b="1" dirty="0"/>
              <a:t>Kết Quả Huấn Luyện Mô Hình Nhận Diện Ký Tự (Character Recognition)</a:t>
            </a:r>
          </a:p>
          <a:p>
            <a:r>
              <a:rPr lang="vi-VN" dirty="0"/>
              <a:t>Sử dụng kiến trúc YOLOv5 để </a:t>
            </a:r>
            <a:r>
              <a:rPr lang="vi-VN" b="1" dirty="0"/>
              <a:t>phân loại từng ký tự</a:t>
            </a:r>
            <a:r>
              <a:rPr lang="vi-VN" dirty="0"/>
              <a:t> xuất hiện trong biển số xe.</a:t>
            </a:r>
          </a:p>
          <a:p>
            <a:r>
              <a:rPr lang="vi-VN" dirty="0"/>
              <a:t>Bộ dữ liệu gồm </a:t>
            </a:r>
            <a:r>
              <a:rPr lang="vi-VN" b="1" dirty="0"/>
              <a:t>767 ảnh</a:t>
            </a:r>
            <a:r>
              <a:rPr lang="vi-VN" dirty="0"/>
              <a:t>, chứa tổng cộng </a:t>
            </a:r>
            <a:r>
              <a:rPr lang="vi-VN" b="1" dirty="0"/>
              <a:t>6236 instance</a:t>
            </a:r>
            <a:r>
              <a:rPr lang="vi-VN" dirty="0"/>
              <a:t> của 36 lớp (0-9, A-Z).</a:t>
            </a:r>
          </a:p>
          <a:p>
            <a:r>
              <a:rPr lang="vi-VN" dirty="0"/>
              <a:t>Đào tạo trong </a:t>
            </a:r>
            <a:r>
              <a:rPr lang="en-US" b="1" dirty="0"/>
              <a:t>50</a:t>
            </a:r>
            <a:r>
              <a:rPr lang="vi-VN" b="1" dirty="0"/>
              <a:t> epochs </a:t>
            </a:r>
            <a:r>
              <a:rPr lang="en-US" b="1" dirty="0"/>
              <a:t>(</a:t>
            </a:r>
            <a:r>
              <a:rPr lang="en-US" b="1" dirty="0" err="1"/>
              <a:t>hơn</a:t>
            </a:r>
            <a:r>
              <a:rPr lang="en-US" b="1" dirty="0"/>
              <a:t> 1 </a:t>
            </a:r>
            <a:r>
              <a:rPr lang="en-US" b="1" dirty="0" err="1"/>
              <a:t>tiếng</a:t>
            </a:r>
            <a:r>
              <a:rPr lang="vi-VN" b="1" dirty="0"/>
              <a:t>)</a:t>
            </a:r>
            <a:r>
              <a:rPr lang="vi-VN" dirty="0"/>
              <a:t> </a:t>
            </a:r>
            <a:endParaRPr lang="en-US" dirty="0"/>
          </a:p>
          <a:p>
            <a:r>
              <a:rPr lang="vi-VN" b="1" dirty="0"/>
              <a:t>Precision (P)</a:t>
            </a:r>
            <a:r>
              <a:rPr lang="vi-VN" dirty="0"/>
              <a:t>0.975Mô hình rất chính xác, ít nhận nhầm ký </a:t>
            </a:r>
            <a:r>
              <a:rPr lang="vi-VN"/>
              <a:t>tự.</a:t>
            </a:r>
            <a:endParaRPr lang="en-US"/>
          </a:p>
          <a:p>
            <a:r>
              <a:rPr lang="vi-VN" b="1"/>
              <a:t>Recall (R)</a:t>
            </a:r>
            <a:r>
              <a:rPr lang="vi-VN"/>
              <a:t>0.974Mô hình tìm được gần như tất cả ký tự thực tế.</a:t>
            </a:r>
            <a:endParaRPr lang="en-US"/>
          </a:p>
          <a:p>
            <a:r>
              <a:rPr lang="vi-VN" b="1"/>
              <a:t>mAP@0.5</a:t>
            </a:r>
            <a:r>
              <a:rPr lang="vi-VN"/>
              <a:t>0.982Mức độ chính xác cao trong việc xác định đúng ký tự ở mức IoU ≥ 0.5.</a:t>
            </a:r>
            <a:endParaRPr lang="en-US"/>
          </a:p>
          <a:p>
            <a:r>
              <a:rPr lang="vi-VN" b="1"/>
              <a:t>mAP@0.5:0.95</a:t>
            </a:r>
            <a:r>
              <a:rPr lang="vi-VN"/>
              <a:t>0.765Mức độ chính xác trung bình nghiêm ngặt hơn, đánh giá tốt khả năng phân biệt ký tự ở các vị trí gần nhau hoặc biến dạng nhẹ.</a:t>
            </a:r>
          </a:p>
          <a:p>
            <a:r>
              <a:rPr lang="vi-VN"/>
              <a:t>Các ký tự như </a:t>
            </a:r>
            <a:r>
              <a:rPr lang="vi-VN" b="1"/>
              <a:t>D, H, M, I, Y, Z</a:t>
            </a:r>
            <a:r>
              <a:rPr lang="vi-VN"/>
              <a:t> đạt mAP &gt; 0.80 → nhận diện </a:t>
            </a:r>
            <a:r>
              <a:rPr lang="vi-VN" b="1"/>
              <a:t>ổn định và đáng tin cậy</a:t>
            </a:r>
            <a:r>
              <a:rPr lang="vi-VN"/>
              <a:t>.</a:t>
            </a:r>
          </a:p>
          <a:p>
            <a:r>
              <a:rPr lang="vi-VN"/>
              <a:t>Một </a:t>
            </a:r>
            <a:r>
              <a:rPr lang="vi-VN" dirty="0"/>
              <a:t>số ký tự như </a:t>
            </a:r>
            <a:r>
              <a:rPr lang="vi-VN" b="1" dirty="0"/>
              <a:t>K (0.76), R (0.70), Q (0.75), C (0.73)</a:t>
            </a:r>
            <a:r>
              <a:rPr lang="vi-VN" dirty="0"/>
              <a:t> có mAP thấp hơn → do </a:t>
            </a:r>
            <a:r>
              <a:rPr lang="vi-VN" b="1" dirty="0"/>
              <a:t>số lượng ảnh huấn luyện ít</a:t>
            </a:r>
            <a:r>
              <a:rPr lang="vi-VN" dirty="0"/>
              <a:t> (chỉ từ 9–30 ảnh), ảnh hưởng tới hiệu quả phân loại.</a:t>
            </a:r>
          </a:p>
          <a:p>
            <a:r>
              <a:rPr lang="en-US"/>
              <a:t>📌 </a:t>
            </a:r>
            <a:r>
              <a:rPr lang="vi-VN" b="1"/>
              <a:t>Ý nghĩa thực tiễn</a:t>
            </a:r>
            <a:endParaRPr lang="vi-VN"/>
          </a:p>
          <a:p>
            <a:r>
              <a:rPr lang="vi-VN"/>
              <a:t>Mô </a:t>
            </a:r>
            <a:r>
              <a:rPr lang="vi-VN" dirty="0"/>
              <a:t>hình này phù hợp với </a:t>
            </a:r>
            <a:r>
              <a:rPr lang="vi-VN" b="1" dirty="0"/>
              <a:t>bước nhận diện ký tự (OCR)</a:t>
            </a:r>
            <a:r>
              <a:rPr lang="vi-VN" dirty="0"/>
              <a:t> sau khi đã phát hiện biển số.</a:t>
            </a:r>
          </a:p>
          <a:p>
            <a:r>
              <a:rPr lang="vi-VN" dirty="0"/>
              <a:t>Kết quả chứng minh mô hình có thể </a:t>
            </a:r>
            <a:r>
              <a:rPr lang="vi-VN" b="1" dirty="0"/>
              <a:t>xử lý tốt sự đa dạng trong kiểu chữ và điều kiện ánh sáng</a:t>
            </a:r>
            <a:r>
              <a:rPr lang="vi-VN" dirty="0"/>
              <a:t>, đặc biệt hữu ích cho hệ thống thực tế tại bãi giữ xe, trạm kiểm soát, v.v.</a:t>
            </a:r>
          </a:p>
          <a:p>
            <a:r>
              <a:rPr lang="en-US"/>
              <a:t>📌 </a:t>
            </a:r>
            <a:r>
              <a:rPr lang="vi-VN" b="1"/>
              <a:t>Hướng cải thiện</a:t>
            </a:r>
            <a:endParaRPr lang="vi-VN"/>
          </a:p>
          <a:p>
            <a:r>
              <a:rPr lang="vi-VN" b="1"/>
              <a:t>Tăng </a:t>
            </a:r>
            <a:r>
              <a:rPr lang="vi-VN" b="1" dirty="0"/>
              <a:t>cường dữ liệu</a:t>
            </a:r>
            <a:r>
              <a:rPr lang="vi-VN" dirty="0"/>
              <a:t> cho các ký tự có ít ảnh (như R, K, Q).</a:t>
            </a:r>
          </a:p>
          <a:p>
            <a:r>
              <a:rPr lang="vi-VN" dirty="0"/>
              <a:t>Kết hợp thêm mô hình CRNN hoặc Tesseract để thử nghiệm hiệu quả OCR nâng cao.</a:t>
            </a:r>
          </a:p>
        </p:txBody>
      </p:sp>
      <p:sp>
        <p:nvSpPr>
          <p:cNvPr id="4" name="Slide Number Placeholder 3">
            <a:extLst>
              <a:ext uri="{FF2B5EF4-FFF2-40B4-BE49-F238E27FC236}">
                <a16:creationId xmlns:a16="http://schemas.microsoft.com/office/drawing/2014/main" id="{A9BA3969-4AB5-33F3-1BC7-BD3CD283B5F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71592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57A5-9884-3A09-77CE-2A3393612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4ABD8-648E-9671-553A-CBE98F75097D}"/>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4867A92-37C8-CD01-CF1D-16747FEB7AFE}"/>
              </a:ext>
            </a:extLst>
          </p:cNvPr>
          <p:cNvSpPr>
            <a:spLocks noGrp="1"/>
          </p:cNvSpPr>
          <p:nvPr>
            <p:ph type="body" idx="1"/>
          </p:nvPr>
        </p:nvSpPr>
        <p:spPr>
          <a:xfrm>
            <a:off x="822325" y="7040563"/>
            <a:ext cx="6584950" cy="5761037"/>
          </a:xfrm>
          <a:prstGeom prst="rect">
            <a:avLst/>
          </a:prstGeom>
        </p:spPr>
        <p:txBody>
          <a:bodyPr/>
          <a:lstStyle/>
          <a:p>
            <a:r>
              <a:rPr lang="en-US" sz="1200" b="1" i="1" kern="1200" dirty="0">
                <a:solidFill>
                  <a:schemeClr val="tx1"/>
                </a:solidFill>
                <a:effectLst/>
                <a:latin typeface="+mn-lt"/>
                <a:ea typeface="+mn-ea"/>
                <a:cs typeface="+mn-cs"/>
              </a:rPr>
              <a:t>Các</a:t>
            </a:r>
            <a:r>
              <a:rPr lang="vi-VN" sz="1200" b="1" i="1" kern="1200" dirty="0">
                <a:solidFill>
                  <a:schemeClr val="tx1"/>
                </a:solidFill>
                <a:effectLst/>
                <a:latin typeface="+mn-lt"/>
                <a:ea typeface="+mn-ea"/>
                <a:cs typeface="+mn-cs"/>
              </a:rPr>
              <a:t> đồ thị trong </a:t>
            </a:r>
            <a:r>
              <a:rPr lang="en-US" sz="1200" b="1" i="1" kern="1200" dirty="0" err="1">
                <a:solidFill>
                  <a:schemeClr val="tx1"/>
                </a:solidFill>
                <a:effectLst/>
                <a:latin typeface="+mn-lt"/>
                <a:ea typeface="+mn-ea"/>
                <a:cs typeface="+mn-cs"/>
              </a:rPr>
              <a:t>quá</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trình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huấn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luyện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mô</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nhận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diện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biển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số</a:t>
            </a:r>
            <a:endParaRPr lang="en-US" sz="1200" b="1"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Box loss &amp; Objectness loss (train/val)</a:t>
            </a:r>
            <a:r>
              <a:rPr lang="vi-VN" sz="1200" kern="1200" dirty="0">
                <a:solidFill>
                  <a:schemeClr val="tx1"/>
                </a:solidFill>
                <a:effectLst/>
                <a:latin typeface="+mn-lt"/>
                <a:ea typeface="+mn-ea"/>
                <a:cs typeface="+mn-cs"/>
              </a:rPr>
              <a:t>: Cả hai loại mất mát đều giảm đều theo thời gian, cho thấy mô hình học được cách phân biệt các biển số xe xuất hiện trong hình.</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Classification loss</a:t>
            </a:r>
            <a:r>
              <a:rPr lang="vi-VN" sz="1200" kern="1200" dirty="0">
                <a:solidFill>
                  <a:schemeClr val="tx1"/>
                </a:solidFill>
                <a:effectLst/>
                <a:latin typeface="+mn-lt"/>
                <a:ea typeface="+mn-ea"/>
                <a:cs typeface="+mn-cs"/>
              </a:rPr>
              <a:t>: Gần như bằng 0 trong cả huấn luyện và xác thực → điều này đạt được do trong mô hình chỉ có một vật thể duy nhất cần phát hiện đó là biển số xe (class index = 0).</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Precision &amp; Recall:</a:t>
            </a:r>
            <a:r>
              <a:rPr lang="vi-VN" sz="1200" kern="1200" dirty="0">
                <a:solidFill>
                  <a:schemeClr val="tx1"/>
                </a:solidFill>
                <a:effectLst/>
                <a:latin typeface="+mn-lt"/>
                <a:ea typeface="+mn-ea"/>
                <a:cs typeface="+mn-cs"/>
              </a:rPr>
              <a:t> Cả hai chỉ số đều tăng và ổn định gần mức 1.0, cho thấy mô hình rất chính xác và bao phủ tốt các đối tượng cần phát hiện.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mAP@0.5: </a:t>
            </a:r>
            <a:r>
              <a:rPr lang="vi-VN" sz="1200" kern="1200" dirty="0">
                <a:solidFill>
                  <a:schemeClr val="tx1"/>
                </a:solidFill>
                <a:effectLst/>
                <a:latin typeface="+mn-lt"/>
                <a:ea typeface="+mn-ea"/>
                <a:cs typeface="+mn-cs"/>
              </a:rPr>
              <a:t>tỷ lệ phần trăm gần đạt 100 phần trăm, phản ánh mô hình dự đoán rất chính xác ở ngưỡng IoU = 0.5.</a:t>
            </a:r>
            <a:endParaRPr lang="en-US" sz="1200" kern="1200" dirty="0">
              <a:solidFill>
                <a:schemeClr val="tx1"/>
              </a:solidFill>
              <a:effectLst/>
              <a:latin typeface="+mn-lt"/>
              <a:ea typeface="+mn-ea"/>
              <a:cs typeface="+mn-cs"/>
            </a:endParaRPr>
          </a:p>
          <a:p>
            <a:r>
              <a:rPr lang="vi-VN" sz="1200" b="1" kern="1200" dirty="0">
                <a:solidFill>
                  <a:schemeClr val="tx1"/>
                </a:solidFill>
                <a:effectLst/>
                <a:latin typeface="+mn-lt"/>
                <a:ea typeface="+mn-ea"/>
                <a:cs typeface="+mn-cs"/>
              </a:rPr>
              <a:t>mAP@0.5:0.95</a:t>
            </a:r>
            <a:r>
              <a:rPr lang="vi-VN" sz="1200" kern="1200" dirty="0">
                <a:solidFill>
                  <a:schemeClr val="tx1"/>
                </a:solidFill>
                <a:effectLst/>
                <a:latin typeface="+mn-lt"/>
                <a:ea typeface="+mn-ea"/>
                <a:cs typeface="+mn-cs"/>
              </a:rPr>
              <a:t>: Giá trị trung bình ổn định lớn hơn 0.7, cho thấy mô hình vẫn giữ được hiệu suất cao ngay cả ở các ngưỡng IoU khắt khe hơn.</a:t>
            </a:r>
            <a:endParaRPr lang="en-US" dirty="0"/>
          </a:p>
        </p:txBody>
      </p:sp>
    </p:spTree>
    <p:extLst>
      <p:ext uri="{BB962C8B-B14F-4D97-AF65-F5344CB8AC3E}">
        <p14:creationId xmlns:p14="http://schemas.microsoft.com/office/powerpoint/2010/main" val="189512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sz="1200" b="1" i="1" kern="1200" dirty="0">
                <a:solidFill>
                  <a:schemeClr val="tx1"/>
                </a:solidFill>
                <a:effectLst/>
                <a:latin typeface="+mn-lt"/>
                <a:ea typeface="+mn-ea"/>
                <a:cs typeface="+mn-cs"/>
              </a:rPr>
              <a:t>Các</a:t>
            </a:r>
            <a:r>
              <a:rPr lang="vi-VN" sz="1200" b="1" i="1" kern="1200" dirty="0">
                <a:solidFill>
                  <a:schemeClr val="tx1"/>
                </a:solidFill>
                <a:effectLst/>
                <a:latin typeface="+mn-lt"/>
                <a:ea typeface="+mn-ea"/>
                <a:cs typeface="+mn-cs"/>
              </a:rPr>
              <a:t> đồ thị trong </a:t>
            </a:r>
            <a:r>
              <a:rPr lang="en-US" sz="1200" b="1" i="1" kern="1200" dirty="0" err="1">
                <a:solidFill>
                  <a:schemeClr val="tx1"/>
                </a:solidFill>
                <a:effectLst/>
                <a:latin typeface="+mn-lt"/>
                <a:ea typeface="+mn-ea"/>
                <a:cs typeface="+mn-cs"/>
              </a:rPr>
              <a:t>quá</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trình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huấn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luyện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mô</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hình</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nhận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diện</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ký</a:t>
            </a:r>
            <a:r>
              <a:rPr lang="en-US" sz="1200" b="1" i="1" kern="1200" dirty="0">
                <a:solidFill>
                  <a:schemeClr val="tx1"/>
                </a:solidFill>
                <a:effectLst/>
                <a:latin typeface="+mn-lt"/>
                <a:ea typeface="+mn-ea"/>
                <a:cs typeface="+mn-cs"/>
              </a:rPr>
              <a:t> </a:t>
            </a:r>
            <a:r>
              <a:rPr lang="en-US" sz="1200" b="1" i="1" kern="1200" dirty="0" err="1">
                <a:solidFill>
                  <a:schemeClr val="tx1"/>
                </a:solidFill>
                <a:effectLst/>
                <a:latin typeface="+mn-lt"/>
                <a:ea typeface="+mn-ea"/>
                <a:cs typeface="+mn-cs"/>
              </a:rPr>
              <a:t>tự</a:t>
            </a:r>
            <a:endParaRPr lang="en-US" sz="1200" b="1"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train/box_loss</a:t>
            </a:r>
            <a:r>
              <a:rPr lang="vi-VN" sz="1200" kern="1200" dirty="0">
                <a:solidFill>
                  <a:schemeClr val="tx1"/>
                </a:solidFill>
                <a:effectLst/>
                <a:latin typeface="+mn-lt"/>
                <a:ea typeface="+mn-ea"/>
                <a:cs typeface="+mn-cs"/>
              </a:rPr>
              <a:t>: Độ mất mát khi dự đoán bounding box trên tập huấn luyện giảm dần theo từng epoch, cho thấy mô hình ngày càng định vị vật thể chính xác hơn.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train/obj_loss</a:t>
            </a:r>
            <a:r>
              <a:rPr lang="vi-VN" sz="1200" kern="1200" dirty="0">
                <a:solidFill>
                  <a:schemeClr val="tx1"/>
                </a:solidFill>
                <a:effectLst/>
                <a:latin typeface="+mn-lt"/>
                <a:ea typeface="+mn-ea"/>
                <a:cs typeface="+mn-cs"/>
              </a:rPr>
              <a:t>: Độ mất mát khi xác định sự tồn tại của vật thể cũng giảm đều, chứng tỏ mô hình học tốt trong việc phân biệt vật thể và nền.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train/cls_loss</a:t>
            </a:r>
            <a:r>
              <a:rPr lang="vi-VN" sz="1200" kern="1200" dirty="0">
                <a:solidFill>
                  <a:schemeClr val="tx1"/>
                </a:solidFill>
                <a:effectLst/>
                <a:latin typeface="+mn-lt"/>
                <a:ea typeface="+mn-ea"/>
                <a:cs typeface="+mn-cs"/>
              </a:rPr>
              <a:t>: Độ mất mát phân loại trên tập huấn luyện giảm ổn định, phản ánh khả năng phân loại vật thể của mô hình được cải thiện.</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val/box_loss</a:t>
            </a:r>
            <a:r>
              <a:rPr lang="vi-VN" sz="1200" kern="1200" dirty="0">
                <a:solidFill>
                  <a:schemeClr val="tx1"/>
                </a:solidFill>
                <a:effectLst/>
                <a:latin typeface="+mn-lt"/>
                <a:ea typeface="+mn-ea"/>
                <a:cs typeface="+mn-cs"/>
              </a:rPr>
              <a:t>: Độ mất mát bounding box trên tập kiểm tra giảm tương tự như tập huấn luyện, cho thấy mô hình không bị overfitting và có khả năng tổng quát tốt.</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val/obj_loss</a:t>
            </a:r>
            <a:r>
              <a:rPr lang="vi-VN" sz="1200" kern="1200" dirty="0">
                <a:solidFill>
                  <a:schemeClr val="tx1"/>
                </a:solidFill>
                <a:effectLst/>
                <a:latin typeface="+mn-lt"/>
                <a:ea typeface="+mn-ea"/>
                <a:cs typeface="+mn-cs"/>
              </a:rPr>
              <a:t>: Độ mất mát objectness trên tập kiểm tra giảm đều, chứng minh mô hình duy trì hiệu suất phát hiện vật thể trên dữ liệu mới.</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val/cls_loss</a:t>
            </a:r>
            <a:r>
              <a:rPr lang="vi-VN" sz="1200" kern="1200" dirty="0">
                <a:solidFill>
                  <a:schemeClr val="tx1"/>
                </a:solidFill>
                <a:effectLst/>
                <a:latin typeface="+mn-lt"/>
                <a:ea typeface="+mn-ea"/>
                <a:cs typeface="+mn-cs"/>
              </a:rPr>
              <a:t>: Độ mất mát phân loại trên tập kiểm tra cũng giảm, cho thấy mô hình phân loại chính xác ngay cả với dữ liệu chưa từng thấy.</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metrics/precision</a:t>
            </a:r>
            <a:r>
              <a:rPr lang="vi-VN" sz="1200" kern="1200" dirty="0">
                <a:solidFill>
                  <a:schemeClr val="tx1"/>
                </a:solidFill>
                <a:effectLst/>
                <a:latin typeface="+mn-lt"/>
                <a:ea typeface="+mn-ea"/>
                <a:cs typeface="+mn-cs"/>
              </a:rPr>
              <a:t>: Precision tăng dần và ổn định, nghĩa là mô hình ngày càng ít dự đoán sai (false positives).</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metrics/recall</a:t>
            </a:r>
            <a:r>
              <a:rPr lang="vi-VN" sz="1200" kern="1200" dirty="0">
                <a:solidFill>
                  <a:schemeClr val="tx1"/>
                </a:solidFill>
                <a:effectLst/>
                <a:latin typeface="+mn-lt"/>
                <a:ea typeface="+mn-ea"/>
                <a:cs typeface="+mn-cs"/>
              </a:rPr>
              <a:t>: Recall cũng tăng và ổn định, cho thấy mô hình ngày càng ít bỏ sót vật thể (false negatives).</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metrics/mAP_0.5</a:t>
            </a:r>
            <a:r>
              <a:rPr lang="vi-VN" sz="1200" kern="1200" dirty="0">
                <a:solidFill>
                  <a:schemeClr val="tx1"/>
                </a:solidFill>
                <a:effectLst/>
                <a:latin typeface="+mn-lt"/>
                <a:ea typeface="+mn-ea"/>
                <a:cs typeface="+mn-cs"/>
              </a:rPr>
              <a:t>: mAP tại ngưỡng IoU = 0.5 tăng đều, phản ánh hiệu suất phát hiện vật thể ở mức cơ bản được cải thiện rõ rệt.</a:t>
            </a:r>
            <a:endParaRPr lang="en-US" sz="1200" kern="1200" dirty="0">
              <a:solidFill>
                <a:schemeClr val="tx1"/>
              </a:solidFill>
              <a:effectLst/>
              <a:latin typeface="+mn-lt"/>
              <a:ea typeface="+mn-ea"/>
              <a:cs typeface="+mn-cs"/>
            </a:endParaRPr>
          </a:p>
          <a:p>
            <a:pPr lvl="0"/>
            <a:r>
              <a:rPr lang="vi-VN" sz="1200" b="1" kern="1200" dirty="0">
                <a:solidFill>
                  <a:schemeClr val="tx1"/>
                </a:solidFill>
                <a:effectLst/>
                <a:latin typeface="+mn-lt"/>
                <a:ea typeface="+mn-ea"/>
                <a:cs typeface="+mn-cs"/>
              </a:rPr>
              <a:t>metrics/mAP_0.5:0.95</a:t>
            </a:r>
            <a:r>
              <a:rPr lang="vi-VN" sz="1200" kern="1200" dirty="0">
                <a:solidFill>
                  <a:schemeClr val="tx1"/>
                </a:solidFill>
                <a:effectLst/>
                <a:latin typeface="+mn-lt"/>
                <a:ea typeface="+mn-ea"/>
                <a:cs typeface="+mn-cs"/>
              </a:rPr>
              <a:t>: mAP trung bình trên nhiều ngưỡng IoU cũng tăng, cho thấy mô hình hoạt động tốt trên nhiều mức độ khắt khe khác nhau trong việc phát hiện vật thể.</a:t>
            </a:r>
            <a:endParaRPr lang="en-US"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1041779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FFDA5-EFFC-136D-E2A1-C67FFF6BC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DC527-06FB-908F-C246-25FC1424A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31631-6547-375F-BEB1-9BE2F8711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CAE79E-7018-CB9F-66C4-75B0C176981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78444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03-Aug-25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1553252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03-Aug-25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2764380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03-Aug-25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8235230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03-Aug-25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2307507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03-Aug-25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6790152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03-Aug-25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0560339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03-Aug-25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599786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03-Aug-25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0789855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03-Aug-25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3224815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03-Aug-25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7052538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03-Aug-25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921050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422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8"/>
        <p:cNvGrpSpPr/>
        <p:nvPr/>
      </p:nvGrpSpPr>
      <p:grpSpPr>
        <a:xfrm>
          <a:off x="0" y="0"/>
          <a:ext cx="0" cy="0"/>
          <a:chOff x="0" y="0"/>
          <a:chExt cx="0" cy="0"/>
        </a:xfrm>
      </p:grpSpPr>
      <p:sp>
        <p:nvSpPr>
          <p:cNvPr id="94" name="Google Shape;94;p13"/>
          <p:cNvSpPr txBox="1">
            <a:spLocks noGrp="1"/>
          </p:cNvSpPr>
          <p:nvPr>
            <p:ph type="title"/>
          </p:nvPr>
        </p:nvSpPr>
        <p:spPr>
          <a:xfrm>
            <a:off x="1061120" y="712040"/>
            <a:ext cx="12326400" cy="91632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448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1261880" y="3369400"/>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1261880" y="6036083"/>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5469600" y="6036083"/>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5469600" y="3369400"/>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1471320" y="211144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0" name="Google Shape;100;p13"/>
          <p:cNvSpPr txBox="1">
            <a:spLocks noGrp="1"/>
          </p:cNvSpPr>
          <p:nvPr>
            <p:ph type="title" idx="6" hasCustomPrompt="1"/>
          </p:nvPr>
        </p:nvSpPr>
        <p:spPr>
          <a:xfrm>
            <a:off x="5614480" y="476412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1" name="Google Shape;101;p13"/>
          <p:cNvSpPr txBox="1">
            <a:spLocks noGrp="1"/>
          </p:cNvSpPr>
          <p:nvPr>
            <p:ph type="title" idx="7" hasCustomPrompt="1"/>
          </p:nvPr>
        </p:nvSpPr>
        <p:spPr>
          <a:xfrm>
            <a:off x="1471320" y="476412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2" name="Google Shape;102;p13"/>
          <p:cNvSpPr txBox="1">
            <a:spLocks noGrp="1"/>
          </p:cNvSpPr>
          <p:nvPr>
            <p:ph type="title" idx="8" hasCustomPrompt="1"/>
          </p:nvPr>
        </p:nvSpPr>
        <p:spPr>
          <a:xfrm>
            <a:off x="5645240" y="211144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3" name="Google Shape;103;p13"/>
          <p:cNvSpPr txBox="1">
            <a:spLocks noGrp="1"/>
          </p:cNvSpPr>
          <p:nvPr>
            <p:ph type="subTitle" idx="9"/>
          </p:nvPr>
        </p:nvSpPr>
        <p:spPr>
          <a:xfrm>
            <a:off x="9677320" y="6036083"/>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9677320" y="3369400"/>
            <a:ext cx="3688800" cy="91632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24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9819160" y="476412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6" name="Google Shape;106;p13"/>
          <p:cNvSpPr txBox="1">
            <a:spLocks noGrp="1"/>
          </p:cNvSpPr>
          <p:nvPr>
            <p:ph type="title" idx="15" hasCustomPrompt="1"/>
          </p:nvPr>
        </p:nvSpPr>
        <p:spPr>
          <a:xfrm>
            <a:off x="9819160" y="2111440"/>
            <a:ext cx="585120" cy="58512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760">
                <a:solidFill>
                  <a:schemeClr val="lt1"/>
                </a:solidFill>
              </a:defRPr>
            </a:lvl1pPr>
            <a:lvl2pPr lvl="1" rtl="0">
              <a:spcBef>
                <a:spcPts val="0"/>
              </a:spcBef>
              <a:spcAft>
                <a:spcPts val="0"/>
              </a:spcAft>
              <a:buSzPts val="3000"/>
              <a:buNone/>
              <a:defRPr sz="4800"/>
            </a:lvl2pPr>
            <a:lvl3pPr lvl="2" rtl="0">
              <a:spcBef>
                <a:spcPts val="0"/>
              </a:spcBef>
              <a:spcAft>
                <a:spcPts val="0"/>
              </a:spcAft>
              <a:buSzPts val="3000"/>
              <a:buNone/>
              <a:defRPr sz="4800"/>
            </a:lvl3pPr>
            <a:lvl4pPr lvl="3" rtl="0">
              <a:spcBef>
                <a:spcPts val="0"/>
              </a:spcBef>
              <a:spcAft>
                <a:spcPts val="0"/>
              </a:spcAft>
              <a:buSzPts val="3000"/>
              <a:buNone/>
              <a:defRPr sz="4800"/>
            </a:lvl4pPr>
            <a:lvl5pPr lvl="4" rtl="0">
              <a:spcBef>
                <a:spcPts val="0"/>
              </a:spcBef>
              <a:spcAft>
                <a:spcPts val="0"/>
              </a:spcAft>
              <a:buSzPts val="3000"/>
              <a:buNone/>
              <a:defRPr sz="4800"/>
            </a:lvl5pPr>
            <a:lvl6pPr lvl="5" rtl="0">
              <a:spcBef>
                <a:spcPts val="0"/>
              </a:spcBef>
              <a:spcAft>
                <a:spcPts val="0"/>
              </a:spcAft>
              <a:buSzPts val="3000"/>
              <a:buNone/>
              <a:defRPr sz="4800"/>
            </a:lvl6pPr>
            <a:lvl7pPr lvl="6" rtl="0">
              <a:spcBef>
                <a:spcPts val="0"/>
              </a:spcBef>
              <a:spcAft>
                <a:spcPts val="0"/>
              </a:spcAft>
              <a:buSzPts val="3000"/>
              <a:buNone/>
              <a:defRPr sz="4800"/>
            </a:lvl7pPr>
            <a:lvl8pPr lvl="7" rtl="0">
              <a:spcBef>
                <a:spcPts val="0"/>
              </a:spcBef>
              <a:spcAft>
                <a:spcPts val="0"/>
              </a:spcAft>
              <a:buSzPts val="3000"/>
              <a:buNone/>
              <a:defRPr sz="4800"/>
            </a:lvl8pPr>
            <a:lvl9pPr lvl="8" rtl="0">
              <a:spcBef>
                <a:spcPts val="0"/>
              </a:spcBef>
              <a:spcAft>
                <a:spcPts val="0"/>
              </a:spcAft>
              <a:buSzPts val="3000"/>
              <a:buNone/>
              <a:defRPr sz="4800"/>
            </a:lvl9pPr>
          </a:lstStyle>
          <a:p>
            <a:r>
              <a:t>xx%</a:t>
            </a:r>
          </a:p>
        </p:txBody>
      </p:sp>
      <p:sp>
        <p:nvSpPr>
          <p:cNvPr id="107" name="Google Shape;107;p13"/>
          <p:cNvSpPr txBox="1">
            <a:spLocks noGrp="1"/>
          </p:cNvSpPr>
          <p:nvPr>
            <p:ph type="subTitle" idx="16"/>
          </p:nvPr>
        </p:nvSpPr>
        <p:spPr>
          <a:xfrm>
            <a:off x="1261880" y="2958040"/>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1261880" y="5604837"/>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5469600" y="5604837"/>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5469600" y="2958040"/>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9677320" y="5604837"/>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9677320" y="2958040"/>
            <a:ext cx="3688800" cy="61632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288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3840">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355499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168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834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154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8284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00066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6781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6358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03-Aug-25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02854857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9" r:id="rId17"/>
    <p:sldLayoutId id="2147483680" r:id="rId18"/>
    <p:sldLayoutId id="2147483681" r:id="rId19"/>
    <p:sldLayoutId id="2147483682" r:id="rId20"/>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400800" y="3333153"/>
            <a:ext cx="7556421" cy="3231713"/>
          </a:xfrm>
          <a:prstGeom prst="rect">
            <a:avLst/>
          </a:prstGeom>
          <a:noFill/>
          <a:ln/>
        </p:spPr>
        <p:txBody>
          <a:bodyPr wrap="square" lIns="0" tIns="0" rIns="0" bIns="0" rtlCol="0" anchor="t"/>
          <a:lstStyle/>
          <a:p>
            <a:pPr algn="ctr">
              <a:lnSpc>
                <a:spcPts val="4850"/>
              </a:lnSpc>
            </a:pPr>
            <a:r>
              <a:rPr lang="en-US" sz="4800" dirty="0" err="1">
                <a:solidFill>
                  <a:srgbClr val="233E32"/>
                </a:solidFill>
                <a:latin typeface="Cambria" panose="02040503050406030204" pitchFamily="18" charset="0"/>
                <a:ea typeface="Cambria" panose="02040503050406030204" pitchFamily="18" charset="0"/>
                <a:cs typeface="Arial" panose="020B0604020202020204" pitchFamily="34" charset="0"/>
              </a:rPr>
              <a:t>Tên</a:t>
            </a:r>
            <a:r>
              <a:rPr lang="en-US" sz="48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4800" dirty="0" err="1">
                <a:solidFill>
                  <a:srgbClr val="233E32"/>
                </a:solidFill>
                <a:latin typeface="Cambria" panose="02040503050406030204" pitchFamily="18" charset="0"/>
                <a:ea typeface="Cambria" panose="02040503050406030204" pitchFamily="18" charset="0"/>
                <a:cs typeface="Arial" panose="020B0604020202020204" pitchFamily="34" charset="0"/>
              </a:rPr>
              <a:t>đề</a:t>
            </a:r>
            <a:r>
              <a:rPr lang="en-US" sz="48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4800" dirty="0" err="1">
                <a:solidFill>
                  <a:srgbClr val="233E32"/>
                </a:solidFill>
                <a:latin typeface="Cambria" panose="02040503050406030204" pitchFamily="18" charset="0"/>
                <a:ea typeface="Cambria" panose="02040503050406030204" pitchFamily="18" charset="0"/>
                <a:cs typeface="Arial" panose="020B0604020202020204" pitchFamily="34" charset="0"/>
              </a:rPr>
              <a:t>tài</a:t>
            </a:r>
            <a:r>
              <a:rPr lang="en-US" sz="4800" dirty="0">
                <a:solidFill>
                  <a:srgbClr val="233E32"/>
                </a:solidFill>
                <a:latin typeface="Cambria" panose="02040503050406030204" pitchFamily="18" charset="0"/>
                <a:ea typeface="Cambria" panose="02040503050406030204" pitchFamily="18" charset="0"/>
                <a:cs typeface="Arial" panose="020B0604020202020204" pitchFamily="34" charset="0"/>
              </a:rPr>
              <a:t>: HỆ THỐNG ĐĂNG KÝ VÀ NHẬN DIỆN BIỂN SỐ XE TỰ ĐỘNG</a:t>
            </a:r>
          </a:p>
        </p:txBody>
      </p:sp>
      <p:sp>
        <p:nvSpPr>
          <p:cNvPr id="11" name="TextBox 10">
            <a:extLst>
              <a:ext uri="{FF2B5EF4-FFF2-40B4-BE49-F238E27FC236}">
                <a16:creationId xmlns:a16="http://schemas.microsoft.com/office/drawing/2014/main" id="{48E11F8E-6738-5E4F-F0AD-DC9E732E73F4}"/>
              </a:ext>
            </a:extLst>
          </p:cNvPr>
          <p:cNvSpPr txBox="1"/>
          <p:nvPr/>
        </p:nvSpPr>
        <p:spPr>
          <a:xfrm>
            <a:off x="6642021" y="2061927"/>
            <a:ext cx="7315200" cy="720710"/>
          </a:xfrm>
          <a:prstGeom prst="rect">
            <a:avLst/>
          </a:prstGeom>
          <a:noFill/>
        </p:spPr>
        <p:txBody>
          <a:bodyPr wrap="square">
            <a:spAutoFit/>
          </a:bodyPr>
          <a:lstStyle/>
          <a:p>
            <a:pPr algn="ctr">
              <a:lnSpc>
                <a:spcPts val="4850"/>
              </a:lnSpc>
            </a:pPr>
            <a:r>
              <a:rPr lang="en-US" sz="4800" dirty="0">
                <a:solidFill>
                  <a:srgbClr val="233E32"/>
                </a:solidFill>
                <a:latin typeface="Cambria" panose="02040503050406030204" pitchFamily="18" charset="0"/>
                <a:ea typeface="Cambria" panose="02040503050406030204" pitchFamily="18" charset="0"/>
                <a:cs typeface="Arial" panose="020B0604020202020204" pitchFamily="34" charset="0"/>
              </a:rPr>
              <a:t>ĐỀ TÀI TỐT NGHIỆP</a:t>
            </a:r>
          </a:p>
        </p:txBody>
      </p:sp>
      <p:sp>
        <p:nvSpPr>
          <p:cNvPr id="5" name="TextBox 4">
            <a:extLst>
              <a:ext uri="{FF2B5EF4-FFF2-40B4-BE49-F238E27FC236}">
                <a16:creationId xmlns:a16="http://schemas.microsoft.com/office/drawing/2014/main" id="{E0C33B99-6CD5-FDF0-E5CA-83C12127A334}"/>
              </a:ext>
            </a:extLst>
          </p:cNvPr>
          <p:cNvSpPr txBox="1"/>
          <p:nvPr/>
        </p:nvSpPr>
        <p:spPr>
          <a:xfrm>
            <a:off x="6757147" y="5400783"/>
            <a:ext cx="7315200" cy="1261949"/>
          </a:xfrm>
          <a:prstGeom prst="rect">
            <a:avLst/>
          </a:prstGeom>
          <a:noFill/>
        </p:spPr>
        <p:txBody>
          <a:bodyPr wrap="square">
            <a:spAutoFit/>
          </a:bodyPr>
          <a:lstStyle/>
          <a:p>
            <a:pPr algn="ctr">
              <a:lnSpc>
                <a:spcPts val="4850"/>
              </a:lnSpc>
            </a:pP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Họ</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tên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&amp; MSSV: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Nguyễn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Minh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Trí</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- 21200363</a:t>
            </a:r>
          </a:p>
          <a:p>
            <a:pPr algn="ctr">
              <a:lnSpc>
                <a:spcPts val="4850"/>
              </a:lnSpc>
            </a:pP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Giảng</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viên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hướng</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dẫn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Th.S</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a:t>
            </a:r>
            <a:r>
              <a:rPr lang="en-US" sz="2500" dirty="0" err="1">
                <a:solidFill>
                  <a:srgbClr val="233E32"/>
                </a:solidFill>
                <a:latin typeface="Cambria" panose="02040503050406030204" pitchFamily="18" charset="0"/>
                <a:ea typeface="Cambria" panose="02040503050406030204" pitchFamily="18" charset="0"/>
                <a:cs typeface="Arial" panose="020B0604020202020204" pitchFamily="34" charset="0"/>
              </a:rPr>
              <a:t>Nguyễn</a:t>
            </a:r>
            <a:r>
              <a:rPr lang="en-US" sz="2500" dirty="0">
                <a:solidFill>
                  <a:srgbClr val="233E32"/>
                </a:solidFill>
                <a:latin typeface="Cambria" panose="02040503050406030204" pitchFamily="18" charset="0"/>
                <a:ea typeface="Cambria" panose="02040503050406030204" pitchFamily="18" charset="0"/>
                <a:cs typeface="Arial" panose="020B0604020202020204" pitchFamily="34" charset="0"/>
              </a:rPr>
              <a:t> Quốc Khoa</a:t>
            </a:r>
            <a:endParaRPr lang="en-US" sz="2500" dirty="0">
              <a:latin typeface="Cambria" panose="02040503050406030204" pitchFamily="18" charset="0"/>
              <a:ea typeface="Cambria" panose="02040503050406030204" pitchFamily="18" charset="0"/>
              <a:cs typeface="Arial" panose="020B0604020202020204" pitchFamily="34" charset="0"/>
            </a:endParaRPr>
          </a:p>
        </p:txBody>
      </p:sp>
      <p:sp>
        <p:nvSpPr>
          <p:cNvPr id="10" name="TextBox 9">
            <a:extLst>
              <a:ext uri="{FF2B5EF4-FFF2-40B4-BE49-F238E27FC236}">
                <a16:creationId xmlns:a16="http://schemas.microsoft.com/office/drawing/2014/main" id="{4118442E-FE6E-7ED9-83C0-CC8AB9E46EF9}"/>
              </a:ext>
            </a:extLst>
          </p:cNvPr>
          <p:cNvSpPr txBox="1"/>
          <p:nvPr/>
        </p:nvSpPr>
        <p:spPr>
          <a:xfrm>
            <a:off x="8417859" y="7463358"/>
            <a:ext cx="3993776" cy="36933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TP. </a:t>
            </a:r>
            <a:r>
              <a:rPr lang="en-US" dirty="0" err="1">
                <a:latin typeface="Cambria" panose="02040503050406030204" pitchFamily="18" charset="0"/>
                <a:ea typeface="Cambria" panose="02040503050406030204" pitchFamily="18" charset="0"/>
              </a:rPr>
              <a:t>Hồ</a:t>
            </a:r>
            <a:r>
              <a:rPr lang="en-US" dirty="0">
                <a:latin typeface="Cambria" panose="02040503050406030204" pitchFamily="18" charset="0"/>
                <a:ea typeface="Cambria" panose="02040503050406030204" pitchFamily="18" charset="0"/>
              </a:rPr>
              <a:t> Chí Minh, </a:t>
            </a:r>
            <a:r>
              <a:rPr lang="en-US" dirty="0" err="1">
                <a:latin typeface="Cambria" panose="02040503050406030204" pitchFamily="18" charset="0"/>
                <a:ea typeface="Cambria" panose="02040503050406030204" pitchFamily="18" charset="0"/>
              </a:rPr>
              <a:t>Tháng</a:t>
            </a:r>
            <a:r>
              <a:rPr lang="en-US" dirty="0">
                <a:latin typeface="Cambria" panose="02040503050406030204" pitchFamily="18" charset="0"/>
                <a:ea typeface="Cambria" panose="02040503050406030204" pitchFamily="18" charset="0"/>
              </a:rPr>
              <a:t> 8 </a:t>
            </a:r>
            <a:r>
              <a:rPr lang="en-US" dirty="0" err="1">
                <a:latin typeface="Cambria" panose="02040503050406030204" pitchFamily="18" charset="0"/>
                <a:ea typeface="Cambria" panose="02040503050406030204" pitchFamily="18" charset="0"/>
              </a:rPr>
              <a:t>năm</a:t>
            </a:r>
            <a:r>
              <a:rPr lang="en-US" dirty="0">
                <a:latin typeface="Cambria" panose="02040503050406030204" pitchFamily="18" charset="0"/>
                <a:ea typeface="Cambria" panose="02040503050406030204" pitchFamily="18" charset="0"/>
              </a:rPr>
              <a:t> 2025</a:t>
            </a:r>
          </a:p>
        </p:txBody>
      </p:sp>
      <p:pic>
        <p:nvPicPr>
          <p:cNvPr id="1026" name="Picture 2">
            <a:extLst>
              <a:ext uri="{FF2B5EF4-FFF2-40B4-BE49-F238E27FC236}">
                <a16:creationId xmlns:a16="http://schemas.microsoft.com/office/drawing/2014/main" id="{939FB87D-3662-A957-7824-9EB67887C4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3210" y="-312261"/>
            <a:ext cx="2611599" cy="2611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304" name="Google Shape;304;p35"/>
          <p:cNvCxnSpPr>
            <a:cxnSpLocks/>
            <a:stCxn id="305" idx="1"/>
          </p:cNvCxnSpPr>
          <p:nvPr/>
        </p:nvCxnSpPr>
        <p:spPr>
          <a:xfrm rot="10800000">
            <a:off x="-93160" y="5319819"/>
            <a:ext cx="10087680" cy="0"/>
          </a:xfrm>
          <a:prstGeom prst="straightConnector1">
            <a:avLst/>
          </a:prstGeom>
          <a:noFill/>
          <a:ln w="19050" cap="flat" cmpd="sng">
            <a:solidFill>
              <a:schemeClr val="dk1"/>
            </a:solidFill>
            <a:prstDash val="solid"/>
            <a:round/>
            <a:headEnd type="none" w="med" len="med"/>
            <a:tailEnd type="none" w="med" len="med"/>
          </a:ln>
        </p:spPr>
      </p:cxnSp>
      <p:cxnSp>
        <p:nvCxnSpPr>
          <p:cNvPr id="306" name="Google Shape;306;p35"/>
          <p:cNvCxnSpPr>
            <a:stCxn id="307" idx="3"/>
          </p:cNvCxnSpPr>
          <p:nvPr/>
        </p:nvCxnSpPr>
        <p:spPr>
          <a:xfrm>
            <a:off x="2056440" y="2624763"/>
            <a:ext cx="12815520" cy="0"/>
          </a:xfrm>
          <a:prstGeom prst="straightConnector1">
            <a:avLst/>
          </a:prstGeom>
          <a:noFill/>
          <a:ln w="19050" cap="flat" cmpd="sng">
            <a:solidFill>
              <a:schemeClr val="dk1"/>
            </a:solidFill>
            <a:prstDash val="solid"/>
            <a:round/>
            <a:headEnd type="none" w="med" len="med"/>
            <a:tailEnd type="none" w="med" len="med"/>
          </a:ln>
        </p:spPr>
      </p:cxnSp>
      <p:sp>
        <p:nvSpPr>
          <p:cNvPr id="308" name="Google Shape;308;p35"/>
          <p:cNvSpPr txBox="1">
            <a:spLocks noGrp="1"/>
          </p:cNvSpPr>
          <p:nvPr>
            <p:ph type="title"/>
          </p:nvPr>
        </p:nvSpPr>
        <p:spPr>
          <a:xfrm>
            <a:off x="907575" y="620431"/>
            <a:ext cx="12326400" cy="916320"/>
          </a:xfrm>
          <a:prstGeom prst="rect">
            <a:avLst/>
          </a:prstGeom>
        </p:spPr>
        <p:txBody>
          <a:bodyPr spcFirstLastPara="1" wrap="square" lIns="146280" tIns="146280" rIns="146280" bIns="146280" anchor="t" anchorCtr="0">
            <a:noAutofit/>
          </a:bodyPr>
          <a:lstStyle/>
          <a:p>
            <a:pPr algn="l"/>
            <a:r>
              <a:rPr lang="en-US" sz="5120" b="1" dirty="0" err="1"/>
              <a:t>Mục</a:t>
            </a:r>
            <a:r>
              <a:rPr lang="en-US" sz="5120" b="1" dirty="0"/>
              <a:t> </a:t>
            </a:r>
            <a:r>
              <a:rPr lang="en-US" sz="5120" b="1" dirty="0" err="1"/>
              <a:t>lục</a:t>
            </a:r>
            <a:endParaRPr sz="5120" b="1" dirty="0"/>
          </a:p>
        </p:txBody>
      </p:sp>
      <p:sp>
        <p:nvSpPr>
          <p:cNvPr id="319" name="Google Shape;319;p35"/>
          <p:cNvSpPr txBox="1">
            <a:spLocks noGrp="1"/>
          </p:cNvSpPr>
          <p:nvPr>
            <p:ph type="subTitle" idx="1"/>
          </p:nvPr>
        </p:nvSpPr>
        <p:spPr>
          <a:xfrm>
            <a:off x="939720" y="2736481"/>
            <a:ext cx="3688800" cy="1226560"/>
          </a:xfrm>
          <a:prstGeom prst="rect">
            <a:avLst/>
          </a:prstGeom>
        </p:spPr>
        <p:txBody>
          <a:bodyPr spcFirstLastPara="1" wrap="square" lIns="146280" tIns="146280" rIns="146280" bIns="146280" anchor="b" anchorCtr="0">
            <a:noAutofit/>
          </a:bodyPr>
          <a:lstStyle/>
          <a:p>
            <a:pPr marL="0" indent="0"/>
            <a:r>
              <a:rPr lang="en-US" sz="3200" dirty="0" err="1">
                <a:latin typeface="+mn-lt"/>
              </a:rPr>
              <a:t>Tổng</a:t>
            </a:r>
            <a:r>
              <a:rPr lang="en-US" sz="3200" dirty="0">
                <a:latin typeface="+mn-lt"/>
              </a:rPr>
              <a:t> </a:t>
            </a:r>
            <a:r>
              <a:rPr lang="en-US" sz="3200" dirty="0" err="1">
                <a:latin typeface="+mn-lt"/>
              </a:rPr>
              <a:t>quan</a:t>
            </a:r>
            <a:endParaRPr sz="3200" dirty="0">
              <a:latin typeface="+mn-lt"/>
            </a:endParaRPr>
          </a:p>
        </p:txBody>
      </p:sp>
      <p:sp>
        <p:nvSpPr>
          <p:cNvPr id="320" name="Google Shape;320;p35"/>
          <p:cNvSpPr txBox="1">
            <a:spLocks noGrp="1"/>
          </p:cNvSpPr>
          <p:nvPr>
            <p:ph type="subTitle" idx="2"/>
          </p:nvPr>
        </p:nvSpPr>
        <p:spPr>
          <a:xfrm>
            <a:off x="8267320" y="3765309"/>
            <a:ext cx="3688800" cy="616320"/>
          </a:xfrm>
          <a:prstGeom prst="rect">
            <a:avLst/>
          </a:prstGeom>
        </p:spPr>
        <p:txBody>
          <a:bodyPr spcFirstLastPara="1" wrap="square" lIns="146280" tIns="146280" rIns="146280" bIns="146280" anchor="b" anchorCtr="0">
            <a:noAutofit/>
          </a:bodyPr>
          <a:lstStyle/>
          <a:p>
            <a:pPr marL="0" indent="0" algn="ctr"/>
            <a:r>
              <a:rPr lang="en" sz="3200" dirty="0">
                <a:latin typeface="+mn-lt"/>
              </a:rPr>
              <a:t>Quá trình huấn luyện</a:t>
            </a:r>
            <a:endParaRPr sz="3200" dirty="0">
              <a:latin typeface="+mn-lt"/>
            </a:endParaRPr>
          </a:p>
        </p:txBody>
      </p:sp>
      <p:sp>
        <p:nvSpPr>
          <p:cNvPr id="321" name="Google Shape;321;p35"/>
          <p:cNvSpPr txBox="1">
            <a:spLocks noGrp="1"/>
          </p:cNvSpPr>
          <p:nvPr>
            <p:ph type="subTitle" idx="3"/>
          </p:nvPr>
        </p:nvSpPr>
        <p:spPr>
          <a:xfrm>
            <a:off x="4385960" y="6292235"/>
            <a:ext cx="3688800" cy="774336"/>
          </a:xfrm>
          <a:prstGeom prst="rect">
            <a:avLst/>
          </a:prstGeom>
        </p:spPr>
        <p:txBody>
          <a:bodyPr spcFirstLastPara="1" wrap="square" lIns="146280" tIns="146280" rIns="146280" bIns="146280" anchor="b" anchorCtr="0">
            <a:noAutofit/>
          </a:bodyPr>
          <a:lstStyle/>
          <a:p>
            <a:pPr marL="0" indent="0" algn="ctr"/>
            <a:r>
              <a:rPr lang="en-US" sz="3200" dirty="0" err="1">
                <a:latin typeface="+mn-lt"/>
              </a:rPr>
              <a:t>Kết</a:t>
            </a:r>
            <a:r>
              <a:rPr lang="en-US" sz="3200" dirty="0">
                <a:latin typeface="+mn-lt"/>
              </a:rPr>
              <a:t> </a:t>
            </a:r>
            <a:r>
              <a:rPr lang="en-US" sz="3200" dirty="0" err="1">
                <a:latin typeface="+mn-lt"/>
              </a:rPr>
              <a:t>luận</a:t>
            </a:r>
            <a:r>
              <a:rPr lang="en-US" sz="3200" dirty="0">
                <a:latin typeface="+mn-lt"/>
              </a:rPr>
              <a:t> </a:t>
            </a:r>
            <a:r>
              <a:rPr lang="en-US" sz="3200" dirty="0" err="1">
                <a:latin typeface="+mn-lt"/>
              </a:rPr>
              <a:t>và</a:t>
            </a:r>
            <a:r>
              <a:rPr lang="en-US" sz="3200" dirty="0">
                <a:latin typeface="+mn-lt"/>
              </a:rPr>
              <a:t> </a:t>
            </a:r>
            <a:r>
              <a:rPr lang="en-US" sz="3200" dirty="0" err="1">
                <a:latin typeface="+mn-lt"/>
              </a:rPr>
              <a:t>đề</a:t>
            </a:r>
            <a:r>
              <a:rPr lang="en-US" sz="3200" dirty="0">
                <a:latin typeface="+mn-lt"/>
              </a:rPr>
              <a:t> </a:t>
            </a:r>
            <a:r>
              <a:rPr lang="en-US" sz="3200" dirty="0" err="1">
                <a:latin typeface="+mn-lt"/>
              </a:rPr>
              <a:t>xuất</a:t>
            </a:r>
            <a:r>
              <a:rPr lang="en-US" sz="3200" dirty="0">
                <a:latin typeface="+mn-lt"/>
              </a:rPr>
              <a:t> </a:t>
            </a:r>
            <a:r>
              <a:rPr lang="en-US" sz="3200" dirty="0" err="1">
                <a:latin typeface="+mn-lt"/>
              </a:rPr>
              <a:t>hướng</a:t>
            </a:r>
            <a:r>
              <a:rPr lang="en-US" sz="3200" dirty="0">
                <a:latin typeface="+mn-lt"/>
              </a:rPr>
              <a:t> </a:t>
            </a:r>
            <a:r>
              <a:rPr lang="en-US" sz="3200" dirty="0" err="1">
                <a:latin typeface="+mn-lt"/>
              </a:rPr>
              <a:t>phát</a:t>
            </a:r>
            <a:r>
              <a:rPr lang="en-US" sz="3200" dirty="0">
                <a:latin typeface="+mn-lt"/>
              </a:rPr>
              <a:t> </a:t>
            </a:r>
            <a:r>
              <a:rPr lang="en-US" sz="3200" dirty="0" err="1">
                <a:latin typeface="+mn-lt"/>
              </a:rPr>
              <a:t>triển</a:t>
            </a:r>
            <a:endParaRPr sz="3200" dirty="0">
              <a:latin typeface="+mn-lt"/>
            </a:endParaRPr>
          </a:p>
        </p:txBody>
      </p:sp>
      <p:sp>
        <p:nvSpPr>
          <p:cNvPr id="324" name="Google Shape;324;p35"/>
          <p:cNvSpPr txBox="1">
            <a:spLocks noGrp="1"/>
          </p:cNvSpPr>
          <p:nvPr>
            <p:ph type="subTitle" idx="4"/>
          </p:nvPr>
        </p:nvSpPr>
        <p:spPr>
          <a:xfrm>
            <a:off x="4530560" y="3755196"/>
            <a:ext cx="3688800" cy="616320"/>
          </a:xfrm>
          <a:prstGeom prst="rect">
            <a:avLst/>
          </a:prstGeom>
        </p:spPr>
        <p:txBody>
          <a:bodyPr spcFirstLastPara="1" wrap="square" lIns="146280" tIns="146280" rIns="146280" bIns="146280" anchor="b" anchorCtr="0">
            <a:noAutofit/>
          </a:bodyPr>
          <a:lstStyle/>
          <a:p>
            <a:pPr marL="0" indent="0"/>
            <a:r>
              <a:rPr lang="en" sz="3200" dirty="0">
                <a:latin typeface="+mn-lt"/>
              </a:rPr>
              <a:t>Các thành phần trong hệ thống</a:t>
            </a:r>
            <a:endParaRPr sz="3200" dirty="0">
              <a:latin typeface="+mn-lt"/>
            </a:endParaRPr>
          </a:p>
        </p:txBody>
      </p:sp>
      <p:sp>
        <p:nvSpPr>
          <p:cNvPr id="307" name="Google Shape;307;p35"/>
          <p:cNvSpPr txBox="1">
            <a:spLocks noGrp="1"/>
          </p:cNvSpPr>
          <p:nvPr>
            <p:ph type="title" idx="5"/>
          </p:nvPr>
        </p:nvSpPr>
        <p:spPr>
          <a:xfrm>
            <a:off x="1471320" y="2332203"/>
            <a:ext cx="585120" cy="585120"/>
          </a:xfrm>
          <a:prstGeom prst="rect">
            <a:avLst/>
          </a:prstGeom>
        </p:spPr>
        <p:txBody>
          <a:bodyPr spcFirstLastPara="1" wrap="square" lIns="146280" tIns="146280" rIns="146280" bIns="146280" anchor="ctr" anchorCtr="0">
            <a:noAutofit/>
          </a:bodyPr>
          <a:lstStyle/>
          <a:p>
            <a:r>
              <a:rPr lang="en" sz="2880" b="1" dirty="0">
                <a:latin typeface="+mn-lt"/>
              </a:rPr>
              <a:t>1</a:t>
            </a:r>
            <a:endParaRPr sz="2880" b="1" dirty="0">
              <a:latin typeface="+mn-lt"/>
            </a:endParaRPr>
          </a:p>
        </p:txBody>
      </p:sp>
      <p:sp>
        <p:nvSpPr>
          <p:cNvPr id="313" name="Google Shape;313;p35"/>
          <p:cNvSpPr txBox="1">
            <a:spLocks noGrp="1"/>
          </p:cNvSpPr>
          <p:nvPr>
            <p:ph type="title" idx="6"/>
          </p:nvPr>
        </p:nvSpPr>
        <p:spPr>
          <a:xfrm>
            <a:off x="5789840" y="5027259"/>
            <a:ext cx="585120" cy="585120"/>
          </a:xfrm>
          <a:prstGeom prst="rect">
            <a:avLst/>
          </a:prstGeom>
        </p:spPr>
        <p:txBody>
          <a:bodyPr spcFirstLastPara="1" wrap="square" lIns="146280" tIns="146280" rIns="146280" bIns="146280" anchor="ctr" anchorCtr="0">
            <a:noAutofit/>
          </a:bodyPr>
          <a:lstStyle/>
          <a:p>
            <a:r>
              <a:rPr lang="en" sz="2880" b="1" dirty="0">
                <a:latin typeface="+mn-lt"/>
              </a:rPr>
              <a:t>5</a:t>
            </a:r>
            <a:endParaRPr sz="2880" b="1" dirty="0">
              <a:latin typeface="+mn-lt"/>
            </a:endParaRPr>
          </a:p>
        </p:txBody>
      </p:sp>
      <p:sp>
        <p:nvSpPr>
          <p:cNvPr id="314" name="Google Shape;314;p35"/>
          <p:cNvSpPr txBox="1">
            <a:spLocks noGrp="1"/>
          </p:cNvSpPr>
          <p:nvPr>
            <p:ph type="title" idx="7"/>
          </p:nvPr>
        </p:nvSpPr>
        <p:spPr>
          <a:xfrm>
            <a:off x="1646680" y="5027259"/>
            <a:ext cx="585120" cy="585120"/>
          </a:xfrm>
          <a:prstGeom prst="rect">
            <a:avLst/>
          </a:prstGeom>
        </p:spPr>
        <p:txBody>
          <a:bodyPr spcFirstLastPara="1" wrap="square" lIns="146280" tIns="146280" rIns="146280" bIns="146280" anchor="ctr" anchorCtr="0">
            <a:noAutofit/>
          </a:bodyPr>
          <a:lstStyle/>
          <a:p>
            <a:r>
              <a:rPr lang="en" sz="2880" b="1" dirty="0">
                <a:latin typeface="+mn-lt"/>
              </a:rPr>
              <a:t>4</a:t>
            </a:r>
            <a:endParaRPr sz="2880" b="1" dirty="0">
              <a:latin typeface="+mn-lt"/>
            </a:endParaRPr>
          </a:p>
        </p:txBody>
      </p:sp>
      <p:sp>
        <p:nvSpPr>
          <p:cNvPr id="315" name="Google Shape;315;p35"/>
          <p:cNvSpPr txBox="1">
            <a:spLocks noGrp="1"/>
          </p:cNvSpPr>
          <p:nvPr>
            <p:ph type="title" idx="8"/>
          </p:nvPr>
        </p:nvSpPr>
        <p:spPr>
          <a:xfrm>
            <a:off x="5645240" y="2332203"/>
            <a:ext cx="585120" cy="585120"/>
          </a:xfrm>
          <a:prstGeom prst="rect">
            <a:avLst/>
          </a:prstGeom>
        </p:spPr>
        <p:txBody>
          <a:bodyPr spcFirstLastPara="1" wrap="square" lIns="146280" tIns="146280" rIns="146280" bIns="146280" anchor="ctr" anchorCtr="0">
            <a:noAutofit/>
          </a:bodyPr>
          <a:lstStyle/>
          <a:p>
            <a:r>
              <a:rPr lang="en" sz="2880" b="1" dirty="0">
                <a:latin typeface="+mn-lt"/>
              </a:rPr>
              <a:t>2</a:t>
            </a:r>
            <a:endParaRPr sz="2880" b="1" dirty="0">
              <a:latin typeface="+mn-lt"/>
            </a:endParaRPr>
          </a:p>
        </p:txBody>
      </p:sp>
      <p:sp>
        <p:nvSpPr>
          <p:cNvPr id="305" name="Google Shape;305;p35"/>
          <p:cNvSpPr txBox="1">
            <a:spLocks noGrp="1"/>
          </p:cNvSpPr>
          <p:nvPr>
            <p:ph type="title" idx="14"/>
          </p:nvPr>
        </p:nvSpPr>
        <p:spPr>
          <a:xfrm>
            <a:off x="9994520" y="5027259"/>
            <a:ext cx="585120" cy="585120"/>
          </a:xfrm>
          <a:prstGeom prst="rect">
            <a:avLst/>
          </a:prstGeom>
        </p:spPr>
        <p:txBody>
          <a:bodyPr spcFirstLastPara="1" wrap="square" lIns="146280" tIns="146280" rIns="146280" bIns="146280" anchor="ctr" anchorCtr="0">
            <a:noAutofit/>
          </a:bodyPr>
          <a:lstStyle/>
          <a:p>
            <a:r>
              <a:rPr lang="en" sz="2880" b="1" dirty="0">
                <a:latin typeface="+mn-lt"/>
              </a:rPr>
              <a:t>6</a:t>
            </a:r>
            <a:endParaRPr sz="2880" b="1" dirty="0">
              <a:latin typeface="+mn-lt"/>
            </a:endParaRPr>
          </a:p>
        </p:txBody>
      </p:sp>
      <p:sp>
        <p:nvSpPr>
          <p:cNvPr id="318" name="Google Shape;318;p35"/>
          <p:cNvSpPr txBox="1">
            <a:spLocks noGrp="1"/>
          </p:cNvSpPr>
          <p:nvPr>
            <p:ph type="title" idx="15"/>
          </p:nvPr>
        </p:nvSpPr>
        <p:spPr>
          <a:xfrm>
            <a:off x="9819160" y="2332203"/>
            <a:ext cx="585120" cy="585120"/>
          </a:xfrm>
          <a:prstGeom prst="rect">
            <a:avLst/>
          </a:prstGeom>
        </p:spPr>
        <p:txBody>
          <a:bodyPr spcFirstLastPara="1" wrap="square" lIns="146280" tIns="146280" rIns="146280" bIns="146280" anchor="ctr" anchorCtr="0">
            <a:noAutofit/>
          </a:bodyPr>
          <a:lstStyle/>
          <a:p>
            <a:r>
              <a:rPr lang="en" sz="2880" b="1" dirty="0">
                <a:latin typeface="+mn-lt"/>
              </a:rPr>
              <a:t>3</a:t>
            </a:r>
            <a:endParaRPr sz="2880" b="1" dirty="0">
              <a:latin typeface="+mn-lt"/>
            </a:endParaRPr>
          </a:p>
        </p:txBody>
      </p:sp>
      <p:sp>
        <p:nvSpPr>
          <p:cNvPr id="16" name="Google Shape;320;p35">
            <a:extLst>
              <a:ext uri="{FF2B5EF4-FFF2-40B4-BE49-F238E27FC236}">
                <a16:creationId xmlns:a16="http://schemas.microsoft.com/office/drawing/2014/main" id="{4FC8DECC-C4EA-CA54-6CA0-FFF85B410E43}"/>
              </a:ext>
            </a:extLst>
          </p:cNvPr>
          <p:cNvSpPr txBox="1">
            <a:spLocks/>
          </p:cNvSpPr>
          <p:nvPr/>
        </p:nvSpPr>
        <p:spPr>
          <a:xfrm>
            <a:off x="1080192" y="6362561"/>
            <a:ext cx="2303216" cy="711083"/>
          </a:xfrm>
          <a:prstGeom prst="rect">
            <a:avLst/>
          </a:prstGeom>
          <a:noFill/>
          <a:ln>
            <a:noFill/>
          </a:ln>
        </p:spPr>
        <p:txBody>
          <a:bodyPr spcFirstLastPara="1" wrap="square" lIns="146280" tIns="146280" rIns="146280" bIns="146280"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800" b="0" i="0" u="none" strike="noStrike" cap="none">
                <a:solidFill>
                  <a:schemeClr val="dk1"/>
                </a:solidFill>
                <a:latin typeface="Figtree Black"/>
                <a:ea typeface="Figtree Black"/>
                <a:cs typeface="Figtree Black"/>
                <a:sym typeface="Figtree Black"/>
              </a:defRPr>
            </a:lvl1pPr>
            <a:lvl2pPr marL="914400" marR="0" lvl="1"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2pPr>
            <a:lvl3pPr marL="1371600" marR="0" lvl="2"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3pPr>
            <a:lvl4pPr marL="1828800" marR="0" lvl="3"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4pPr>
            <a:lvl5pPr marL="2286000" marR="0" lvl="4"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5pPr>
            <a:lvl6pPr marL="2743200" marR="0" lvl="5"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6pPr>
            <a:lvl7pPr marL="3200400" marR="0" lvl="6"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7pPr>
            <a:lvl8pPr marL="3657600" marR="0" lvl="7"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8pPr>
            <a:lvl9pPr marL="4114800" marR="0" lvl="8"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9pPr>
          </a:lstStyle>
          <a:p>
            <a:pPr marL="0" indent="0"/>
            <a:r>
              <a:rPr lang="en-US" sz="3200" dirty="0" err="1">
                <a:latin typeface="+mn-lt"/>
              </a:rPr>
              <a:t>Đánh</a:t>
            </a:r>
            <a:r>
              <a:rPr lang="en-US" sz="3200" dirty="0">
                <a:latin typeface="+mn-lt"/>
              </a:rPr>
              <a:t> </a:t>
            </a:r>
            <a:r>
              <a:rPr lang="en-US" sz="3200" dirty="0" err="1">
                <a:latin typeface="+mn-lt"/>
              </a:rPr>
              <a:t>giá</a:t>
            </a:r>
            <a:r>
              <a:rPr lang="en-US" sz="3200" dirty="0">
                <a:latin typeface="+mn-lt"/>
              </a:rPr>
              <a:t> </a:t>
            </a:r>
            <a:r>
              <a:rPr lang="en-US" sz="3200" dirty="0" err="1">
                <a:latin typeface="+mn-lt"/>
              </a:rPr>
              <a:t>mô</a:t>
            </a:r>
            <a:r>
              <a:rPr lang="en-US" sz="3200" dirty="0">
                <a:latin typeface="+mn-lt"/>
              </a:rPr>
              <a:t> </a:t>
            </a:r>
            <a:r>
              <a:rPr lang="en-US" sz="3200" dirty="0" err="1">
                <a:latin typeface="+mn-lt"/>
              </a:rPr>
              <a:t>hình</a:t>
            </a:r>
            <a:endParaRPr lang="vi-VN" sz="3200" dirty="0">
              <a:latin typeface="+mn-lt"/>
            </a:endParaRPr>
          </a:p>
        </p:txBody>
      </p:sp>
      <p:sp>
        <p:nvSpPr>
          <p:cNvPr id="17" name="Google Shape;320;p35">
            <a:extLst>
              <a:ext uri="{FF2B5EF4-FFF2-40B4-BE49-F238E27FC236}">
                <a16:creationId xmlns:a16="http://schemas.microsoft.com/office/drawing/2014/main" id="{DA6BFA8A-13C2-DE7A-03EB-16DEE3D7DD6B}"/>
              </a:ext>
            </a:extLst>
          </p:cNvPr>
          <p:cNvSpPr txBox="1">
            <a:spLocks/>
          </p:cNvSpPr>
          <p:nvPr/>
        </p:nvSpPr>
        <p:spPr>
          <a:xfrm>
            <a:off x="9231628" y="5862905"/>
            <a:ext cx="2010113" cy="585120"/>
          </a:xfrm>
          <a:prstGeom prst="rect">
            <a:avLst/>
          </a:prstGeom>
          <a:noFill/>
          <a:ln>
            <a:noFill/>
          </a:ln>
        </p:spPr>
        <p:txBody>
          <a:bodyPr spcFirstLastPara="1" wrap="square" lIns="146280" tIns="146280" rIns="146280" bIns="146280"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800" b="0" i="0" u="none" strike="noStrike" cap="none">
                <a:solidFill>
                  <a:schemeClr val="dk1"/>
                </a:solidFill>
                <a:latin typeface="Figtree Black"/>
                <a:ea typeface="Figtree Black"/>
                <a:cs typeface="Figtree Black"/>
                <a:sym typeface="Figtree Black"/>
              </a:defRPr>
            </a:lvl1pPr>
            <a:lvl2pPr marL="914400" marR="0" lvl="1"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2pPr>
            <a:lvl3pPr marL="1371600" marR="0" lvl="2"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3pPr>
            <a:lvl4pPr marL="1828800" marR="0" lvl="3"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4pPr>
            <a:lvl5pPr marL="2286000" marR="0" lvl="4"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5pPr>
            <a:lvl6pPr marL="2743200" marR="0" lvl="5"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6pPr>
            <a:lvl7pPr marL="3200400" marR="0" lvl="6"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7pPr>
            <a:lvl8pPr marL="3657600" marR="0" lvl="7"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8pPr>
            <a:lvl9pPr marL="4114800" marR="0" lvl="8" indent="-317500" algn="ctr" rtl="0">
              <a:lnSpc>
                <a:spcPct val="115000"/>
              </a:lnSpc>
              <a:spcBef>
                <a:spcPts val="0"/>
              </a:spcBef>
              <a:spcAft>
                <a:spcPts val="0"/>
              </a:spcAft>
              <a:buClr>
                <a:schemeClr val="dk1"/>
              </a:buClr>
              <a:buSzPts val="2400"/>
              <a:buFont typeface="Figtree Black"/>
              <a:buNone/>
              <a:defRPr sz="2400" b="0" i="0" u="none" strike="noStrike" cap="none">
                <a:solidFill>
                  <a:schemeClr val="dk1"/>
                </a:solidFill>
                <a:latin typeface="Figtree Black"/>
                <a:ea typeface="Figtree Black"/>
                <a:cs typeface="Figtree Black"/>
                <a:sym typeface="Figtree Black"/>
              </a:defRPr>
            </a:lvl9pPr>
          </a:lstStyle>
          <a:p>
            <a:pPr marL="0" indent="0" algn="ctr"/>
            <a:r>
              <a:rPr lang="en-US" sz="3200" dirty="0">
                <a:latin typeface="+mn-lt"/>
              </a:rPr>
              <a:t>Demo</a:t>
            </a:r>
            <a:endParaRPr lang="vi-VN" sz="3200" dirty="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026032" y="213973"/>
            <a:ext cx="8166497" cy="620078"/>
          </a:xfrm>
          <a:prstGeom prst="rect">
            <a:avLst/>
          </a:prstGeom>
          <a:noFill/>
          <a:ln/>
        </p:spPr>
        <p:txBody>
          <a:bodyPr wrap="none" lIns="0" tIns="0" rIns="0" bIns="0" rtlCol="0" anchor="t"/>
          <a:lstStyle/>
          <a:p>
            <a:pPr marL="0" indent="0" algn="l">
              <a:lnSpc>
                <a:spcPts val="4850"/>
              </a:lnSpc>
              <a:buNone/>
            </a:pPr>
            <a:r>
              <a:rPr lang="en-US" sz="3900" dirty="0">
                <a:solidFill>
                  <a:srgbClr val="233E32"/>
                </a:solidFill>
                <a:latin typeface="Alice" pitchFamily="34" charset="0"/>
                <a:ea typeface="Alice" pitchFamily="34" charset="-122"/>
              </a:rPr>
              <a:t>1. </a:t>
            </a:r>
            <a:r>
              <a:rPr lang="en-US" sz="3900" dirty="0" err="1">
                <a:solidFill>
                  <a:srgbClr val="233E32"/>
                </a:solidFill>
                <a:latin typeface="Alice" pitchFamily="34" charset="0"/>
                <a:ea typeface="Alice" pitchFamily="34" charset="-122"/>
              </a:rPr>
              <a:t>Tổng</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quan</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và</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mục</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tiêu</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của</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hệ</a:t>
            </a:r>
            <a:r>
              <a:rPr lang="en-US" sz="3900" dirty="0">
                <a:solidFill>
                  <a:srgbClr val="233E32"/>
                </a:solidFill>
                <a:latin typeface="Alice" pitchFamily="34" charset="0"/>
                <a:ea typeface="Alice" pitchFamily="34" charset="-122"/>
              </a:rPr>
              <a:t> </a:t>
            </a:r>
            <a:r>
              <a:rPr lang="en-US" sz="3900" dirty="0" err="1">
                <a:solidFill>
                  <a:srgbClr val="233E32"/>
                </a:solidFill>
                <a:latin typeface="Alice" pitchFamily="34" charset="0"/>
                <a:ea typeface="Alice" pitchFamily="34" charset="-122"/>
              </a:rPr>
              <a:t>thống</a:t>
            </a:r>
            <a:endParaRPr lang="en-US" sz="3900" dirty="0"/>
          </a:p>
        </p:txBody>
      </p:sp>
      <p:sp>
        <p:nvSpPr>
          <p:cNvPr id="3" name="Shape 1"/>
          <p:cNvSpPr/>
          <p:nvPr/>
        </p:nvSpPr>
        <p:spPr>
          <a:xfrm>
            <a:off x="793790" y="1146789"/>
            <a:ext cx="446484" cy="446484"/>
          </a:xfrm>
          <a:prstGeom prst="roundRect">
            <a:avLst>
              <a:gd name="adj" fmla="val 6668"/>
            </a:avLst>
          </a:prstGeom>
          <a:solidFill>
            <a:srgbClr val="F0EDE6"/>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868204" y="1183996"/>
            <a:ext cx="297656" cy="372070"/>
          </a:xfrm>
          <a:prstGeom prst="rect">
            <a:avLst/>
          </a:prstGeom>
        </p:spPr>
      </p:pic>
      <p:sp>
        <p:nvSpPr>
          <p:cNvPr id="5" name="Text 2"/>
          <p:cNvSpPr/>
          <p:nvPr/>
        </p:nvSpPr>
        <p:spPr>
          <a:xfrm>
            <a:off x="1438632" y="1215012"/>
            <a:ext cx="2506266"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Đơn Giản và Hiệu Quả</a:t>
            </a:r>
            <a:endParaRPr lang="en-US" sz="1950" dirty="0"/>
          </a:p>
        </p:txBody>
      </p:sp>
      <p:sp>
        <p:nvSpPr>
          <p:cNvPr id="6" name="Text 3"/>
          <p:cNvSpPr/>
          <p:nvPr/>
        </p:nvSpPr>
        <p:spPr>
          <a:xfrm>
            <a:off x="1438632" y="1644232"/>
            <a:ext cx="3537347" cy="1270159"/>
          </a:xfrm>
          <a:prstGeom prst="rect">
            <a:avLst/>
          </a:prstGeom>
          <a:noFill/>
          <a:ln/>
        </p:spPr>
        <p:txBody>
          <a:bodyPr wrap="square" lIns="0" tIns="0" rIns="0" bIns="0" rtlCol="0" anchor="t"/>
          <a:lstStyle/>
          <a:p>
            <a:pPr marL="0" indent="0" algn="just">
              <a:lnSpc>
                <a:spcPts val="2500"/>
              </a:lnSpc>
              <a:buNone/>
            </a:pPr>
            <a:r>
              <a:rPr lang="en-US" sz="1550" dirty="0">
                <a:solidFill>
                  <a:srgbClr val="2C2821"/>
                </a:solidFill>
                <a:latin typeface="Lora" pitchFamily="34" charset="0"/>
                <a:ea typeface="Lora" pitchFamily="34" charset="-122"/>
                <a:cs typeface="Lora" pitchFamily="34" charset="-120"/>
              </a:rPr>
              <a:t>Xây dựng một hệ thống dễ triển khai, dễ sử dụng nhưng vẫn đảm bảo độ chính xác cao trong việc nhận diện biển số xe máy.</a:t>
            </a:r>
            <a:endParaRPr lang="en-US" sz="1550" dirty="0"/>
          </a:p>
        </p:txBody>
      </p:sp>
      <p:sp>
        <p:nvSpPr>
          <p:cNvPr id="7" name="Shape 4"/>
          <p:cNvSpPr/>
          <p:nvPr/>
        </p:nvSpPr>
        <p:spPr>
          <a:xfrm>
            <a:off x="5223986" y="1146789"/>
            <a:ext cx="446484" cy="446484"/>
          </a:xfrm>
          <a:prstGeom prst="roundRect">
            <a:avLst>
              <a:gd name="adj" fmla="val 6668"/>
            </a:avLst>
          </a:prstGeom>
          <a:solidFill>
            <a:srgbClr val="F0EDE6"/>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5298400" y="1183996"/>
            <a:ext cx="297656" cy="372070"/>
          </a:xfrm>
          <a:prstGeom prst="rect">
            <a:avLst/>
          </a:prstGeom>
        </p:spPr>
      </p:pic>
      <p:sp>
        <p:nvSpPr>
          <p:cNvPr id="9" name="Text 5"/>
          <p:cNvSpPr/>
          <p:nvPr/>
        </p:nvSpPr>
        <p:spPr>
          <a:xfrm>
            <a:off x="5868829" y="12150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Chi Phí Thấp</a:t>
            </a:r>
            <a:endParaRPr lang="en-US" sz="1950" dirty="0"/>
          </a:p>
        </p:txBody>
      </p:sp>
      <p:sp>
        <p:nvSpPr>
          <p:cNvPr id="10" name="Text 6"/>
          <p:cNvSpPr/>
          <p:nvPr/>
        </p:nvSpPr>
        <p:spPr>
          <a:xfrm>
            <a:off x="5868829" y="1644232"/>
            <a:ext cx="3537466" cy="952619"/>
          </a:xfrm>
          <a:prstGeom prst="rect">
            <a:avLst/>
          </a:prstGeom>
          <a:noFill/>
          <a:ln/>
        </p:spPr>
        <p:txBody>
          <a:bodyPr wrap="square" lIns="0" tIns="0" rIns="0" bIns="0" rtlCol="0" anchor="t"/>
          <a:lstStyle/>
          <a:p>
            <a:pPr marL="0" indent="0" algn="just">
              <a:lnSpc>
                <a:spcPts val="2500"/>
              </a:lnSpc>
              <a:buNone/>
            </a:pPr>
            <a:r>
              <a:rPr lang="en-US" sz="1550" dirty="0">
                <a:solidFill>
                  <a:srgbClr val="2C2821"/>
                </a:solidFill>
                <a:latin typeface="Lora" pitchFamily="34" charset="0"/>
                <a:ea typeface="Lora" pitchFamily="34" charset="-122"/>
                <a:cs typeface="Lora" pitchFamily="34" charset="-120"/>
              </a:rPr>
              <a:t>Tối ưu hóa chi phí phần cứng và phần mềm, phù hợp với nhiều đối tượng người dùng và ứng dụng khác nhau.</a:t>
            </a:r>
            <a:endParaRPr lang="en-US" sz="1550" dirty="0"/>
          </a:p>
        </p:txBody>
      </p:sp>
      <p:sp>
        <p:nvSpPr>
          <p:cNvPr id="11" name="Shape 7"/>
          <p:cNvSpPr/>
          <p:nvPr/>
        </p:nvSpPr>
        <p:spPr>
          <a:xfrm>
            <a:off x="9654302" y="1146789"/>
            <a:ext cx="446484" cy="446484"/>
          </a:xfrm>
          <a:prstGeom prst="roundRect">
            <a:avLst>
              <a:gd name="adj" fmla="val 6668"/>
            </a:avLst>
          </a:prstGeom>
          <a:solidFill>
            <a:srgbClr val="F0EDE6"/>
          </a:solidFill>
          <a:ln/>
        </p:spPr>
        <p:txBody>
          <a:bodyPr/>
          <a:lstStyle/>
          <a:p>
            <a:endParaRPr lang="en-US"/>
          </a:p>
        </p:txBody>
      </p:sp>
      <p:pic>
        <p:nvPicPr>
          <p:cNvPr id="12" name="Image 2" descr="preencoded.png"/>
          <p:cNvPicPr>
            <a:picLocks noChangeAspect="1"/>
          </p:cNvPicPr>
          <p:nvPr/>
        </p:nvPicPr>
        <p:blipFill>
          <a:blip r:embed="rId3"/>
          <a:stretch>
            <a:fillRect/>
          </a:stretch>
        </p:blipFill>
        <p:spPr>
          <a:xfrm>
            <a:off x="9728716" y="1183996"/>
            <a:ext cx="297656" cy="372070"/>
          </a:xfrm>
          <a:prstGeom prst="rect">
            <a:avLst/>
          </a:prstGeom>
        </p:spPr>
      </p:pic>
      <p:sp>
        <p:nvSpPr>
          <p:cNvPr id="13" name="Text 8"/>
          <p:cNvSpPr/>
          <p:nvPr/>
        </p:nvSpPr>
        <p:spPr>
          <a:xfrm>
            <a:off x="10299144" y="12150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Ứng Dụng Thực Tế</a:t>
            </a:r>
            <a:endParaRPr lang="en-US" sz="1950" dirty="0"/>
          </a:p>
        </p:txBody>
      </p:sp>
      <p:sp>
        <p:nvSpPr>
          <p:cNvPr id="14" name="Text 9"/>
          <p:cNvSpPr/>
          <p:nvPr/>
        </p:nvSpPr>
        <p:spPr>
          <a:xfrm>
            <a:off x="10299144" y="1644232"/>
            <a:ext cx="3537466" cy="952619"/>
          </a:xfrm>
          <a:prstGeom prst="rect">
            <a:avLst/>
          </a:prstGeom>
          <a:noFill/>
          <a:ln/>
        </p:spPr>
        <p:txBody>
          <a:bodyPr wrap="square" lIns="0" tIns="0" rIns="0" bIns="0" rtlCol="0" anchor="t"/>
          <a:lstStyle/>
          <a:p>
            <a:pPr marL="0" indent="0" algn="just">
              <a:lnSpc>
                <a:spcPts val="2500"/>
              </a:lnSpc>
              <a:buNone/>
            </a:pPr>
            <a:r>
              <a:rPr lang="en-US" sz="1550" dirty="0">
                <a:solidFill>
                  <a:srgbClr val="2C2821"/>
                </a:solidFill>
                <a:latin typeface="Lora" pitchFamily="34" charset="0"/>
                <a:ea typeface="Lora" pitchFamily="34" charset="-122"/>
                <a:cs typeface="Lora" pitchFamily="34" charset="-120"/>
              </a:rPr>
              <a:t>Hệ thống có khả năng hoạt động tốt trong các điều kiện thực tế như bãi giữ xe, cổng cơ quan, khu dân cư, v.v.</a:t>
            </a:r>
            <a:endParaRPr lang="en-US" sz="1550" dirty="0"/>
          </a:p>
        </p:txBody>
      </p:sp>
      <p:pic>
        <p:nvPicPr>
          <p:cNvPr id="20" name="Picture 19">
            <a:extLst>
              <a:ext uri="{FF2B5EF4-FFF2-40B4-BE49-F238E27FC236}">
                <a16:creationId xmlns:a16="http://schemas.microsoft.com/office/drawing/2014/main" id="{42372738-5796-39AD-6264-9626AA9ABF42}"/>
              </a:ext>
            </a:extLst>
          </p:cNvPr>
          <p:cNvPicPr>
            <a:picLocks noChangeAspect="1"/>
          </p:cNvPicPr>
          <p:nvPr/>
        </p:nvPicPr>
        <p:blipFill>
          <a:blip r:embed="rId4"/>
          <a:stretch>
            <a:fillRect/>
          </a:stretch>
        </p:blipFill>
        <p:spPr>
          <a:xfrm>
            <a:off x="1165860" y="3142090"/>
            <a:ext cx="12747270" cy="4346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59494" y="1928191"/>
            <a:ext cx="3770471" cy="584359"/>
          </a:xfrm>
          <a:prstGeom prst="rect">
            <a:avLst/>
          </a:prstGeom>
          <a:noFill/>
          <a:ln/>
        </p:spPr>
        <p:txBody>
          <a:bodyPr wrap="none" lIns="0" tIns="0" rIns="0" bIns="0" rtlCol="0" anchor="t"/>
          <a:lstStyle/>
          <a:p>
            <a:pPr marL="0" indent="0" algn="just">
              <a:lnSpc>
                <a:spcPts val="4600"/>
              </a:lnSpc>
              <a:buNone/>
            </a:pPr>
            <a:r>
              <a:rPr lang="en-US" sz="2800" dirty="0" err="1">
                <a:solidFill>
                  <a:srgbClr val="233E32"/>
                </a:solidFill>
                <a:latin typeface="Alice" pitchFamily="34" charset="0"/>
                <a:ea typeface="Alice" pitchFamily="34" charset="-122"/>
                <a:cs typeface="Alice" pitchFamily="34" charset="-120"/>
              </a:rPr>
              <a:t>Thiết</a:t>
            </a:r>
            <a:r>
              <a:rPr lang="en-US" sz="2800" dirty="0">
                <a:solidFill>
                  <a:srgbClr val="233E32"/>
                </a:solidFill>
                <a:latin typeface="Alice" pitchFamily="34" charset="0"/>
                <a:ea typeface="Alice" pitchFamily="34" charset="-122"/>
                <a:cs typeface="Alice" pitchFamily="34" charset="-120"/>
              </a:rPr>
              <a:t> </a:t>
            </a:r>
            <a:r>
              <a:rPr lang="en-US" sz="2800" dirty="0" err="1">
                <a:solidFill>
                  <a:srgbClr val="233E32"/>
                </a:solidFill>
                <a:latin typeface="Alice" pitchFamily="34" charset="0"/>
                <a:ea typeface="Alice" pitchFamily="34" charset="-122"/>
                <a:cs typeface="Alice" pitchFamily="34" charset="-120"/>
              </a:rPr>
              <a:t>bị</a:t>
            </a:r>
            <a:r>
              <a:rPr lang="en-US" sz="2800" dirty="0">
                <a:solidFill>
                  <a:srgbClr val="233E32"/>
                </a:solidFill>
                <a:latin typeface="Alice" pitchFamily="34" charset="0"/>
                <a:ea typeface="Alice" pitchFamily="34" charset="-122"/>
                <a:cs typeface="Alice" pitchFamily="34" charset="-120"/>
              </a:rPr>
              <a:t> ESP32-CAM</a:t>
            </a:r>
            <a:endParaRPr lang="en-US" sz="2800" dirty="0"/>
          </a:p>
        </p:txBody>
      </p:sp>
      <p:sp>
        <p:nvSpPr>
          <p:cNvPr id="3" name="Text 1"/>
          <p:cNvSpPr/>
          <p:nvPr/>
        </p:nvSpPr>
        <p:spPr>
          <a:xfrm>
            <a:off x="1487724" y="2640233"/>
            <a:ext cx="3770471" cy="292298"/>
          </a:xfrm>
          <a:prstGeom prst="rect">
            <a:avLst/>
          </a:prstGeom>
          <a:noFill/>
          <a:ln/>
        </p:spPr>
        <p:txBody>
          <a:bodyPr wrap="none" lIns="0" tIns="0" rIns="0" bIns="0" rtlCol="0" anchor="t"/>
          <a:lstStyle/>
          <a:p>
            <a:pPr marL="0" indent="0" algn="just">
              <a:lnSpc>
                <a:spcPts val="2300"/>
              </a:lnSpc>
              <a:buNone/>
            </a:pPr>
            <a:r>
              <a:rPr lang="en-US" sz="1800" dirty="0">
                <a:solidFill>
                  <a:srgbClr val="233E32"/>
                </a:solidFill>
                <a:latin typeface="Alice" pitchFamily="34" charset="0"/>
                <a:ea typeface="Alice" pitchFamily="34" charset="-122"/>
                <a:cs typeface="Alice" pitchFamily="34" charset="-120"/>
              </a:rPr>
              <a:t>Thu Nhận Hình Ảnh Thời Gian Thực</a:t>
            </a:r>
            <a:endParaRPr lang="en-US" sz="1800" dirty="0"/>
          </a:p>
        </p:txBody>
      </p:sp>
      <p:sp>
        <p:nvSpPr>
          <p:cNvPr id="4" name="Text 2"/>
          <p:cNvSpPr/>
          <p:nvPr/>
        </p:nvSpPr>
        <p:spPr>
          <a:xfrm>
            <a:off x="680901" y="3508654"/>
            <a:ext cx="6339007" cy="598408"/>
          </a:xfrm>
          <a:prstGeom prst="rect">
            <a:avLst/>
          </a:prstGeom>
          <a:noFill/>
          <a:ln/>
        </p:spPr>
        <p:txBody>
          <a:bodyPr wrap="square" lIns="0" tIns="0" rIns="0" bIns="0" rtlCol="0" anchor="t"/>
          <a:lstStyle/>
          <a:p>
            <a:pPr marL="0" indent="0" algn="just">
              <a:lnSpc>
                <a:spcPts val="2350"/>
              </a:lnSpc>
              <a:buNone/>
            </a:pPr>
            <a:endParaRPr lang="en-US" sz="1450" dirty="0"/>
          </a:p>
        </p:txBody>
      </p:sp>
      <p:sp>
        <p:nvSpPr>
          <p:cNvPr id="5" name="Text 3"/>
          <p:cNvSpPr/>
          <p:nvPr/>
        </p:nvSpPr>
        <p:spPr>
          <a:xfrm>
            <a:off x="680900" y="3292663"/>
            <a:ext cx="6339007" cy="897612"/>
          </a:xfrm>
          <a:prstGeom prst="rect">
            <a:avLst/>
          </a:prstGeom>
          <a:noFill/>
          <a:ln/>
        </p:spPr>
        <p:txBody>
          <a:bodyPr wrap="square" lIns="0" tIns="0" rIns="0" bIns="0" rtlCol="0" anchor="t"/>
          <a:lstStyle/>
          <a:p>
            <a:pPr marL="0" indent="0" algn="just">
              <a:lnSpc>
                <a:spcPts val="2350"/>
              </a:lnSpc>
              <a:buNone/>
            </a:pPr>
            <a:r>
              <a:rPr lang="en-US" sz="1450" dirty="0" err="1">
                <a:solidFill>
                  <a:srgbClr val="2C2821"/>
                </a:solidFill>
                <a:latin typeface="Lora" pitchFamily="34" charset="0"/>
                <a:ea typeface="Lora" pitchFamily="34" charset="-122"/>
                <a:cs typeface="Lora" pitchFamily="34" charset="-120"/>
              </a:rPr>
              <a:t>Với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giá</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thành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rẻ</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thiết</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bị</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này</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cung</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cấp</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tính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năng</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kết</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nối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với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wifi</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và</a:t>
            </a:r>
            <a:r>
              <a:rPr lang="en-US" sz="1450" dirty="0">
                <a:solidFill>
                  <a:srgbClr val="2C2821"/>
                </a:solidFill>
                <a:latin typeface="Lora" pitchFamily="34" charset="0"/>
                <a:ea typeface="Lora" pitchFamily="34" charset="-122"/>
                <a:cs typeface="Lora" pitchFamily="34" charset="-120"/>
              </a:rPr>
              <a:t> Bluetooth, </a:t>
            </a:r>
            <a:r>
              <a:rPr lang="en-US" sz="1450" dirty="0" err="1">
                <a:solidFill>
                  <a:srgbClr val="2C2821"/>
                </a:solidFill>
                <a:latin typeface="Lora" pitchFamily="34" charset="0"/>
                <a:ea typeface="Lora" pitchFamily="34" charset="-122"/>
                <a:cs typeface="Lora" pitchFamily="34" charset="-120"/>
              </a:rPr>
              <a:t>giúp</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việc</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truyền</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hình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ảnh</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dễ</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dàng</a:t>
            </a:r>
            <a:r>
              <a:rPr lang="en-US" sz="1450" dirty="0">
                <a:solidFill>
                  <a:srgbClr val="2C2821"/>
                </a:solidFill>
                <a:latin typeface="Lora" pitchFamily="34" charset="0"/>
                <a:ea typeface="Lora" pitchFamily="34" charset="-122"/>
                <a:cs typeface="Lora" pitchFamily="34" charset="-120"/>
              </a:rPr>
              <a:t> </a:t>
            </a:r>
            <a:r>
              <a:rPr lang="en-US" sz="1450" dirty="0" err="1">
                <a:solidFill>
                  <a:srgbClr val="2C2821"/>
                </a:solidFill>
                <a:latin typeface="Lora" pitchFamily="34" charset="0"/>
                <a:ea typeface="Lora" pitchFamily="34" charset="-122"/>
                <a:cs typeface="Lora" pitchFamily="34" charset="-120"/>
              </a:rPr>
              <a:t>hơn</a:t>
            </a:r>
            <a:r>
              <a:rPr lang="en-US" sz="1450" dirty="0">
                <a:solidFill>
                  <a:srgbClr val="2C2821"/>
                </a:solidFill>
                <a:latin typeface="Lora" pitchFamily="34" charset="0"/>
                <a:ea typeface="Lora" pitchFamily="34" charset="-122"/>
                <a:cs typeface="Lora" pitchFamily="34" charset="-120"/>
              </a:rPr>
              <a:t>.</a:t>
            </a:r>
          </a:p>
          <a:p>
            <a:pPr marL="0" indent="0" algn="just">
              <a:lnSpc>
                <a:spcPts val="2350"/>
              </a:lnSpc>
              <a:buNone/>
            </a:pPr>
            <a:endParaRPr lang="en-US" sz="1450" dirty="0">
              <a:solidFill>
                <a:srgbClr val="2C2821"/>
              </a:solidFill>
              <a:latin typeface="Lora" pitchFamily="34" charset="0"/>
            </a:endParaRPr>
          </a:p>
          <a:p>
            <a:pPr algn="just">
              <a:lnSpc>
                <a:spcPts val="2350"/>
              </a:lnSpc>
            </a:pPr>
            <a:r>
              <a:rPr lang="en-US" sz="1450" dirty="0" err="1">
                <a:solidFill>
                  <a:srgbClr val="2C2821"/>
                </a:solidFill>
                <a:latin typeface="Lora" pitchFamily="34" charset="0"/>
              </a:rPr>
              <a:t>Hình</a:t>
            </a:r>
            <a:r>
              <a:rPr lang="en-US" sz="1450" dirty="0">
                <a:solidFill>
                  <a:srgbClr val="2C2821"/>
                </a:solidFill>
                <a:latin typeface="Lora" pitchFamily="34" charset="0"/>
              </a:rPr>
              <a:t> </a:t>
            </a:r>
            <a:r>
              <a:rPr lang="en-US" sz="1450" dirty="0" err="1">
                <a:solidFill>
                  <a:srgbClr val="2C2821"/>
                </a:solidFill>
                <a:latin typeface="Lora" pitchFamily="34" charset="0"/>
              </a:rPr>
              <a:t>ảnh</a:t>
            </a:r>
            <a:r>
              <a:rPr lang="en-US" sz="1450" dirty="0">
                <a:solidFill>
                  <a:srgbClr val="2C2821"/>
                </a:solidFill>
                <a:latin typeface="Lora" pitchFamily="34" charset="0"/>
              </a:rPr>
              <a:t> </a:t>
            </a:r>
            <a:r>
              <a:rPr lang="en-US" sz="1450" dirty="0" err="1">
                <a:solidFill>
                  <a:srgbClr val="2C2821"/>
                </a:solidFill>
                <a:latin typeface="Lora" pitchFamily="34" charset="0"/>
              </a:rPr>
              <a:t>sẽ</a:t>
            </a:r>
            <a:r>
              <a:rPr lang="en-US" sz="1450" dirty="0">
                <a:solidFill>
                  <a:srgbClr val="2C2821"/>
                </a:solidFill>
                <a:latin typeface="Lora" pitchFamily="34" charset="0"/>
              </a:rPr>
              <a:t> </a:t>
            </a:r>
            <a:r>
              <a:rPr lang="en-US" sz="1450" dirty="0" err="1">
                <a:solidFill>
                  <a:srgbClr val="2C2821"/>
                </a:solidFill>
                <a:latin typeface="Lora" pitchFamily="34" charset="0"/>
              </a:rPr>
              <a:t>được</a:t>
            </a:r>
            <a:r>
              <a:rPr lang="en-US" sz="1450" dirty="0">
                <a:solidFill>
                  <a:srgbClr val="2C2821"/>
                </a:solidFill>
                <a:latin typeface="Lora" pitchFamily="34" charset="0"/>
              </a:rPr>
              <a:t> </a:t>
            </a:r>
            <a:r>
              <a:rPr lang="en-US" sz="1450" dirty="0" err="1">
                <a:solidFill>
                  <a:srgbClr val="2C2821"/>
                </a:solidFill>
                <a:latin typeface="Lora" pitchFamily="34" charset="0"/>
              </a:rPr>
              <a:t>truyền</a:t>
            </a:r>
            <a:r>
              <a:rPr lang="en-US" sz="1450" dirty="0">
                <a:solidFill>
                  <a:srgbClr val="2C2821"/>
                </a:solidFill>
                <a:latin typeface="Lora" pitchFamily="34" charset="0"/>
              </a:rPr>
              <a:t> </a:t>
            </a:r>
            <a:r>
              <a:rPr lang="en-US" sz="1450" dirty="0" err="1">
                <a:solidFill>
                  <a:srgbClr val="2C2821"/>
                </a:solidFill>
                <a:latin typeface="Lora" pitchFamily="34" charset="0"/>
              </a:rPr>
              <a:t>thông</a:t>
            </a:r>
            <a:r>
              <a:rPr lang="en-US" sz="1450" dirty="0">
                <a:solidFill>
                  <a:srgbClr val="2C2821"/>
                </a:solidFill>
                <a:latin typeface="Lora" pitchFamily="34" charset="0"/>
              </a:rPr>
              <a:t> qua </a:t>
            </a:r>
            <a:r>
              <a:rPr lang="en-US" sz="1450" dirty="0" err="1">
                <a:solidFill>
                  <a:srgbClr val="2C2821"/>
                </a:solidFill>
                <a:latin typeface="Lora" pitchFamily="34" charset="0"/>
              </a:rPr>
              <a:t>địa</a:t>
            </a:r>
            <a:r>
              <a:rPr lang="en-US" sz="1450" dirty="0">
                <a:solidFill>
                  <a:srgbClr val="2C2821"/>
                </a:solidFill>
                <a:latin typeface="Lora" pitchFamily="34" charset="0"/>
              </a:rPr>
              <a:t> </a:t>
            </a:r>
            <a:r>
              <a:rPr lang="en-US" sz="1450" dirty="0" err="1">
                <a:solidFill>
                  <a:srgbClr val="2C2821"/>
                </a:solidFill>
                <a:latin typeface="Lora" pitchFamily="34" charset="0"/>
              </a:rPr>
              <a:t>chỉ</a:t>
            </a:r>
            <a:r>
              <a:rPr lang="en-US" sz="1450" dirty="0">
                <a:solidFill>
                  <a:srgbClr val="2C2821"/>
                </a:solidFill>
                <a:latin typeface="Lora" pitchFamily="34" charset="0"/>
              </a:rPr>
              <a:t> IP, </a:t>
            </a:r>
            <a:r>
              <a:rPr lang="en-US" sz="1450" dirty="0" err="1">
                <a:solidFill>
                  <a:srgbClr val="2C2821"/>
                </a:solidFill>
                <a:latin typeface="Lora" pitchFamily="34" charset="0"/>
              </a:rPr>
              <a:t>theo</a:t>
            </a:r>
            <a:r>
              <a:rPr lang="en-US" sz="1450" dirty="0">
                <a:solidFill>
                  <a:srgbClr val="2C2821"/>
                </a:solidFill>
                <a:latin typeface="Lora" pitchFamily="34" charset="0"/>
              </a:rPr>
              <a:t> </a:t>
            </a:r>
            <a:r>
              <a:rPr lang="en-US" sz="1450" dirty="0" err="1">
                <a:solidFill>
                  <a:srgbClr val="2C2821"/>
                </a:solidFill>
                <a:latin typeface="Lora" pitchFamily="34" charset="0"/>
              </a:rPr>
              <a:t>định</a:t>
            </a:r>
            <a:r>
              <a:rPr lang="en-US" sz="1450" dirty="0">
                <a:solidFill>
                  <a:srgbClr val="2C2821"/>
                </a:solidFill>
                <a:latin typeface="Lora" pitchFamily="34" charset="0"/>
              </a:rPr>
              <a:t> </a:t>
            </a:r>
            <a:r>
              <a:rPr lang="en-US" sz="1450" dirty="0" err="1">
                <a:solidFill>
                  <a:srgbClr val="2C2821"/>
                </a:solidFill>
                <a:latin typeface="Lora" pitchFamily="34" charset="0"/>
              </a:rPr>
              <a:t>dạng</a:t>
            </a:r>
            <a:r>
              <a:rPr lang="en-US" sz="1450" dirty="0">
                <a:solidFill>
                  <a:srgbClr val="2C2821"/>
                </a:solidFill>
                <a:latin typeface="Lora" pitchFamily="34" charset="0"/>
              </a:rPr>
              <a:t> </a:t>
            </a:r>
            <a:r>
              <a:rPr lang="vi-VN" sz="1450" dirty="0">
                <a:solidFill>
                  <a:srgbClr val="2C2821"/>
                </a:solidFill>
                <a:latin typeface="Lora" pitchFamily="34" charset="0"/>
              </a:rPr>
              <a:t>Motion JPEG (MJPEG) </a:t>
            </a:r>
            <a:r>
              <a:rPr lang="en-US" sz="1450" dirty="0">
                <a:solidFill>
                  <a:srgbClr val="2C2821"/>
                </a:solidFill>
                <a:latin typeface="Lora" pitchFamily="34" charset="0"/>
              </a:rPr>
              <a:t> </a:t>
            </a:r>
            <a:r>
              <a:rPr lang="en-US" sz="1450" dirty="0" err="1">
                <a:solidFill>
                  <a:srgbClr val="2C2821"/>
                </a:solidFill>
                <a:latin typeface="Lora" pitchFamily="34" charset="0"/>
              </a:rPr>
              <a:t>đây</a:t>
            </a:r>
            <a:r>
              <a:rPr lang="en-US" sz="1450" dirty="0">
                <a:solidFill>
                  <a:srgbClr val="2C2821"/>
                </a:solidFill>
                <a:latin typeface="Lora" pitchFamily="34" charset="0"/>
              </a:rPr>
              <a:t> </a:t>
            </a:r>
            <a:r>
              <a:rPr lang="en-US" sz="1450" dirty="0" err="1">
                <a:solidFill>
                  <a:srgbClr val="2C2821"/>
                </a:solidFill>
                <a:latin typeface="Lora" pitchFamily="34" charset="0"/>
              </a:rPr>
              <a:t>là</a:t>
            </a:r>
            <a:r>
              <a:rPr lang="en-US" sz="1450" dirty="0">
                <a:solidFill>
                  <a:srgbClr val="2C2821"/>
                </a:solidFill>
                <a:latin typeface="Lora" pitchFamily="34" charset="0"/>
              </a:rPr>
              <a:t> </a:t>
            </a:r>
            <a:r>
              <a:rPr lang="en-US" sz="1450" dirty="0" err="1">
                <a:solidFill>
                  <a:srgbClr val="2C2821"/>
                </a:solidFill>
                <a:latin typeface="Lora" pitchFamily="34" charset="0"/>
              </a:rPr>
              <a:t>định</a:t>
            </a:r>
            <a:r>
              <a:rPr lang="en-US" sz="1450" dirty="0">
                <a:solidFill>
                  <a:srgbClr val="2C2821"/>
                </a:solidFill>
                <a:latin typeface="Lora" pitchFamily="34" charset="0"/>
              </a:rPr>
              <a:t> </a:t>
            </a:r>
            <a:r>
              <a:rPr lang="en-US" sz="1450" dirty="0" err="1">
                <a:solidFill>
                  <a:srgbClr val="2C2821"/>
                </a:solidFill>
                <a:latin typeface="Lora" pitchFamily="34" charset="0"/>
              </a:rPr>
              <a:t>dạng</a:t>
            </a:r>
            <a:r>
              <a:rPr lang="vi-VN" sz="1450" dirty="0">
                <a:solidFill>
                  <a:srgbClr val="2C2821"/>
                </a:solidFill>
                <a:latin typeface="Lora" pitchFamily="34" charset="0"/>
              </a:rPr>
              <a:t> video trong đó mỗi khung hình được nén riêng lẻ bằng chuẩn JPEG – giống như một loạt các ảnh JPEG được chiếu liên tiếp.</a:t>
            </a:r>
            <a:r>
              <a:rPr lang="en-US" sz="1450" dirty="0">
                <a:solidFill>
                  <a:srgbClr val="2C2821"/>
                </a:solidFill>
                <a:latin typeface="Lora" pitchFamily="34" charset="0"/>
              </a:rPr>
              <a:t> </a:t>
            </a:r>
            <a:r>
              <a:rPr lang="en-US" sz="1450" dirty="0" err="1">
                <a:solidFill>
                  <a:srgbClr val="2C2821"/>
                </a:solidFill>
                <a:latin typeface="Lora" pitchFamily="34" charset="0"/>
              </a:rPr>
              <a:t>Việc</a:t>
            </a:r>
            <a:r>
              <a:rPr lang="en-US" sz="1450" dirty="0">
                <a:solidFill>
                  <a:srgbClr val="2C2821"/>
                </a:solidFill>
                <a:latin typeface="Lora" pitchFamily="34" charset="0"/>
              </a:rPr>
              <a:t> </a:t>
            </a:r>
            <a:r>
              <a:rPr lang="en-US" sz="1450" dirty="0" err="1">
                <a:solidFill>
                  <a:srgbClr val="2C2821"/>
                </a:solidFill>
                <a:latin typeface="Lora" pitchFamily="34" charset="0"/>
              </a:rPr>
              <a:t>này</a:t>
            </a:r>
            <a:r>
              <a:rPr lang="en-US" sz="1450" dirty="0">
                <a:solidFill>
                  <a:srgbClr val="2C2821"/>
                </a:solidFill>
                <a:latin typeface="Lora" pitchFamily="34" charset="0"/>
              </a:rPr>
              <a:t> </a:t>
            </a:r>
            <a:r>
              <a:rPr lang="en-US" sz="1450" dirty="0" err="1">
                <a:solidFill>
                  <a:srgbClr val="2C2821"/>
                </a:solidFill>
                <a:latin typeface="Lora" pitchFamily="34" charset="0"/>
              </a:rPr>
              <a:t>giúp</a:t>
            </a:r>
            <a:r>
              <a:rPr lang="en-US" sz="1450" dirty="0">
                <a:solidFill>
                  <a:srgbClr val="2C2821"/>
                </a:solidFill>
                <a:latin typeface="Lora" pitchFamily="34" charset="0"/>
              </a:rPr>
              <a:t> camera </a:t>
            </a:r>
            <a:r>
              <a:rPr lang="en-US" sz="1450" dirty="0" err="1">
                <a:solidFill>
                  <a:srgbClr val="2C2821"/>
                </a:solidFill>
                <a:latin typeface="Lora" pitchFamily="34" charset="0"/>
              </a:rPr>
              <a:t>dễ</a:t>
            </a:r>
            <a:r>
              <a:rPr lang="en-US" sz="1450" dirty="0">
                <a:solidFill>
                  <a:srgbClr val="2C2821"/>
                </a:solidFill>
                <a:latin typeface="Lora" pitchFamily="34" charset="0"/>
              </a:rPr>
              <a:t> </a:t>
            </a:r>
            <a:r>
              <a:rPr lang="en-US" sz="1450" dirty="0" err="1">
                <a:solidFill>
                  <a:srgbClr val="2C2821"/>
                </a:solidFill>
                <a:latin typeface="Lora" pitchFamily="34" charset="0"/>
              </a:rPr>
              <a:t>dàng</a:t>
            </a:r>
            <a:r>
              <a:rPr lang="en-US" sz="1450" dirty="0">
                <a:solidFill>
                  <a:srgbClr val="2C2821"/>
                </a:solidFill>
                <a:latin typeface="Lora" pitchFamily="34" charset="0"/>
              </a:rPr>
              <a:t> </a:t>
            </a:r>
            <a:r>
              <a:rPr lang="en-US" sz="1450" dirty="0" err="1">
                <a:solidFill>
                  <a:srgbClr val="2C2821"/>
                </a:solidFill>
                <a:latin typeface="Lora" pitchFamily="34" charset="0"/>
              </a:rPr>
              <a:t>bắt</a:t>
            </a:r>
            <a:r>
              <a:rPr lang="en-US" sz="1450" dirty="0">
                <a:solidFill>
                  <a:srgbClr val="2C2821"/>
                </a:solidFill>
                <a:latin typeface="Lora" pitchFamily="34" charset="0"/>
              </a:rPr>
              <a:t> </a:t>
            </a:r>
            <a:r>
              <a:rPr lang="en-US" sz="1450" dirty="0" err="1">
                <a:solidFill>
                  <a:srgbClr val="2C2821"/>
                </a:solidFill>
                <a:latin typeface="Lora" pitchFamily="34" charset="0"/>
              </a:rPr>
              <a:t>được</a:t>
            </a:r>
            <a:r>
              <a:rPr lang="en-US" sz="1450" dirty="0">
                <a:solidFill>
                  <a:srgbClr val="2C2821"/>
                </a:solidFill>
                <a:latin typeface="Lora" pitchFamily="34" charset="0"/>
              </a:rPr>
              <a:t> </a:t>
            </a:r>
            <a:r>
              <a:rPr lang="en-US" sz="1450" dirty="0" err="1">
                <a:solidFill>
                  <a:srgbClr val="2C2821"/>
                </a:solidFill>
                <a:latin typeface="Lora" pitchFamily="34" charset="0"/>
              </a:rPr>
              <a:t>các</a:t>
            </a:r>
            <a:r>
              <a:rPr lang="en-US" sz="1450" dirty="0">
                <a:solidFill>
                  <a:srgbClr val="2C2821"/>
                </a:solidFill>
                <a:latin typeface="Lora" pitchFamily="34" charset="0"/>
              </a:rPr>
              <a:t> </a:t>
            </a:r>
            <a:r>
              <a:rPr lang="en-US" sz="1450" dirty="0" err="1">
                <a:solidFill>
                  <a:srgbClr val="2C2821"/>
                </a:solidFill>
                <a:latin typeface="Lora" pitchFamily="34" charset="0"/>
              </a:rPr>
              <a:t>khung</a:t>
            </a:r>
            <a:r>
              <a:rPr lang="en-US" sz="1450" dirty="0">
                <a:solidFill>
                  <a:srgbClr val="2C2821"/>
                </a:solidFill>
                <a:latin typeface="Lora" pitchFamily="34" charset="0"/>
              </a:rPr>
              <a:t> </a:t>
            </a:r>
            <a:r>
              <a:rPr lang="en-US" sz="1450" dirty="0" err="1">
                <a:solidFill>
                  <a:srgbClr val="2C2821"/>
                </a:solidFill>
                <a:latin typeface="Lora" pitchFamily="34" charset="0"/>
              </a:rPr>
              <a:t>biển</a:t>
            </a:r>
            <a:r>
              <a:rPr lang="en-US" sz="1450" dirty="0">
                <a:solidFill>
                  <a:srgbClr val="2C2821"/>
                </a:solidFill>
                <a:latin typeface="Lora" pitchFamily="34" charset="0"/>
              </a:rPr>
              <a:t> </a:t>
            </a:r>
            <a:r>
              <a:rPr lang="en-US" sz="1450" dirty="0" err="1">
                <a:solidFill>
                  <a:srgbClr val="2C2821"/>
                </a:solidFill>
                <a:latin typeface="Lora" pitchFamily="34" charset="0"/>
              </a:rPr>
              <a:t>số</a:t>
            </a:r>
            <a:r>
              <a:rPr lang="en-US" sz="1450" dirty="0">
                <a:solidFill>
                  <a:srgbClr val="2C2821"/>
                </a:solidFill>
                <a:latin typeface="Lora" pitchFamily="34" charset="0"/>
              </a:rPr>
              <a:t> </a:t>
            </a:r>
            <a:r>
              <a:rPr lang="en-US" sz="1450" dirty="0" err="1">
                <a:solidFill>
                  <a:srgbClr val="2C2821"/>
                </a:solidFill>
                <a:latin typeface="Lora" pitchFamily="34" charset="0"/>
              </a:rPr>
              <a:t>và</a:t>
            </a:r>
            <a:r>
              <a:rPr lang="en-US" sz="1450" dirty="0">
                <a:solidFill>
                  <a:srgbClr val="2C2821"/>
                </a:solidFill>
                <a:latin typeface="Lora" pitchFamily="34" charset="0"/>
              </a:rPr>
              <a:t> </a:t>
            </a:r>
            <a:r>
              <a:rPr lang="en-US" sz="1450" dirty="0" err="1">
                <a:solidFill>
                  <a:srgbClr val="2C2821"/>
                </a:solidFill>
                <a:latin typeface="Lora" pitchFamily="34" charset="0"/>
              </a:rPr>
              <a:t>ký</a:t>
            </a:r>
            <a:r>
              <a:rPr lang="en-US" sz="1450" dirty="0">
                <a:solidFill>
                  <a:srgbClr val="2C2821"/>
                </a:solidFill>
                <a:latin typeface="Lora" pitchFamily="34" charset="0"/>
              </a:rPr>
              <a:t> </a:t>
            </a:r>
            <a:r>
              <a:rPr lang="en-US" sz="1450" dirty="0" err="1">
                <a:solidFill>
                  <a:srgbClr val="2C2821"/>
                </a:solidFill>
                <a:latin typeface="Lora" pitchFamily="34" charset="0"/>
              </a:rPr>
              <a:t>tự</a:t>
            </a:r>
            <a:r>
              <a:rPr lang="en-US" sz="1450" dirty="0">
                <a:solidFill>
                  <a:srgbClr val="2C2821"/>
                </a:solidFill>
                <a:latin typeface="Lora" pitchFamily="34" charset="0"/>
              </a:rPr>
              <a:t>.</a:t>
            </a:r>
          </a:p>
        </p:txBody>
      </p:sp>
      <p:pic>
        <p:nvPicPr>
          <p:cNvPr id="1026" name="Picture 2" descr="Cách sử dụng ESP32-CAM - 3 dự án mẫu cho người mới - IoT Zone">
            <a:extLst>
              <a:ext uri="{FF2B5EF4-FFF2-40B4-BE49-F238E27FC236}">
                <a16:creationId xmlns:a16="http://schemas.microsoft.com/office/drawing/2014/main" id="{C8FC2983-485E-4ECD-4C4E-2C419BD8F8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9671" y="1506808"/>
            <a:ext cx="7095022" cy="600647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C834DB5-E1D7-73A2-87C7-B01A3F6EE88C}"/>
              </a:ext>
            </a:extLst>
          </p:cNvPr>
          <p:cNvPicPr>
            <a:picLocks noChangeAspect="1"/>
          </p:cNvPicPr>
          <p:nvPr/>
        </p:nvPicPr>
        <p:blipFill>
          <a:blip r:embed="rId4"/>
          <a:stretch>
            <a:fillRect/>
          </a:stretch>
        </p:blipFill>
        <p:spPr>
          <a:xfrm>
            <a:off x="11010425" y="6966657"/>
            <a:ext cx="3534268" cy="1190791"/>
          </a:xfrm>
          <a:prstGeom prst="rect">
            <a:avLst/>
          </a:prstGeom>
        </p:spPr>
      </p:pic>
      <p:sp>
        <p:nvSpPr>
          <p:cNvPr id="10" name="TextBox 9">
            <a:extLst>
              <a:ext uri="{FF2B5EF4-FFF2-40B4-BE49-F238E27FC236}">
                <a16:creationId xmlns:a16="http://schemas.microsoft.com/office/drawing/2014/main" id="{76F0D9D9-56D3-49C2-C779-9CAA1A541662}"/>
              </a:ext>
            </a:extLst>
          </p:cNvPr>
          <p:cNvSpPr txBox="1"/>
          <p:nvPr/>
        </p:nvSpPr>
        <p:spPr>
          <a:xfrm>
            <a:off x="287058" y="515145"/>
            <a:ext cx="8113475" cy="694998"/>
          </a:xfrm>
          <a:prstGeom prst="rect">
            <a:avLst/>
          </a:prstGeom>
          <a:noFill/>
        </p:spPr>
        <p:txBody>
          <a:bodyPr wrap="square">
            <a:spAutoFit/>
          </a:bodyPr>
          <a:lstStyle/>
          <a:p>
            <a:pPr marL="0" indent="0" algn="just">
              <a:lnSpc>
                <a:spcPts val="4850"/>
              </a:lnSpc>
              <a:buNone/>
            </a:pPr>
            <a:r>
              <a:rPr lang="en-US" sz="4000" dirty="0">
                <a:solidFill>
                  <a:srgbClr val="233E32"/>
                </a:solidFill>
                <a:latin typeface="Alice" pitchFamily="34" charset="0"/>
                <a:ea typeface="Alice" pitchFamily="34" charset="-122"/>
              </a:rPr>
              <a:t>2. Các </a:t>
            </a:r>
            <a:r>
              <a:rPr lang="en-US" sz="4000" dirty="0" err="1">
                <a:solidFill>
                  <a:srgbClr val="233E32"/>
                </a:solidFill>
                <a:latin typeface="Alice" pitchFamily="34" charset="0"/>
                <a:ea typeface="Alice" pitchFamily="34" charset="-122"/>
              </a:rPr>
              <a:t>thành</a:t>
            </a:r>
            <a:r>
              <a:rPr lang="en-US" sz="4000" dirty="0">
                <a:solidFill>
                  <a:srgbClr val="233E32"/>
                </a:solidFill>
                <a:latin typeface="Alice" pitchFamily="34" charset="0"/>
                <a:ea typeface="Alice" pitchFamily="34" charset="-122"/>
              </a:rPr>
              <a:t> </a:t>
            </a:r>
            <a:r>
              <a:rPr lang="en-US" sz="4000" dirty="0" err="1">
                <a:solidFill>
                  <a:srgbClr val="233E32"/>
                </a:solidFill>
                <a:latin typeface="Alice" pitchFamily="34" charset="0"/>
                <a:ea typeface="Alice" pitchFamily="34" charset="-122"/>
              </a:rPr>
              <a:t>phần</a:t>
            </a:r>
            <a:r>
              <a:rPr lang="en-US" sz="4000" dirty="0">
                <a:solidFill>
                  <a:srgbClr val="233E32"/>
                </a:solidFill>
                <a:latin typeface="Alice" pitchFamily="34" charset="0"/>
                <a:ea typeface="Alice" pitchFamily="34" charset="-122"/>
              </a:rPr>
              <a:t> </a:t>
            </a:r>
            <a:r>
              <a:rPr lang="en-US" sz="4000" dirty="0" err="1">
                <a:solidFill>
                  <a:srgbClr val="233E32"/>
                </a:solidFill>
                <a:latin typeface="Alice" pitchFamily="34" charset="0"/>
                <a:ea typeface="Alice" pitchFamily="34" charset="-122"/>
              </a:rPr>
              <a:t>trong</a:t>
            </a:r>
            <a:r>
              <a:rPr lang="en-US" sz="4000" dirty="0">
                <a:solidFill>
                  <a:srgbClr val="233E32"/>
                </a:solidFill>
                <a:latin typeface="Alice" pitchFamily="34" charset="0"/>
                <a:ea typeface="Alice" pitchFamily="34" charset="-122"/>
              </a:rPr>
              <a:t> </a:t>
            </a:r>
            <a:r>
              <a:rPr lang="en-US" sz="4000" dirty="0" err="1">
                <a:solidFill>
                  <a:srgbClr val="233E32"/>
                </a:solidFill>
                <a:latin typeface="Alice" pitchFamily="34" charset="0"/>
                <a:ea typeface="Alice" pitchFamily="34" charset="-122"/>
              </a:rPr>
              <a:t>hệ</a:t>
            </a:r>
            <a:r>
              <a:rPr lang="en-US" sz="4000" dirty="0">
                <a:solidFill>
                  <a:srgbClr val="233E32"/>
                </a:solidFill>
                <a:latin typeface="Alice" pitchFamily="34" charset="0"/>
                <a:ea typeface="Alice" pitchFamily="34" charset="-122"/>
              </a:rPr>
              <a:t> </a:t>
            </a:r>
            <a:r>
              <a:rPr lang="en-US" sz="4000" dirty="0" err="1">
                <a:solidFill>
                  <a:srgbClr val="233E32"/>
                </a:solidFill>
                <a:latin typeface="Alice" pitchFamily="34" charset="0"/>
                <a:ea typeface="Alice" pitchFamily="34" charset="-122"/>
              </a:rPr>
              <a:t>thống</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138083" y="217289"/>
            <a:ext cx="6602492" cy="620078"/>
          </a:xfrm>
          <a:prstGeom prst="rect">
            <a:avLst/>
          </a:prstGeom>
          <a:noFill/>
          <a:ln/>
        </p:spPr>
        <p:txBody>
          <a:bodyPr wrap="none" lIns="0" tIns="0" rIns="0" bIns="0" rtlCol="0" anchor="t"/>
          <a:lstStyle/>
          <a:p>
            <a:pPr marL="0" indent="0" algn="l">
              <a:lnSpc>
                <a:spcPts val="4850"/>
              </a:lnSpc>
              <a:buNone/>
            </a:pPr>
            <a:r>
              <a:rPr lang="en-US" sz="3900" dirty="0" err="1">
                <a:solidFill>
                  <a:srgbClr val="233E32"/>
                </a:solidFill>
                <a:latin typeface="Alice" pitchFamily="34" charset="0"/>
                <a:ea typeface="Alice" pitchFamily="34" charset="-122"/>
                <a:cs typeface="Alice" pitchFamily="34" charset="-120"/>
              </a:rPr>
              <a:t>Hệ</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thống</a:t>
            </a:r>
            <a:r>
              <a:rPr lang="en-US" sz="3900" dirty="0">
                <a:solidFill>
                  <a:srgbClr val="233E32"/>
                </a:solidFill>
                <a:latin typeface="Alice" pitchFamily="34" charset="0"/>
                <a:ea typeface="Alice" pitchFamily="34" charset="-122"/>
                <a:cs typeface="Alice" pitchFamily="34" charset="-120"/>
              </a:rPr>
              <a:t> website </a:t>
            </a:r>
            <a:r>
              <a:rPr lang="en-US" sz="3900" dirty="0" err="1">
                <a:solidFill>
                  <a:srgbClr val="233E32"/>
                </a:solidFill>
                <a:latin typeface="Alice" pitchFamily="34" charset="0"/>
                <a:ea typeface="Alice" pitchFamily="34" charset="-122"/>
                <a:cs typeface="Alice" pitchFamily="34" charset="-120"/>
              </a:rPr>
              <a:t>quản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lý</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và</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cơ</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sở</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dữ</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liệu</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lưu</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trữ</a:t>
            </a:r>
            <a:r>
              <a:rPr lang="en-US" sz="3900" dirty="0">
                <a:solidFill>
                  <a:srgbClr val="233E32"/>
                </a:solidFill>
                <a:latin typeface="Alice" pitchFamily="34" charset="0"/>
                <a:ea typeface="Alice" pitchFamily="34" charset="-122"/>
                <a:cs typeface="Alice" pitchFamily="34" charset="-120"/>
              </a:rPr>
              <a:t> </a:t>
            </a:r>
            <a:endParaRPr lang="en-US" sz="3900" dirty="0"/>
          </a:p>
        </p:txBody>
      </p:sp>
      <p:pic>
        <p:nvPicPr>
          <p:cNvPr id="3" name="Picture 2">
            <a:extLst>
              <a:ext uri="{FF2B5EF4-FFF2-40B4-BE49-F238E27FC236}">
                <a16:creationId xmlns:a16="http://schemas.microsoft.com/office/drawing/2014/main" id="{05AF8302-28D0-5FCE-26A4-E70B98A4D151}"/>
              </a:ext>
            </a:extLst>
          </p:cNvPr>
          <p:cNvPicPr>
            <a:picLocks noChangeAspect="1"/>
          </p:cNvPicPr>
          <p:nvPr/>
        </p:nvPicPr>
        <p:blipFill>
          <a:blip r:embed="rId3"/>
          <a:stretch>
            <a:fillRect/>
          </a:stretch>
        </p:blipFill>
        <p:spPr>
          <a:xfrm>
            <a:off x="7662067" y="1104558"/>
            <a:ext cx="6754714" cy="6402895"/>
          </a:xfrm>
          <a:prstGeom prst="rect">
            <a:avLst/>
          </a:prstGeom>
        </p:spPr>
      </p:pic>
      <p:pic>
        <p:nvPicPr>
          <p:cNvPr id="4" name="Picture 3" descr="A screenshot of a login form&#10;&#10;AI-generated content may be incorrect.">
            <a:extLst>
              <a:ext uri="{FF2B5EF4-FFF2-40B4-BE49-F238E27FC236}">
                <a16:creationId xmlns:a16="http://schemas.microsoft.com/office/drawing/2014/main" id="{593E118A-8449-AD7F-D365-5BA903F88EAF}"/>
              </a:ext>
            </a:extLst>
          </p:cNvPr>
          <p:cNvPicPr>
            <a:picLocks noChangeAspect="1"/>
          </p:cNvPicPr>
          <p:nvPr/>
        </p:nvPicPr>
        <p:blipFill>
          <a:blip r:embed="rId4"/>
          <a:stretch>
            <a:fillRect/>
          </a:stretch>
        </p:blipFill>
        <p:spPr>
          <a:xfrm>
            <a:off x="159455" y="1177192"/>
            <a:ext cx="7394284" cy="6304088"/>
          </a:xfrm>
          <a:prstGeom prst="rect">
            <a:avLst/>
          </a:prstGeom>
        </p:spPr>
      </p:pic>
      <p:sp>
        <p:nvSpPr>
          <p:cNvPr id="8" name="TextBox 7">
            <a:extLst>
              <a:ext uri="{FF2B5EF4-FFF2-40B4-BE49-F238E27FC236}">
                <a16:creationId xmlns:a16="http://schemas.microsoft.com/office/drawing/2014/main" id="{35EA1258-E963-CC37-77F4-C799AE00CB42}"/>
              </a:ext>
            </a:extLst>
          </p:cNvPr>
          <p:cNvSpPr txBox="1"/>
          <p:nvPr/>
        </p:nvSpPr>
        <p:spPr>
          <a:xfrm>
            <a:off x="2138083" y="7540853"/>
            <a:ext cx="7315200" cy="382412"/>
          </a:xfrm>
          <a:prstGeom prst="rect">
            <a:avLst/>
          </a:prstGeom>
          <a:noFill/>
        </p:spPr>
        <p:txBody>
          <a:bodyPr wrap="square">
            <a:spAutoFit/>
          </a:bodyPr>
          <a:lstStyle/>
          <a:p>
            <a:pPr marL="0" indent="0" algn="just">
              <a:lnSpc>
                <a:spcPts val="2350"/>
              </a:lnSpc>
              <a:buNone/>
            </a:pPr>
            <a:r>
              <a:rPr lang="en-US" sz="1800" dirty="0">
                <a:solidFill>
                  <a:srgbClr val="2C2821"/>
                </a:solidFill>
                <a:latin typeface="Lora" pitchFamily="34" charset="0"/>
                <a:ea typeface="Lora" pitchFamily="34" charset="-122"/>
                <a:cs typeface="Lora" pitchFamily="34" charset="-120"/>
              </a:rPr>
              <a:t>Giao </a:t>
            </a:r>
            <a:r>
              <a:rPr lang="en-US" sz="1800" dirty="0" err="1">
                <a:solidFill>
                  <a:srgbClr val="2C2821"/>
                </a:solidFill>
                <a:latin typeface="Lora" pitchFamily="34" charset="0"/>
                <a:ea typeface="Lora" pitchFamily="34" charset="-122"/>
                <a:cs typeface="Lora" pitchFamily="34" charset="-120"/>
              </a:rPr>
              <a:t>diện</a:t>
            </a:r>
            <a:r>
              <a:rPr lang="en-US" sz="1800" dirty="0">
                <a:solidFill>
                  <a:srgbClr val="2C2821"/>
                </a:solidFill>
                <a:latin typeface="Lora" pitchFamily="34" charset="0"/>
                <a:ea typeface="Lora" pitchFamily="34" charset="-122"/>
                <a:cs typeface="Lora" pitchFamily="34" charset="-120"/>
              </a:rPr>
              <a:t> website </a:t>
            </a:r>
            <a:r>
              <a:rPr lang="en-US" sz="1800" dirty="0" err="1">
                <a:solidFill>
                  <a:srgbClr val="2C2821"/>
                </a:solidFill>
                <a:latin typeface="Lora" pitchFamily="34" charset="0"/>
                <a:ea typeface="Lora" pitchFamily="34" charset="-122"/>
                <a:cs typeface="Lora" pitchFamily="34" charset="-120"/>
              </a:rPr>
              <a:t>đăng</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nhập</a:t>
            </a:r>
            <a:endParaRPr lang="en-US" sz="1800" dirty="0">
              <a:solidFill>
                <a:srgbClr val="2C2821"/>
              </a:solidFill>
              <a:latin typeface="Lora" pitchFamily="34" charset="0"/>
              <a:ea typeface="Lora" pitchFamily="34" charset="-122"/>
              <a:cs typeface="Lora" pitchFamily="34" charset="-120"/>
            </a:endParaRPr>
          </a:p>
        </p:txBody>
      </p:sp>
      <p:sp>
        <p:nvSpPr>
          <p:cNvPr id="10" name="TextBox 9">
            <a:extLst>
              <a:ext uri="{FF2B5EF4-FFF2-40B4-BE49-F238E27FC236}">
                <a16:creationId xmlns:a16="http://schemas.microsoft.com/office/drawing/2014/main" id="{4BD8590C-B99F-EBC1-D571-AF65B86200E4}"/>
              </a:ext>
            </a:extLst>
          </p:cNvPr>
          <p:cNvSpPr txBox="1"/>
          <p:nvPr/>
        </p:nvSpPr>
        <p:spPr>
          <a:xfrm>
            <a:off x="9453283" y="7481280"/>
            <a:ext cx="7315200" cy="382412"/>
          </a:xfrm>
          <a:prstGeom prst="rect">
            <a:avLst/>
          </a:prstGeom>
          <a:noFill/>
        </p:spPr>
        <p:txBody>
          <a:bodyPr wrap="square">
            <a:spAutoFit/>
          </a:bodyPr>
          <a:lstStyle/>
          <a:p>
            <a:pPr marL="0" indent="0" algn="just">
              <a:lnSpc>
                <a:spcPts val="2350"/>
              </a:lnSpc>
              <a:buNone/>
            </a:pPr>
            <a:r>
              <a:rPr lang="en-US" sz="1800" dirty="0">
                <a:solidFill>
                  <a:srgbClr val="2C2821"/>
                </a:solidFill>
                <a:latin typeface="Lora" pitchFamily="34" charset="0"/>
                <a:ea typeface="Lora" pitchFamily="34" charset="-122"/>
                <a:cs typeface="Lora" pitchFamily="34" charset="-120"/>
              </a:rPr>
              <a:t>Các </a:t>
            </a:r>
            <a:r>
              <a:rPr lang="en-US" sz="1800" dirty="0" err="1">
                <a:solidFill>
                  <a:srgbClr val="2C2821"/>
                </a:solidFill>
                <a:latin typeface="Lora" pitchFamily="34" charset="0"/>
                <a:ea typeface="Lora" pitchFamily="34" charset="-122"/>
                <a:cs typeface="Lora" pitchFamily="34" charset="-120"/>
              </a:rPr>
              <a:t>đối</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tượng</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trong</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cơ</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sở</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dữ</a:t>
            </a:r>
            <a:r>
              <a:rPr lang="en-US" sz="1800" dirty="0">
                <a:solidFill>
                  <a:srgbClr val="2C2821"/>
                </a:solidFill>
                <a:latin typeface="Lora" pitchFamily="34" charset="0"/>
                <a:ea typeface="Lora" pitchFamily="34" charset="-122"/>
                <a:cs typeface="Lora" pitchFamily="34" charset="-120"/>
              </a:rPr>
              <a:t> </a:t>
            </a:r>
            <a:r>
              <a:rPr lang="en-US" sz="1800" dirty="0" err="1">
                <a:solidFill>
                  <a:srgbClr val="2C2821"/>
                </a:solidFill>
                <a:latin typeface="Lora" pitchFamily="34" charset="0"/>
                <a:ea typeface="Lora" pitchFamily="34" charset="-122"/>
                <a:cs typeface="Lora" pitchFamily="34" charset="-120"/>
              </a:rPr>
              <a:t>liệu</a:t>
            </a:r>
            <a:endParaRPr lang="en-US" sz="1800" dirty="0">
              <a:solidFill>
                <a:srgbClr val="2C2821"/>
              </a:solidFill>
              <a:latin typeface="Lora" pitchFamily="34" charset="0"/>
              <a:ea typeface="Lora" pitchFamily="34" charset="-122"/>
              <a:cs typeface="Lora"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6D3A75-29A3-CE3D-B540-CCA845B336A7}"/>
              </a:ext>
            </a:extLst>
          </p:cNvPr>
          <p:cNvSpPr txBox="1"/>
          <p:nvPr/>
        </p:nvSpPr>
        <p:spPr>
          <a:xfrm>
            <a:off x="402628" y="314575"/>
            <a:ext cx="6509160" cy="513678"/>
          </a:xfrm>
          <a:prstGeom prst="rect">
            <a:avLst/>
          </a:prstGeom>
        </p:spPr>
        <p:txBody>
          <a:bodyPr vert="horz" lIns="91440" tIns="45720" rIns="91440" bIns="45720" rtlCol="0" anchor="b">
            <a:normAutofit fontScale="92500" lnSpcReduction="20000"/>
          </a:bodyPr>
          <a:lstStyle/>
          <a:p>
            <a:pPr marL="0" indent="0" defTabSz="1097280">
              <a:lnSpc>
                <a:spcPct val="90000"/>
              </a:lnSpc>
              <a:spcBef>
                <a:spcPct val="0"/>
              </a:spcBef>
              <a:spcAft>
                <a:spcPts val="600"/>
              </a:spcAft>
            </a:pPr>
            <a:r>
              <a:rPr lang="en-US" sz="3840" kern="1200" dirty="0">
                <a:latin typeface="Lora" pitchFamily="2" charset="0"/>
                <a:ea typeface="+mj-ea"/>
                <a:cs typeface="+mj-cs"/>
              </a:rPr>
              <a:t>3. </a:t>
            </a:r>
            <a:r>
              <a:rPr lang="en-US" sz="3840" kern="1200" dirty="0" err="1">
                <a:latin typeface="Lora" pitchFamily="2" charset="0"/>
                <a:ea typeface="+mj-ea"/>
                <a:cs typeface="+mj-cs"/>
              </a:rPr>
              <a:t>Quá</a:t>
            </a:r>
            <a:r>
              <a:rPr lang="en-US" sz="3840" kern="1200" dirty="0">
                <a:latin typeface="Lora" pitchFamily="2" charset="0"/>
                <a:ea typeface="+mj-ea"/>
                <a:cs typeface="+mj-cs"/>
              </a:rPr>
              <a:t> </a:t>
            </a:r>
            <a:r>
              <a:rPr lang="en-US" sz="3840" kern="1200" dirty="0" err="1">
                <a:latin typeface="Lora" pitchFamily="2" charset="0"/>
                <a:ea typeface="+mj-ea"/>
                <a:cs typeface="+mj-cs"/>
              </a:rPr>
              <a:t>trình</a:t>
            </a:r>
            <a:r>
              <a:rPr lang="en-US" sz="3840" kern="1200" dirty="0">
                <a:latin typeface="Lora" pitchFamily="2" charset="0"/>
                <a:ea typeface="+mj-ea"/>
                <a:cs typeface="+mj-cs"/>
              </a:rPr>
              <a:t> </a:t>
            </a:r>
            <a:r>
              <a:rPr lang="en-US" sz="3840" kern="1200" dirty="0" err="1">
                <a:latin typeface="Lora" pitchFamily="2" charset="0"/>
                <a:ea typeface="+mj-ea"/>
                <a:cs typeface="+mj-cs"/>
              </a:rPr>
              <a:t>huấn</a:t>
            </a:r>
            <a:r>
              <a:rPr lang="en-US" sz="3840" kern="1200" dirty="0">
                <a:latin typeface="Lora" pitchFamily="2" charset="0"/>
                <a:ea typeface="+mj-ea"/>
                <a:cs typeface="+mj-cs"/>
              </a:rPr>
              <a:t> </a:t>
            </a:r>
            <a:r>
              <a:rPr lang="en-US" sz="3840" kern="1200" dirty="0" err="1">
                <a:latin typeface="Lora" pitchFamily="2" charset="0"/>
                <a:ea typeface="+mj-ea"/>
                <a:cs typeface="+mj-cs"/>
              </a:rPr>
              <a:t>luyện</a:t>
            </a:r>
            <a:endParaRPr lang="en-US" sz="3840" kern="1200" dirty="0">
              <a:latin typeface="Lora" pitchFamily="2" charset="0"/>
              <a:ea typeface="+mj-ea"/>
              <a:cs typeface="+mj-cs"/>
            </a:endParaRPr>
          </a:p>
        </p:txBody>
      </p:sp>
      <p:pic>
        <p:nvPicPr>
          <p:cNvPr id="1036" name="Picture 12">
            <a:extLst>
              <a:ext uri="{FF2B5EF4-FFF2-40B4-BE49-F238E27FC236}">
                <a16:creationId xmlns:a16="http://schemas.microsoft.com/office/drawing/2014/main" id="{34664C60-DABA-2BCE-1880-1BC89BFAF3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50424" y="1437801"/>
            <a:ext cx="7406640" cy="5541222"/>
          </a:xfrm>
          <a:prstGeom prst="rect">
            <a:avLst/>
          </a:prstGeom>
          <a:solidFill>
            <a:srgbClr val="FFFFFF"/>
          </a:solidFill>
        </p:spPr>
      </p:pic>
      <p:sp>
        <p:nvSpPr>
          <p:cNvPr id="2" name="Slide Number Placeholder 1">
            <a:extLst>
              <a:ext uri="{FF2B5EF4-FFF2-40B4-BE49-F238E27FC236}">
                <a16:creationId xmlns:a16="http://schemas.microsoft.com/office/drawing/2014/main" id="{D3957F41-4234-0B04-4F3C-7ACEC2A3A41D}"/>
              </a:ext>
            </a:extLst>
          </p:cNvPr>
          <p:cNvSpPr>
            <a:spLocks noGrp="1"/>
          </p:cNvSpPr>
          <p:nvPr>
            <p:ph type="sldNum" sz="quarter" idx="12"/>
          </p:nvPr>
        </p:nvSpPr>
        <p:spPr>
          <a:xfrm>
            <a:off x="10332720" y="7627621"/>
            <a:ext cx="3291840" cy="438150"/>
          </a:xfrm>
        </p:spPr>
        <p:txBody>
          <a:bodyPr vert="horz" lIns="91440" tIns="45720" rIns="91440" bIns="45720" rtlCol="0" anchor="ctr">
            <a:normAutofit/>
          </a:bodyPr>
          <a:lstStyle/>
          <a:p>
            <a:pPr>
              <a:spcAft>
                <a:spcPts val="600"/>
              </a:spcAft>
            </a:pPr>
            <a:fld id="{48F63A3B-78C7-47BE-AE5E-E10140E04643}" type="slidenum">
              <a:rPr lang="en-US" smtClean="0">
                <a:latin typeface="Lora" pitchFamily="2" charset="0"/>
              </a:rPr>
              <a:pPr>
                <a:spcAft>
                  <a:spcPts val="600"/>
                </a:spcAft>
              </a:pPr>
              <a:t>6</a:t>
            </a:fld>
            <a:endParaRPr lang="en-US">
              <a:latin typeface="Lora" pitchFamily="2" charset="0"/>
            </a:endParaRPr>
          </a:p>
        </p:txBody>
      </p:sp>
      <p:sp>
        <p:nvSpPr>
          <p:cNvPr id="23" name="TextBox 22">
            <a:extLst>
              <a:ext uri="{FF2B5EF4-FFF2-40B4-BE49-F238E27FC236}">
                <a16:creationId xmlns:a16="http://schemas.microsoft.com/office/drawing/2014/main" id="{29687176-A6B3-FDC2-A296-E178458778CA}"/>
              </a:ext>
            </a:extLst>
          </p:cNvPr>
          <p:cNvSpPr txBox="1"/>
          <p:nvPr/>
        </p:nvSpPr>
        <p:spPr>
          <a:xfrm>
            <a:off x="402628" y="1672186"/>
            <a:ext cx="5943601" cy="5306837"/>
          </a:xfrm>
          <a:prstGeom prst="rect">
            <a:avLst/>
          </a:prstGeom>
          <a:noFill/>
        </p:spPr>
        <p:txBody>
          <a:bodyPr wrap="square">
            <a:spAutoFit/>
          </a:bodyPr>
          <a:lstStyle/>
          <a:p>
            <a:pPr algn="just">
              <a:lnSpc>
                <a:spcPts val="2350"/>
              </a:lnSpc>
            </a:pPr>
            <a:r>
              <a:rPr lang="vi-VN" dirty="0">
                <a:solidFill>
                  <a:srgbClr val="2C2821"/>
                </a:solidFill>
                <a:latin typeface="Lora" pitchFamily="34" charset="0"/>
                <a:ea typeface="Lora" pitchFamily="34" charset="-122"/>
                <a:cs typeface="Lora" pitchFamily="34" charset="-120"/>
              </a:rPr>
              <a:t>YOLOv5 là mô hình nhẹ, nhanh và dễ triển khai hơn so với các phiên bản mới như YOLOv7, YOLOv8. Đồng thời, nó cải thiện đáng kể độ chính xác so với các phiên bản cũ như YOLOv2, v3, v4. </a:t>
            </a:r>
            <a:endParaRPr lang="en-US" dirty="0">
              <a:solidFill>
                <a:srgbClr val="2C2821"/>
              </a:solidFill>
              <a:latin typeface="Lora" pitchFamily="34" charset="0"/>
              <a:ea typeface="Lora" pitchFamily="34" charset="-122"/>
              <a:cs typeface="Lora" pitchFamily="34" charset="-120"/>
            </a:endParaRPr>
          </a:p>
          <a:p>
            <a:pPr algn="just">
              <a:lnSpc>
                <a:spcPts val="2350"/>
              </a:lnSpc>
            </a:pPr>
            <a:endParaRPr lang="en-US" dirty="0">
              <a:solidFill>
                <a:srgbClr val="2C2821"/>
              </a:solidFill>
              <a:latin typeface="Lora" pitchFamily="34" charset="0"/>
              <a:ea typeface="Lora" pitchFamily="34" charset="-122"/>
              <a:cs typeface="Lora" pitchFamily="34" charset="-120"/>
            </a:endParaRPr>
          </a:p>
          <a:p>
            <a:pPr algn="just">
              <a:lnSpc>
                <a:spcPts val="2350"/>
              </a:lnSpc>
            </a:pPr>
            <a:r>
              <a:rPr lang="vi-VN" dirty="0">
                <a:solidFill>
                  <a:srgbClr val="2C2821"/>
                </a:solidFill>
                <a:latin typeface="Lora" pitchFamily="34" charset="0"/>
                <a:ea typeface="Lora" pitchFamily="34" charset="-122"/>
                <a:cs typeface="Lora" pitchFamily="34" charset="-120"/>
              </a:rPr>
              <a:t>Nhờ đó, YOLOv5 rất phù hợp cho các ứng dụng phát hiện vật thể trong điều kiện phần cứng hạn chế. YOLOv5 gồm 4 phiên bản: s, m, l, x – mỗi phiên bản đánh đổi giữa tốc độ, kích thước và độ chính xác. </a:t>
            </a:r>
            <a:endParaRPr lang="en-US" dirty="0">
              <a:solidFill>
                <a:srgbClr val="2C2821"/>
              </a:solidFill>
              <a:latin typeface="Lora" pitchFamily="34" charset="0"/>
              <a:ea typeface="Lora" pitchFamily="34" charset="-122"/>
              <a:cs typeface="Lora" pitchFamily="34" charset="-120"/>
            </a:endParaRPr>
          </a:p>
          <a:p>
            <a:pPr algn="just">
              <a:lnSpc>
                <a:spcPts val="2350"/>
              </a:lnSpc>
            </a:pPr>
            <a:endParaRPr lang="en-US" dirty="0">
              <a:solidFill>
                <a:srgbClr val="2C2821"/>
              </a:solidFill>
              <a:latin typeface="Lora" pitchFamily="34" charset="0"/>
              <a:ea typeface="Lora" pitchFamily="34" charset="-122"/>
              <a:cs typeface="Lora" pitchFamily="34" charset="-120"/>
            </a:endParaRPr>
          </a:p>
          <a:p>
            <a:pPr algn="just">
              <a:lnSpc>
                <a:spcPts val="2350"/>
              </a:lnSpc>
            </a:pPr>
            <a:r>
              <a:rPr lang="vi-VN" dirty="0">
                <a:solidFill>
                  <a:srgbClr val="2C2821"/>
                </a:solidFill>
                <a:latin typeface="Lora" pitchFamily="34" charset="0"/>
                <a:ea typeface="Lora" pitchFamily="34" charset="-122"/>
                <a:cs typeface="Lora" pitchFamily="34" charset="-120"/>
              </a:rPr>
              <a:t>Trong đó, YOLOv5m là lựa chọn cân bằng tốt nhất: Độ chính xác cao hơn YOLOv5s (+7.3 mAP) Tốc độ xử lý nhanh (2.7 ms) Kích thước vừa phải (41 MB) </a:t>
            </a:r>
            <a:endParaRPr lang="en-US" dirty="0">
              <a:solidFill>
                <a:srgbClr val="2C2821"/>
              </a:solidFill>
              <a:latin typeface="Lora" pitchFamily="34" charset="0"/>
              <a:ea typeface="Lora" pitchFamily="34" charset="-122"/>
              <a:cs typeface="Lora" pitchFamily="34" charset="-120"/>
            </a:endParaRPr>
          </a:p>
          <a:p>
            <a:pPr algn="just">
              <a:lnSpc>
                <a:spcPts val="2350"/>
              </a:lnSpc>
            </a:pPr>
            <a:endParaRPr lang="en-US" dirty="0">
              <a:solidFill>
                <a:srgbClr val="2C2821"/>
              </a:solidFill>
              <a:latin typeface="Lora" pitchFamily="34" charset="0"/>
              <a:ea typeface="Lora" pitchFamily="34" charset="-122"/>
              <a:cs typeface="Lora" pitchFamily="34" charset="-120"/>
            </a:endParaRPr>
          </a:p>
          <a:p>
            <a:pPr algn="just">
              <a:lnSpc>
                <a:spcPts val="2350"/>
              </a:lnSpc>
            </a:pPr>
            <a:r>
              <a:rPr lang="vi-VN" dirty="0">
                <a:solidFill>
                  <a:srgbClr val="2C2821"/>
                </a:solidFill>
                <a:latin typeface="Lora" pitchFamily="34" charset="0"/>
                <a:ea typeface="Lora" pitchFamily="34" charset="-122"/>
                <a:cs typeface="Lora" pitchFamily="34" charset="-120"/>
              </a:rPr>
              <a:t>=&gt; Kết luận: YOLOv5m là lựa chọn tối ưu cho hệ thống nhận diện biển số vì đảm bảo độ chính xác cao, xử lý thời gian thực, và dễ triển khai.</a:t>
            </a:r>
            <a:endParaRPr lang="en-US" sz="1800" dirty="0">
              <a:solidFill>
                <a:srgbClr val="2C2821"/>
              </a:solidFill>
              <a:latin typeface="Lora" pitchFamily="34" charset="0"/>
            </a:endParaRPr>
          </a:p>
        </p:txBody>
      </p:sp>
    </p:spTree>
    <p:extLst>
      <p:ext uri="{BB962C8B-B14F-4D97-AF65-F5344CB8AC3E}">
        <p14:creationId xmlns:p14="http://schemas.microsoft.com/office/powerpoint/2010/main" val="4275421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55494" y="89036"/>
            <a:ext cx="5876211" cy="620078"/>
          </a:xfrm>
          <a:prstGeom prst="rect">
            <a:avLst/>
          </a:prstGeom>
          <a:noFill/>
          <a:ln/>
        </p:spPr>
        <p:txBody>
          <a:bodyPr wrap="none" lIns="0" tIns="0" rIns="0" bIns="0" rtlCol="0" anchor="t"/>
          <a:lstStyle/>
          <a:p>
            <a:pPr marL="0" indent="0" algn="l">
              <a:lnSpc>
                <a:spcPts val="4850"/>
              </a:lnSpc>
              <a:buNone/>
            </a:pPr>
            <a:r>
              <a:rPr lang="en-US" sz="2800" dirty="0" err="1">
                <a:solidFill>
                  <a:srgbClr val="233E32"/>
                </a:solidFill>
                <a:latin typeface="Alice" pitchFamily="34" charset="0"/>
                <a:ea typeface="Alice" pitchFamily="34" charset="-122"/>
              </a:rPr>
              <a:t>Chuẩn</a:t>
            </a:r>
            <a:r>
              <a:rPr lang="en-US" sz="2800" dirty="0">
                <a:solidFill>
                  <a:srgbClr val="233E32"/>
                </a:solidFill>
                <a:latin typeface="Alice" pitchFamily="34" charset="0"/>
                <a:ea typeface="Alice" pitchFamily="34" charset="-122"/>
              </a:rPr>
              <a:t> </a:t>
            </a:r>
            <a:r>
              <a:rPr lang="en-US" sz="2800" dirty="0" err="1">
                <a:solidFill>
                  <a:srgbClr val="233E32"/>
                </a:solidFill>
                <a:latin typeface="Alice" pitchFamily="34" charset="0"/>
                <a:ea typeface="Alice" pitchFamily="34" charset="-122"/>
              </a:rPr>
              <a:t>bị</a:t>
            </a:r>
            <a:r>
              <a:rPr lang="en-US" sz="2800" dirty="0">
                <a:solidFill>
                  <a:srgbClr val="233E32"/>
                </a:solidFill>
                <a:latin typeface="Alice" pitchFamily="34" charset="0"/>
                <a:ea typeface="Alice" pitchFamily="34" charset="-122"/>
              </a:rPr>
              <a:t> </a:t>
            </a:r>
            <a:r>
              <a:rPr lang="en-US" sz="2800" dirty="0" err="1">
                <a:solidFill>
                  <a:srgbClr val="233E32"/>
                </a:solidFill>
                <a:latin typeface="Alice" pitchFamily="34" charset="0"/>
                <a:ea typeface="Alice" pitchFamily="34" charset="-122"/>
              </a:rPr>
              <a:t>bộ</a:t>
            </a:r>
            <a:r>
              <a:rPr lang="en-US" sz="2800" dirty="0">
                <a:solidFill>
                  <a:srgbClr val="233E32"/>
                </a:solidFill>
                <a:latin typeface="Alice" pitchFamily="34" charset="0"/>
                <a:ea typeface="Alice" pitchFamily="34" charset="-122"/>
              </a:rPr>
              <a:t> </a:t>
            </a:r>
            <a:r>
              <a:rPr lang="en-US" sz="2800" dirty="0" err="1">
                <a:solidFill>
                  <a:srgbClr val="233E32"/>
                </a:solidFill>
                <a:latin typeface="Alice" pitchFamily="34" charset="0"/>
                <a:ea typeface="Alice" pitchFamily="34" charset="-122"/>
              </a:rPr>
              <a:t>dữ</a:t>
            </a:r>
            <a:r>
              <a:rPr lang="en-US" sz="2800" dirty="0">
                <a:solidFill>
                  <a:srgbClr val="233E32"/>
                </a:solidFill>
                <a:latin typeface="Alice" pitchFamily="34" charset="0"/>
                <a:ea typeface="Alice" pitchFamily="34" charset="-122"/>
              </a:rPr>
              <a:t> </a:t>
            </a:r>
            <a:r>
              <a:rPr lang="en-US" sz="2800" dirty="0" err="1">
                <a:solidFill>
                  <a:srgbClr val="233E32"/>
                </a:solidFill>
                <a:latin typeface="Alice" pitchFamily="34" charset="0"/>
                <a:ea typeface="Alice" pitchFamily="34" charset="-122"/>
              </a:rPr>
              <a:t>liệu</a:t>
            </a:r>
            <a:r>
              <a:rPr lang="en-US" sz="2800" dirty="0">
                <a:solidFill>
                  <a:srgbClr val="233E32"/>
                </a:solidFill>
                <a:latin typeface="Alice" pitchFamily="34" charset="0"/>
                <a:ea typeface="Alice" pitchFamily="34" charset="-122"/>
              </a:rPr>
              <a:t> </a:t>
            </a:r>
            <a:r>
              <a:rPr lang="en-US" sz="2800" dirty="0" err="1">
                <a:solidFill>
                  <a:srgbClr val="233E32"/>
                </a:solidFill>
                <a:latin typeface="Alice" pitchFamily="34" charset="0"/>
                <a:ea typeface="Alice" pitchFamily="34" charset="-122"/>
              </a:rPr>
              <a:t>huấn</a:t>
            </a:r>
            <a:r>
              <a:rPr lang="en-US" sz="2800" dirty="0">
                <a:solidFill>
                  <a:srgbClr val="233E32"/>
                </a:solidFill>
                <a:latin typeface="Alice" pitchFamily="34" charset="0"/>
                <a:ea typeface="Alice" pitchFamily="34" charset="-122"/>
              </a:rPr>
              <a:t> </a:t>
            </a:r>
            <a:r>
              <a:rPr lang="en-US" sz="2800" dirty="0" err="1">
                <a:solidFill>
                  <a:srgbClr val="233E32"/>
                </a:solidFill>
                <a:latin typeface="Alice" pitchFamily="34" charset="0"/>
                <a:ea typeface="Alice" pitchFamily="34" charset="-122"/>
              </a:rPr>
              <a:t>luyện</a:t>
            </a:r>
            <a:endParaRPr lang="en-US" sz="2800" dirty="0"/>
          </a:p>
        </p:txBody>
      </p:sp>
      <p:sp>
        <p:nvSpPr>
          <p:cNvPr id="3" name="Text 1"/>
          <p:cNvSpPr/>
          <p:nvPr/>
        </p:nvSpPr>
        <p:spPr>
          <a:xfrm>
            <a:off x="840725" y="851969"/>
            <a:ext cx="13042821" cy="635079"/>
          </a:xfrm>
          <a:prstGeom prst="rect">
            <a:avLst/>
          </a:prstGeom>
          <a:noFill/>
          <a:ln/>
        </p:spPr>
        <p:txBody>
          <a:bodyPr wrap="square" lIns="0" tIns="0" rIns="0" bIns="0" rtlCol="0" anchor="t"/>
          <a:lstStyle/>
          <a:p>
            <a:pPr marL="0" indent="0" algn="ctr">
              <a:lnSpc>
                <a:spcPts val="2500"/>
              </a:lnSpc>
              <a:buNone/>
            </a:pPr>
            <a:r>
              <a:rPr lang="en-US" sz="1550" dirty="0" err="1">
                <a:solidFill>
                  <a:srgbClr val="2C2821"/>
                </a:solidFill>
                <a:latin typeface="Lora" pitchFamily="34" charset="0"/>
                <a:ea typeface="Lora" pitchFamily="34" charset="-122"/>
                <a:cs typeface="Lora" pitchFamily="34" charset="-120"/>
              </a:rPr>
              <a:t>Bộ</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dữ</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liệu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huấn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luyện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lấy</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từ</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nguồn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mở</a:t>
            </a:r>
            <a:r>
              <a:rPr lang="en-US" sz="1550" dirty="0">
                <a:solidFill>
                  <a:srgbClr val="2C2821"/>
                </a:solidFill>
                <a:latin typeface="Lora" pitchFamily="34" charset="0"/>
                <a:ea typeface="Lora" pitchFamily="34" charset="-122"/>
                <a:cs typeface="Lora" pitchFamily="34" charset="-120"/>
              </a:rPr>
              <a:t>, phi </a:t>
            </a:r>
            <a:r>
              <a:rPr lang="en-US" sz="1550" dirty="0" err="1">
                <a:solidFill>
                  <a:srgbClr val="2C2821"/>
                </a:solidFill>
                <a:latin typeface="Lora" pitchFamily="34" charset="0"/>
                <a:ea typeface="Lora" pitchFamily="34" charset="-122"/>
                <a:cs typeface="Lora" pitchFamily="34" charset="-120"/>
              </a:rPr>
              <a:t>lợi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nhuận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người</a:t>
            </a:r>
            <a:r>
              <a:rPr lang="en-US" sz="1550" dirty="0">
                <a:solidFill>
                  <a:srgbClr val="2C2821"/>
                </a:solidFill>
                <a:latin typeface="Lora" pitchFamily="34" charset="0"/>
                <a:ea typeface="Lora" pitchFamily="34" charset="-122"/>
                <a:cs typeface="Lora" pitchFamily="34" charset="-120"/>
              </a:rPr>
              <a:t> dung </a:t>
            </a:r>
            <a:r>
              <a:rPr lang="en-US" sz="1550" dirty="0" err="1">
                <a:solidFill>
                  <a:srgbClr val="2C2821"/>
                </a:solidFill>
                <a:latin typeface="Lora" pitchFamily="34" charset="0"/>
                <a:ea typeface="Lora" pitchFamily="34" charset="-122"/>
                <a:cs typeface="Lora" pitchFamily="34" charset="-120"/>
              </a:rPr>
              <a:t>có</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tham</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khảo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một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miễn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mục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đích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nhân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có</a:t>
            </a:r>
            <a:r>
              <a:rPr lang="en-US" sz="1550" dirty="0">
                <a:solidFill>
                  <a:srgbClr val="2C2821"/>
                </a:solidFill>
                <a:latin typeface="Lora" pitchFamily="34" charset="0"/>
                <a:ea typeface="Lora" pitchFamily="34" charset="-122"/>
                <a:cs typeface="Lora" pitchFamily="34" charset="-120"/>
              </a:rPr>
              <a:t> 2 </a:t>
            </a:r>
            <a:r>
              <a:rPr lang="en-US" sz="1550" dirty="0" err="1">
                <a:solidFill>
                  <a:srgbClr val="2C2821"/>
                </a:solidFill>
                <a:latin typeface="Lora" pitchFamily="34" charset="0"/>
                <a:ea typeface="Lora" pitchFamily="34" charset="-122"/>
                <a:cs typeface="Lora" pitchFamily="34" charset="-120"/>
              </a:rPr>
              <a:t>bộ</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dữ</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liệu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chính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dùng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huấn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luyện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mô</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hình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khung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tự</a:t>
            </a:r>
            <a:endParaRPr lang="en-US" sz="1550" dirty="0">
              <a:solidFill>
                <a:srgbClr val="2C2821"/>
              </a:solidFill>
              <a:latin typeface="Lora" pitchFamily="34" charset="0"/>
              <a:ea typeface="Lora" pitchFamily="34" charset="-122"/>
              <a:cs typeface="Lora" pitchFamily="34" charset="-120"/>
            </a:endParaRPr>
          </a:p>
          <a:p>
            <a:pPr marL="0" indent="0" algn="ctr">
              <a:lnSpc>
                <a:spcPts val="2500"/>
              </a:lnSpc>
              <a:buNone/>
            </a:pPr>
            <a:r>
              <a:rPr lang="en-US" sz="1550" dirty="0">
                <a:solidFill>
                  <a:srgbClr val="2C2821"/>
                </a:solidFill>
                <a:latin typeface="Lora" pitchFamily="34" charset="0"/>
                <a:ea typeface="Lora" pitchFamily="34" charset="-122"/>
                <a:cs typeface="Lora" pitchFamily="34" charset="-120"/>
              </a:rPr>
              <a:t>VD: file </a:t>
            </a:r>
            <a:r>
              <a:rPr lang="en-US" sz="1550" dirty="0" err="1">
                <a:solidFill>
                  <a:srgbClr val="2C2821"/>
                </a:solidFill>
                <a:latin typeface="Lora" pitchFamily="34" charset="0"/>
                <a:ea typeface="Lora" pitchFamily="34" charset="-122"/>
                <a:cs typeface="Lora" pitchFamily="34" charset="-120"/>
              </a:rPr>
              <a:t>ảnh</a:t>
            </a:r>
            <a:r>
              <a:rPr lang="en-US" sz="1550" dirty="0">
                <a:solidFill>
                  <a:srgbClr val="2C2821"/>
                </a:solidFill>
                <a:latin typeface="Lora" pitchFamily="34" charset="0"/>
                <a:ea typeface="Lora" pitchFamily="34" charset="-122"/>
                <a:cs typeface="Lora" pitchFamily="34" charset="-120"/>
              </a:rPr>
              <a:t> 3xemay747.jpg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nội</a:t>
            </a:r>
            <a:r>
              <a:rPr lang="en-US" sz="1550" dirty="0">
                <a:solidFill>
                  <a:srgbClr val="2C2821"/>
                </a:solidFill>
                <a:latin typeface="Lora" pitchFamily="34" charset="0"/>
                <a:ea typeface="Lora" pitchFamily="34" charset="-122"/>
                <a:cs typeface="Lora" pitchFamily="34" charset="-120"/>
              </a:rPr>
              <a:t> dung </a:t>
            </a:r>
            <a:r>
              <a:rPr lang="en-US" sz="1550" dirty="0" err="1">
                <a:solidFill>
                  <a:srgbClr val="2C2821"/>
                </a:solidFill>
                <a:latin typeface="Lora" pitchFamily="34" charset="0"/>
                <a:ea typeface="Lora" pitchFamily="34" charset="-122"/>
                <a:cs typeface="Lora" pitchFamily="34" charset="-120"/>
              </a:rPr>
              <a:t>đánh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nhãn</a:t>
            </a:r>
            <a:r>
              <a:rPr lang="en-US" sz="1550" dirty="0">
                <a:solidFill>
                  <a:srgbClr val="2C2821"/>
                </a:solidFill>
                <a:latin typeface="Lora" pitchFamily="34" charset="0"/>
                <a:ea typeface="Lora" pitchFamily="34" charset="-122"/>
                <a:cs typeface="Lora" pitchFamily="34" charset="-120"/>
              </a:rPr>
              <a:t> 3xemay747.txt</a:t>
            </a:r>
          </a:p>
          <a:p>
            <a:pPr marL="0" indent="0" algn="ctr">
              <a:lnSpc>
                <a:spcPts val="2500"/>
              </a:lnSpc>
              <a:buNone/>
            </a:pPr>
            <a:endParaRPr lang="en-US" sz="1550" dirty="0"/>
          </a:p>
        </p:txBody>
      </p:sp>
      <p:pic>
        <p:nvPicPr>
          <p:cNvPr id="7" name="Picture 6">
            <a:extLst>
              <a:ext uri="{FF2B5EF4-FFF2-40B4-BE49-F238E27FC236}">
                <a16:creationId xmlns:a16="http://schemas.microsoft.com/office/drawing/2014/main" id="{464E73A5-15B5-D477-16E0-392EEA7109D9}"/>
              </a:ext>
            </a:extLst>
          </p:cNvPr>
          <p:cNvPicPr>
            <a:picLocks noChangeAspect="1"/>
          </p:cNvPicPr>
          <p:nvPr/>
        </p:nvPicPr>
        <p:blipFill>
          <a:blip r:embed="rId3"/>
          <a:stretch>
            <a:fillRect/>
          </a:stretch>
        </p:blipFill>
        <p:spPr>
          <a:xfrm>
            <a:off x="7611035" y="1972495"/>
            <a:ext cx="6763871" cy="5434145"/>
          </a:xfrm>
          <a:prstGeom prst="rect">
            <a:avLst/>
          </a:prstGeom>
        </p:spPr>
      </p:pic>
      <p:pic>
        <p:nvPicPr>
          <p:cNvPr id="5" name="Picture 4">
            <a:extLst>
              <a:ext uri="{FF2B5EF4-FFF2-40B4-BE49-F238E27FC236}">
                <a16:creationId xmlns:a16="http://schemas.microsoft.com/office/drawing/2014/main" id="{37961FBC-3991-79EB-2398-76F199875ABD}"/>
              </a:ext>
            </a:extLst>
          </p:cNvPr>
          <p:cNvPicPr>
            <a:picLocks noChangeAspect="1"/>
          </p:cNvPicPr>
          <p:nvPr/>
        </p:nvPicPr>
        <p:blipFill>
          <a:blip r:embed="rId4"/>
          <a:stretch>
            <a:fillRect/>
          </a:stretch>
        </p:blipFill>
        <p:spPr>
          <a:xfrm>
            <a:off x="255494" y="1990165"/>
            <a:ext cx="7106642" cy="54341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893034" y="182069"/>
            <a:ext cx="10844332" cy="620078"/>
          </a:xfrm>
          <a:prstGeom prst="rect">
            <a:avLst/>
          </a:prstGeom>
          <a:noFill/>
          <a:ln/>
        </p:spPr>
        <p:txBody>
          <a:bodyPr wrap="none" lIns="0" tIns="0" rIns="0" bIns="0" rtlCol="0" anchor="t"/>
          <a:lstStyle/>
          <a:p>
            <a:pPr marL="0" indent="0" algn="l">
              <a:lnSpc>
                <a:spcPts val="4850"/>
              </a:lnSpc>
              <a:buNone/>
            </a:pPr>
            <a:r>
              <a:rPr lang="en-US" sz="3900" dirty="0">
                <a:solidFill>
                  <a:srgbClr val="233E32"/>
                </a:solidFill>
                <a:latin typeface="Alice" pitchFamily="34" charset="0"/>
                <a:ea typeface="Alice" pitchFamily="34" charset="-122"/>
                <a:cs typeface="Alice" pitchFamily="34" charset="-120"/>
              </a:rPr>
              <a:t>Quy </a:t>
            </a:r>
            <a:r>
              <a:rPr lang="en-US" sz="3900" dirty="0" err="1">
                <a:solidFill>
                  <a:srgbClr val="233E32"/>
                </a:solidFill>
                <a:latin typeface="Alice" pitchFamily="34" charset="0"/>
                <a:ea typeface="Alice" pitchFamily="34" charset="-122"/>
                <a:cs typeface="Alice" pitchFamily="34" charset="-120"/>
              </a:rPr>
              <a:t>trình</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xử</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lý</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hình</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ảnh</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và</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nhận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diện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biển</a:t>
            </a:r>
            <a:r>
              <a:rPr lang="en-US" sz="3900" dirty="0">
                <a:solidFill>
                  <a:srgbClr val="233E32"/>
                </a:solidFill>
                <a:latin typeface="Alice" pitchFamily="34" charset="0"/>
                <a:ea typeface="Alice" pitchFamily="34" charset="-122"/>
                <a:cs typeface="Alice" pitchFamily="34" charset="-120"/>
              </a:rPr>
              <a:t> </a:t>
            </a:r>
            <a:r>
              <a:rPr lang="en-US" sz="3900" dirty="0" err="1">
                <a:solidFill>
                  <a:srgbClr val="233E32"/>
                </a:solidFill>
                <a:latin typeface="Alice" pitchFamily="34" charset="0"/>
                <a:ea typeface="Alice" pitchFamily="34" charset="-122"/>
                <a:cs typeface="Alice" pitchFamily="34" charset="-120"/>
              </a:rPr>
              <a:t>số</a:t>
            </a:r>
            <a:endParaRPr lang="en-US" sz="3900" dirty="0"/>
          </a:p>
        </p:txBody>
      </p:sp>
      <p:sp>
        <p:nvSpPr>
          <p:cNvPr id="4" name="Text 1"/>
          <p:cNvSpPr/>
          <p:nvPr/>
        </p:nvSpPr>
        <p:spPr>
          <a:xfrm>
            <a:off x="700398" y="158129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1. Thu Nhận Ảnh</a:t>
            </a:r>
            <a:endParaRPr lang="en-US" sz="1950" dirty="0"/>
          </a:p>
        </p:txBody>
      </p:sp>
      <p:sp>
        <p:nvSpPr>
          <p:cNvPr id="5" name="Text 2"/>
          <p:cNvSpPr/>
          <p:nvPr/>
        </p:nvSpPr>
        <p:spPr>
          <a:xfrm>
            <a:off x="700398" y="1904362"/>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2C2821"/>
                </a:solidFill>
                <a:latin typeface="Lora" pitchFamily="34" charset="0"/>
                <a:ea typeface="Lora" pitchFamily="34" charset="-122"/>
                <a:cs typeface="Lora" pitchFamily="34" charset="-120"/>
              </a:rPr>
              <a:t>Người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camera ESP32-CAM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thập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chụp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lại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cần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endParaRPr lang="en-US" sz="1550" dirty="0"/>
          </a:p>
        </p:txBody>
      </p:sp>
      <p:sp>
        <p:nvSpPr>
          <p:cNvPr id="7" name="Text 3"/>
          <p:cNvSpPr/>
          <p:nvPr/>
        </p:nvSpPr>
        <p:spPr>
          <a:xfrm>
            <a:off x="700401" y="2849791"/>
            <a:ext cx="3104912"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2. Phát Hiện Biển </a:t>
            </a:r>
            <a:r>
              <a:rPr lang="en-US" sz="1950" dirty="0" err="1">
                <a:solidFill>
                  <a:srgbClr val="2C2821"/>
                </a:solidFill>
                <a:latin typeface="Alice" pitchFamily="34" charset="0"/>
                <a:ea typeface="Alice" pitchFamily="34" charset="-122"/>
                <a:cs typeface="Alice" pitchFamily="34" charset="-120"/>
              </a:rPr>
              <a:t>Số</a:t>
            </a:r>
            <a:r>
              <a:rPr lang="en-US" sz="1950" dirty="0">
                <a:solidFill>
                  <a:srgbClr val="2C2821"/>
                </a:solidFill>
                <a:latin typeface="Alice" pitchFamily="34" charset="0"/>
                <a:ea typeface="Alice" pitchFamily="34" charset="-122"/>
                <a:cs typeface="Alice" pitchFamily="34" charset="-120"/>
              </a:rPr>
              <a:t> </a:t>
            </a:r>
            <a:endParaRPr lang="en-US" sz="1950" dirty="0"/>
          </a:p>
        </p:txBody>
      </p:sp>
      <p:sp>
        <p:nvSpPr>
          <p:cNvPr id="8" name="Text 4"/>
          <p:cNvSpPr/>
          <p:nvPr/>
        </p:nvSpPr>
        <p:spPr>
          <a:xfrm>
            <a:off x="700400" y="3191303"/>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2C2821"/>
                </a:solidFill>
                <a:latin typeface="Lora" pitchFamily="34" charset="0"/>
                <a:ea typeface="Lora" pitchFamily="34" charset="-122"/>
                <a:cs typeface="Lora" pitchFamily="34" charset="-120"/>
              </a:rPr>
              <a:t>Mô hình YOLO được sử dụng để nhanh chóng xác định và khoanh vùng chính </a:t>
            </a:r>
            <a:r>
              <a:rPr lang="en-US" sz="1550" dirty="0" err="1">
                <a:solidFill>
                  <a:srgbClr val="2C2821"/>
                </a:solidFill>
                <a:latin typeface="Lora" pitchFamily="34" charset="0"/>
                <a:ea typeface="Lora" pitchFamily="34" charset="-122"/>
                <a:cs typeface="Lora" pitchFamily="34" charset="-120"/>
              </a:rPr>
              <a:t>xác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khung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chứa</a:t>
            </a:r>
            <a:r>
              <a:rPr lang="en-US" sz="1550" dirty="0">
                <a:solidFill>
                  <a:srgbClr val="2C2821"/>
                </a:solidFill>
                <a:latin typeface="Lora" pitchFamily="34" charset="0"/>
                <a:ea typeface="Lora" pitchFamily="34" charset="-122"/>
                <a:cs typeface="Lora" pitchFamily="34" charset="-120"/>
              </a:rPr>
              <a:t> biển số trong ảnh.</a:t>
            </a:r>
            <a:endParaRPr lang="en-US" sz="1550" dirty="0"/>
          </a:p>
        </p:txBody>
      </p:sp>
      <p:sp>
        <p:nvSpPr>
          <p:cNvPr id="10" name="Text 5"/>
          <p:cNvSpPr/>
          <p:nvPr/>
        </p:nvSpPr>
        <p:spPr>
          <a:xfrm>
            <a:off x="700399" y="411848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3. </a:t>
            </a:r>
            <a:r>
              <a:rPr lang="en-US" sz="1950" dirty="0" err="1">
                <a:solidFill>
                  <a:srgbClr val="2C2821"/>
                </a:solidFill>
                <a:latin typeface="Alice" pitchFamily="34" charset="0"/>
                <a:ea typeface="Alice" pitchFamily="34" charset="-122"/>
                <a:cs typeface="Alice" pitchFamily="34" charset="-120"/>
              </a:rPr>
              <a:t>Nhận</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diện</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ký</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tự</a:t>
            </a:r>
            <a:endParaRPr lang="en-US" sz="1950" dirty="0"/>
          </a:p>
        </p:txBody>
      </p:sp>
      <p:sp>
        <p:nvSpPr>
          <p:cNvPr id="11" name="Text 6"/>
          <p:cNvSpPr/>
          <p:nvPr/>
        </p:nvSpPr>
        <p:spPr>
          <a:xfrm>
            <a:off x="700399" y="4515163"/>
            <a:ext cx="6124694" cy="635079"/>
          </a:xfrm>
          <a:prstGeom prst="rect">
            <a:avLst/>
          </a:prstGeom>
          <a:noFill/>
          <a:ln/>
        </p:spPr>
        <p:txBody>
          <a:bodyPr wrap="square" lIns="0" tIns="0" rIns="0" bIns="0" rtlCol="0" anchor="t"/>
          <a:lstStyle/>
          <a:p>
            <a:pPr marL="0" indent="0" algn="l">
              <a:lnSpc>
                <a:spcPts val="2500"/>
              </a:lnSpc>
              <a:buNone/>
            </a:pPr>
            <a:r>
              <a:rPr lang="en-US" sz="1550" dirty="0" err="1">
                <a:solidFill>
                  <a:srgbClr val="2C2821"/>
                </a:solidFill>
                <a:latin typeface="Lora" pitchFamily="34" charset="0"/>
                <a:ea typeface="Lora" pitchFamily="34" charset="-122"/>
                <a:cs typeface="Lora" pitchFamily="34" charset="-120"/>
              </a:rPr>
              <a:t>Ảnh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chứa</a:t>
            </a:r>
            <a:r>
              <a:rPr lang="en-US" sz="1550" dirty="0">
                <a:solidFill>
                  <a:srgbClr val="2C2821"/>
                </a:solidFill>
                <a:latin typeface="Lora" pitchFamily="34" charset="0"/>
                <a:ea typeface="Lora" pitchFamily="34" charset="-122"/>
                <a:cs typeface="Lora" pitchFamily="34" charset="-120"/>
              </a:rPr>
              <a:t> biển số được cắt, </a:t>
            </a:r>
            <a:r>
              <a:rPr lang="en-US" sz="1550" dirty="0" err="1">
                <a:solidFill>
                  <a:srgbClr val="2C2821"/>
                </a:solidFill>
                <a:latin typeface="Lora" pitchFamily="34" charset="0"/>
                <a:ea typeface="Lora" pitchFamily="34" charset="-122"/>
                <a:cs typeface="Lora" pitchFamily="34" charset="-120"/>
              </a:rPr>
              <a:t>sau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đó</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model </a:t>
            </a:r>
            <a:r>
              <a:rPr lang="en-US" sz="1550" dirty="0" err="1">
                <a:solidFill>
                  <a:srgbClr val="2C2821"/>
                </a:solidFill>
                <a:latin typeface="Lora" pitchFamily="34" charset="0"/>
                <a:ea typeface="Lora" pitchFamily="34" charset="-122"/>
                <a:cs typeface="Lora" pitchFamily="34" charset="-120"/>
              </a:rPr>
              <a:t>đã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training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tự</a:t>
            </a:r>
            <a:r>
              <a:rPr lang="en-US" sz="1550" dirty="0">
                <a:solidFill>
                  <a:srgbClr val="2C2821"/>
                </a:solidFill>
                <a:latin typeface="Lora" pitchFamily="34" charset="0"/>
                <a:ea typeface="Lora" pitchFamily="34" charset="-122"/>
                <a:cs typeface="Lora" pitchFamily="34" charset="-120"/>
              </a:rPr>
              <a:t> (~~ 36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tự</a:t>
            </a:r>
            <a:r>
              <a:rPr lang="en-US" sz="1550" dirty="0">
                <a:solidFill>
                  <a:srgbClr val="2C2821"/>
                </a:solidFill>
                <a:latin typeface="Lora" pitchFamily="34" charset="0"/>
                <a:ea typeface="Lora" pitchFamily="34" charset="-122"/>
                <a:cs typeface="Lora" pitchFamily="34" charset="-120"/>
              </a:rPr>
              <a:t>)</a:t>
            </a:r>
            <a:endParaRPr lang="en-US" sz="1550" dirty="0"/>
          </a:p>
        </p:txBody>
      </p:sp>
      <p:sp>
        <p:nvSpPr>
          <p:cNvPr id="13" name="Text 7"/>
          <p:cNvSpPr/>
          <p:nvPr/>
        </p:nvSpPr>
        <p:spPr>
          <a:xfrm>
            <a:off x="700398" y="55616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C2821"/>
                </a:solidFill>
                <a:latin typeface="Alice" pitchFamily="34" charset="0"/>
                <a:ea typeface="Alice" pitchFamily="34" charset="-122"/>
                <a:cs typeface="Alice" pitchFamily="34" charset="-120"/>
              </a:rPr>
              <a:t>4. Hiển </a:t>
            </a:r>
            <a:r>
              <a:rPr lang="en-US" sz="1950" dirty="0" err="1">
                <a:solidFill>
                  <a:srgbClr val="2C2821"/>
                </a:solidFill>
                <a:latin typeface="Alice" pitchFamily="34" charset="0"/>
                <a:ea typeface="Alice" pitchFamily="34" charset="-122"/>
                <a:cs typeface="Alice" pitchFamily="34" charset="-120"/>
              </a:rPr>
              <a:t>thị</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kết</a:t>
            </a:r>
            <a:r>
              <a:rPr lang="en-US" sz="1950" dirty="0">
                <a:solidFill>
                  <a:srgbClr val="2C2821"/>
                </a:solidFill>
                <a:latin typeface="Alice" pitchFamily="34" charset="0"/>
                <a:ea typeface="Alice" pitchFamily="34" charset="-122"/>
                <a:cs typeface="Alice" pitchFamily="34" charset="-120"/>
              </a:rPr>
              <a:t> </a:t>
            </a:r>
            <a:r>
              <a:rPr lang="en-US" sz="1950" dirty="0" err="1">
                <a:solidFill>
                  <a:srgbClr val="2C2821"/>
                </a:solidFill>
                <a:latin typeface="Alice" pitchFamily="34" charset="0"/>
                <a:ea typeface="Alice" pitchFamily="34" charset="-122"/>
                <a:cs typeface="Alice" pitchFamily="34" charset="-120"/>
              </a:rPr>
              <a:t>quả</a:t>
            </a:r>
            <a:endParaRPr lang="en-US" sz="1950" dirty="0"/>
          </a:p>
        </p:txBody>
      </p:sp>
      <p:sp>
        <p:nvSpPr>
          <p:cNvPr id="14" name="Text 8"/>
          <p:cNvSpPr/>
          <p:nvPr/>
        </p:nvSpPr>
        <p:spPr>
          <a:xfrm>
            <a:off x="700398" y="6012988"/>
            <a:ext cx="6124694" cy="635079"/>
          </a:xfrm>
          <a:prstGeom prst="rect">
            <a:avLst/>
          </a:prstGeom>
          <a:noFill/>
          <a:ln/>
        </p:spPr>
        <p:txBody>
          <a:bodyPr wrap="square" lIns="0" tIns="0" rIns="0" bIns="0" rtlCol="0" anchor="t"/>
          <a:lstStyle/>
          <a:p>
            <a:pPr marL="0" indent="0" algn="l">
              <a:lnSpc>
                <a:spcPts val="2500"/>
              </a:lnSpc>
              <a:buNone/>
            </a:pPr>
            <a:r>
              <a:rPr lang="en-US" sz="1550" dirty="0" err="1">
                <a:solidFill>
                  <a:srgbClr val="2C2821"/>
                </a:solidFill>
                <a:latin typeface="Lora" pitchFamily="34" charset="0"/>
                <a:ea typeface="Lora" pitchFamily="34" charset="-122"/>
                <a:cs typeface="Lora" pitchFamily="34" charset="-120"/>
              </a:rPr>
              <a:t>Kết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quả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thị</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trực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tiếp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trên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màn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hình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bên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cạnh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khung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lúc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này</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người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có</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gửi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đơn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với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xe</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đã</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được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phát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hiện</a:t>
            </a:r>
            <a:endParaRPr lang="en-US" sz="1550" dirty="0"/>
          </a:p>
        </p:txBody>
      </p:sp>
      <p:pic>
        <p:nvPicPr>
          <p:cNvPr id="16" name="Picture 15">
            <a:extLst>
              <a:ext uri="{FF2B5EF4-FFF2-40B4-BE49-F238E27FC236}">
                <a16:creationId xmlns:a16="http://schemas.microsoft.com/office/drawing/2014/main" id="{6C7CCFF8-2AA8-0450-4CFD-FAF990FE1CAE}"/>
              </a:ext>
            </a:extLst>
          </p:cNvPr>
          <p:cNvPicPr>
            <a:picLocks noChangeAspect="1"/>
          </p:cNvPicPr>
          <p:nvPr/>
        </p:nvPicPr>
        <p:blipFill>
          <a:blip r:embed="rId3"/>
          <a:stretch>
            <a:fillRect/>
          </a:stretch>
        </p:blipFill>
        <p:spPr>
          <a:xfrm>
            <a:off x="11096132" y="7038809"/>
            <a:ext cx="3534268" cy="1190791"/>
          </a:xfrm>
          <a:prstGeom prst="rect">
            <a:avLst/>
          </a:prstGeom>
        </p:spPr>
      </p:pic>
      <p:pic>
        <p:nvPicPr>
          <p:cNvPr id="12" name="Picture 11">
            <a:extLst>
              <a:ext uri="{FF2B5EF4-FFF2-40B4-BE49-F238E27FC236}">
                <a16:creationId xmlns:a16="http://schemas.microsoft.com/office/drawing/2014/main" id="{BE301788-29AE-BC14-B0EA-00F4CEB757C4}"/>
              </a:ext>
            </a:extLst>
          </p:cNvPr>
          <p:cNvPicPr>
            <a:picLocks noChangeAspect="1"/>
          </p:cNvPicPr>
          <p:nvPr/>
        </p:nvPicPr>
        <p:blipFill>
          <a:blip r:embed="rId4"/>
          <a:stretch>
            <a:fillRect/>
          </a:stretch>
        </p:blipFill>
        <p:spPr>
          <a:xfrm>
            <a:off x="7987553" y="895158"/>
            <a:ext cx="6511059" cy="72400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3272C-68C6-0A6A-1A85-137549BE65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988597-5B1B-6AEC-2071-67A6837A0F70}"/>
              </a:ext>
            </a:extLst>
          </p:cNvPr>
          <p:cNvSpPr/>
          <p:nvPr/>
        </p:nvSpPr>
        <p:spPr>
          <a:xfrm>
            <a:off x="1731636" y="361312"/>
            <a:ext cx="5876211" cy="620078"/>
          </a:xfrm>
          <a:prstGeom prst="rect">
            <a:avLst/>
          </a:prstGeom>
          <a:noFill/>
          <a:ln/>
        </p:spPr>
        <p:txBody>
          <a:bodyPr wrap="none" lIns="0" tIns="0" rIns="0" bIns="0" rtlCol="0" anchor="t"/>
          <a:lstStyle/>
          <a:p>
            <a:pPr marL="0" indent="0" algn="l">
              <a:lnSpc>
                <a:spcPts val="4850"/>
              </a:lnSpc>
              <a:buNone/>
            </a:pPr>
            <a:r>
              <a:rPr lang="en-US" sz="3600" dirty="0" err="1">
                <a:solidFill>
                  <a:srgbClr val="233E32"/>
                </a:solidFill>
                <a:latin typeface="Alice" pitchFamily="34" charset="0"/>
                <a:ea typeface="Alice" pitchFamily="34" charset="-122"/>
                <a:cs typeface="Alice" pitchFamily="34" charset="-120"/>
              </a:rPr>
              <a:t>Tóm</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tắt</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quá</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trình</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huấn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luyện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mô</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hình</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nhận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diện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biển</a:t>
            </a:r>
            <a:r>
              <a:rPr lang="en-US" sz="3600" dirty="0">
                <a:solidFill>
                  <a:srgbClr val="233E32"/>
                </a:solidFill>
                <a:latin typeface="Alice" pitchFamily="34" charset="0"/>
                <a:ea typeface="Alice" pitchFamily="34" charset="-122"/>
                <a:cs typeface="Alice" pitchFamily="34" charset="-120"/>
              </a:rPr>
              <a:t> </a:t>
            </a:r>
            <a:r>
              <a:rPr lang="en-US" sz="3600" dirty="0" err="1">
                <a:solidFill>
                  <a:srgbClr val="233E32"/>
                </a:solidFill>
                <a:latin typeface="Alice" pitchFamily="34" charset="0"/>
                <a:ea typeface="Alice" pitchFamily="34" charset="-122"/>
                <a:cs typeface="Alice" pitchFamily="34" charset="-120"/>
              </a:rPr>
              <a:t>số</a:t>
            </a:r>
            <a:endParaRPr lang="en-US" sz="3600" dirty="0"/>
          </a:p>
        </p:txBody>
      </p:sp>
      <p:pic>
        <p:nvPicPr>
          <p:cNvPr id="13" name="Picture 12">
            <a:extLst>
              <a:ext uri="{FF2B5EF4-FFF2-40B4-BE49-F238E27FC236}">
                <a16:creationId xmlns:a16="http://schemas.microsoft.com/office/drawing/2014/main" id="{5C89F75A-C636-8F13-6504-C969DB747DD8}"/>
              </a:ext>
            </a:extLst>
          </p:cNvPr>
          <p:cNvPicPr>
            <a:picLocks noChangeAspect="1"/>
          </p:cNvPicPr>
          <p:nvPr/>
        </p:nvPicPr>
        <p:blipFill>
          <a:blip r:embed="rId3"/>
          <a:stretch>
            <a:fillRect/>
          </a:stretch>
        </p:blipFill>
        <p:spPr>
          <a:xfrm>
            <a:off x="11096132" y="7038809"/>
            <a:ext cx="3534268" cy="1190791"/>
          </a:xfrm>
          <a:prstGeom prst="rect">
            <a:avLst/>
          </a:prstGeom>
        </p:spPr>
      </p:pic>
      <p:pic>
        <p:nvPicPr>
          <p:cNvPr id="20" name="Picture 19">
            <a:extLst>
              <a:ext uri="{FF2B5EF4-FFF2-40B4-BE49-F238E27FC236}">
                <a16:creationId xmlns:a16="http://schemas.microsoft.com/office/drawing/2014/main" id="{4BAD973D-ACD0-8653-8C75-412D47F30999}"/>
              </a:ext>
            </a:extLst>
          </p:cNvPr>
          <p:cNvPicPr>
            <a:picLocks noChangeAspect="1"/>
          </p:cNvPicPr>
          <p:nvPr/>
        </p:nvPicPr>
        <p:blipFill>
          <a:blip r:embed="rId4"/>
          <a:stretch>
            <a:fillRect/>
          </a:stretch>
        </p:blipFill>
        <p:spPr>
          <a:xfrm>
            <a:off x="350520" y="1840797"/>
            <a:ext cx="13929359" cy="6027491"/>
          </a:xfrm>
          <a:prstGeom prst="rect">
            <a:avLst/>
          </a:prstGeom>
        </p:spPr>
      </p:pic>
      <p:sp>
        <p:nvSpPr>
          <p:cNvPr id="6" name="Rectangle 3">
            <a:extLst>
              <a:ext uri="{FF2B5EF4-FFF2-40B4-BE49-F238E27FC236}">
                <a16:creationId xmlns:a16="http://schemas.microsoft.com/office/drawing/2014/main" id="{1E2D88E4-A357-44C0-FBF0-264980F56D2C}"/>
              </a:ext>
            </a:extLst>
          </p:cNvPr>
          <p:cNvSpPr>
            <a:spLocks noChangeArrowheads="1"/>
          </p:cNvSpPr>
          <p:nvPr/>
        </p:nvSpPr>
        <p:spPr bwMode="auto">
          <a:xfrm>
            <a:off x="350520" y="967698"/>
            <a:ext cx="1282849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t" latinLnBrk="0" hangingPunct="0">
              <a:lnSpc>
                <a:spcPct val="100000"/>
              </a:lnSpc>
              <a:spcBef>
                <a:spcPct val="0"/>
              </a:spcBef>
              <a:spcAft>
                <a:spcPct val="0"/>
              </a:spcAft>
              <a:buClrTx/>
              <a:buSzTx/>
              <a:buFontTx/>
              <a:buNone/>
              <a:tabLst/>
            </a:pPr>
            <a:r>
              <a:rPr lang="en-US" altLang="en-US" sz="2400" dirty="0">
                <a:latin typeface="Consolas" panose="020B0609020204030204" pitchFamily="49" charset="0"/>
              </a:rPr>
              <a:t>!python train.py --</a:t>
            </a:r>
            <a:r>
              <a:rPr lang="en-US" altLang="en-US" sz="2400" dirty="0" err="1">
                <a:latin typeface="Consolas" panose="020B0609020204030204" pitchFamily="49" charset="0"/>
              </a:rPr>
              <a:t>img</a:t>
            </a:r>
            <a:r>
              <a:rPr lang="en-US" altLang="en-US" sz="2400" dirty="0">
                <a:latin typeface="Consolas" panose="020B0609020204030204" pitchFamily="49" charset="0"/>
              </a:rPr>
              <a:t> 320 --batch 32 --epochs 30 --data /content/yolov5/data/</a:t>
            </a:r>
            <a:r>
              <a:rPr lang="en-US" altLang="en-US" sz="2400" dirty="0" err="1">
                <a:latin typeface="Consolas" panose="020B0609020204030204" pitchFamily="49" charset="0"/>
              </a:rPr>
              <a:t>LP_detection.yaml</a:t>
            </a:r>
            <a:r>
              <a:rPr lang="en-US" altLang="en-US" sz="2400" dirty="0">
                <a:latin typeface="Consolas" panose="020B0609020204030204" pitchFamily="49" charset="0"/>
              </a:rPr>
              <a:t> --weights yolov5m.pt --cache </a:t>
            </a:r>
          </a:p>
        </p:txBody>
      </p:sp>
    </p:spTree>
    <p:extLst>
      <p:ext uri="{BB962C8B-B14F-4D97-AF65-F5344CB8AC3E}">
        <p14:creationId xmlns:p14="http://schemas.microsoft.com/office/powerpoint/2010/main" val="3237698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79672-7D25-1A92-F921-FCA1B963EE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789F3D-5596-2F92-DF19-EFFE9852996D}"/>
              </a:ext>
            </a:extLst>
          </p:cNvPr>
          <p:cNvSpPr/>
          <p:nvPr/>
        </p:nvSpPr>
        <p:spPr>
          <a:xfrm>
            <a:off x="1658048" y="51273"/>
            <a:ext cx="5876211" cy="620078"/>
          </a:xfrm>
          <a:prstGeom prst="rect">
            <a:avLst/>
          </a:prstGeom>
          <a:noFill/>
          <a:ln/>
        </p:spPr>
        <p:txBody>
          <a:bodyPr wrap="none" lIns="0" tIns="0" rIns="0" bIns="0" rtlCol="0" anchor="t"/>
          <a:lstStyle/>
          <a:p>
            <a:pPr marL="0" indent="0" algn="l">
              <a:lnSpc>
                <a:spcPts val="4850"/>
              </a:lnSpc>
              <a:buNone/>
            </a:pPr>
            <a:r>
              <a:rPr lang="en-US" sz="3600">
                <a:solidFill>
                  <a:srgbClr val="233E32"/>
                </a:solidFill>
                <a:latin typeface="Alice" pitchFamily="34" charset="0"/>
                <a:ea typeface="Alice" pitchFamily="34" charset="-122"/>
                <a:cs typeface="Alice" pitchFamily="34" charset="-120"/>
              </a:rPr>
              <a:t>Tóm tắt quá trình huấn luyện mô hình nhận diện ký tự</a:t>
            </a:r>
            <a:endParaRPr lang="en-US" sz="3600" dirty="0"/>
          </a:p>
        </p:txBody>
      </p:sp>
      <p:pic>
        <p:nvPicPr>
          <p:cNvPr id="4" name="Picture 3">
            <a:extLst>
              <a:ext uri="{FF2B5EF4-FFF2-40B4-BE49-F238E27FC236}">
                <a16:creationId xmlns:a16="http://schemas.microsoft.com/office/drawing/2014/main" id="{501F0148-6FA9-C3A8-33A9-85B0AA10703E}"/>
              </a:ext>
            </a:extLst>
          </p:cNvPr>
          <p:cNvPicPr>
            <a:picLocks noChangeAspect="1"/>
          </p:cNvPicPr>
          <p:nvPr/>
        </p:nvPicPr>
        <p:blipFill>
          <a:blip r:embed="rId3"/>
          <a:stretch>
            <a:fillRect/>
          </a:stretch>
        </p:blipFill>
        <p:spPr>
          <a:xfrm>
            <a:off x="792135" y="1506071"/>
            <a:ext cx="13046130" cy="6414247"/>
          </a:xfrm>
          <a:prstGeom prst="rect">
            <a:avLst/>
          </a:prstGeom>
        </p:spPr>
      </p:pic>
      <p:sp>
        <p:nvSpPr>
          <p:cNvPr id="5" name="TextBox 4">
            <a:extLst>
              <a:ext uri="{FF2B5EF4-FFF2-40B4-BE49-F238E27FC236}">
                <a16:creationId xmlns:a16="http://schemas.microsoft.com/office/drawing/2014/main" id="{64858F3D-412D-D006-B76B-D88752F5D958}"/>
              </a:ext>
            </a:extLst>
          </p:cNvPr>
          <p:cNvSpPr txBox="1"/>
          <p:nvPr/>
        </p:nvSpPr>
        <p:spPr>
          <a:xfrm>
            <a:off x="418795" y="558864"/>
            <a:ext cx="14230928" cy="830997"/>
          </a:xfrm>
          <a:prstGeom prst="rect">
            <a:avLst/>
          </a:prstGeom>
          <a:noFill/>
        </p:spPr>
        <p:txBody>
          <a:bodyPr wrap="square">
            <a:spAutoFit/>
          </a:bodyPr>
          <a:lstStyle/>
          <a:p>
            <a:r>
              <a:rPr lang="en-US" sz="2400" dirty="0">
                <a:latin typeface="Consolas" panose="020B0609020204030204" pitchFamily="49" charset="0"/>
              </a:rPr>
              <a:t>!python train.py --</a:t>
            </a:r>
            <a:r>
              <a:rPr lang="en-US" sz="2400" dirty="0" err="1">
                <a:latin typeface="Consolas" panose="020B0609020204030204" pitchFamily="49" charset="0"/>
              </a:rPr>
              <a:t>img</a:t>
            </a:r>
            <a:r>
              <a:rPr lang="en-US" sz="2400" dirty="0">
                <a:latin typeface="Consolas" panose="020B0609020204030204" pitchFamily="49" charset="0"/>
              </a:rPr>
              <a:t> 320 --batch 32 --epochs 50 --data </a:t>
            </a:r>
          </a:p>
          <a:p>
            <a:r>
              <a:rPr lang="en-US" sz="2400" dirty="0">
                <a:latin typeface="Consolas" panose="020B0609020204030204" pitchFamily="49" charset="0"/>
              </a:rPr>
              <a:t>/content/yolov5/data/</a:t>
            </a:r>
            <a:r>
              <a:rPr lang="en-US" sz="2400" dirty="0" err="1">
                <a:latin typeface="Consolas" panose="020B0609020204030204" pitchFamily="49" charset="0"/>
              </a:rPr>
              <a:t>Letter_detect.yaml</a:t>
            </a:r>
            <a:r>
              <a:rPr lang="en-US" sz="2400" dirty="0">
                <a:latin typeface="Consolas" panose="020B0609020204030204" pitchFamily="49" charset="0"/>
              </a:rPr>
              <a:t> --weights yolov5m.pt --cache</a:t>
            </a:r>
          </a:p>
        </p:txBody>
      </p:sp>
    </p:spTree>
    <p:extLst>
      <p:ext uri="{BB962C8B-B14F-4D97-AF65-F5344CB8AC3E}">
        <p14:creationId xmlns:p14="http://schemas.microsoft.com/office/powerpoint/2010/main" val="3470731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FBD02C-131E-34D7-B69F-BD976658A8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AB99AB-8046-893D-E78F-C5CA2447C116}"/>
              </a:ext>
            </a:extLst>
          </p:cNvPr>
          <p:cNvSpPr txBox="1"/>
          <p:nvPr/>
        </p:nvSpPr>
        <p:spPr>
          <a:xfrm>
            <a:off x="-2772514" y="0"/>
            <a:ext cx="10739628" cy="842717"/>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4300" dirty="0">
                <a:latin typeface="+mj-lt"/>
                <a:ea typeface="+mj-ea"/>
                <a:cs typeface="+mj-cs"/>
              </a:rPr>
              <a:t>4. </a:t>
            </a:r>
            <a:r>
              <a:rPr lang="en-US" sz="4300" dirty="0" err="1">
                <a:latin typeface="+mj-lt"/>
                <a:ea typeface="+mj-ea"/>
                <a:cs typeface="+mj-cs"/>
              </a:rPr>
              <a:t>Đánh</a:t>
            </a:r>
            <a:r>
              <a:rPr lang="en-US" sz="4300" dirty="0">
                <a:latin typeface="+mj-lt"/>
                <a:ea typeface="+mj-ea"/>
                <a:cs typeface="+mj-cs"/>
              </a:rPr>
              <a:t> </a:t>
            </a:r>
            <a:r>
              <a:rPr lang="en-US" sz="4300" dirty="0" err="1">
                <a:latin typeface="+mj-lt"/>
                <a:ea typeface="+mj-ea"/>
                <a:cs typeface="+mj-cs"/>
              </a:rPr>
              <a:t>giá</a:t>
            </a:r>
            <a:r>
              <a:rPr lang="en-US" sz="4300" dirty="0">
                <a:latin typeface="+mj-lt"/>
                <a:ea typeface="+mj-ea"/>
                <a:cs typeface="+mj-cs"/>
              </a:rPr>
              <a:t> </a:t>
            </a:r>
            <a:r>
              <a:rPr lang="en-US" sz="4300" dirty="0" err="1">
                <a:latin typeface="+mj-lt"/>
                <a:ea typeface="+mj-ea"/>
                <a:cs typeface="+mj-cs"/>
              </a:rPr>
              <a:t>mô</a:t>
            </a:r>
            <a:r>
              <a:rPr lang="en-US" sz="4300" dirty="0">
                <a:latin typeface="+mj-lt"/>
                <a:ea typeface="+mj-ea"/>
                <a:cs typeface="+mj-cs"/>
              </a:rPr>
              <a:t> </a:t>
            </a:r>
            <a:r>
              <a:rPr lang="en-US" sz="4300" dirty="0" err="1">
                <a:latin typeface="+mj-lt"/>
                <a:ea typeface="+mj-ea"/>
                <a:cs typeface="+mj-cs"/>
              </a:rPr>
              <a:t>hình</a:t>
            </a:r>
            <a:endParaRPr lang="en-US" sz="4300" dirty="0">
              <a:latin typeface="+mj-lt"/>
              <a:ea typeface="+mj-ea"/>
              <a:cs typeface="+mj-cs"/>
            </a:endParaRPr>
          </a:p>
        </p:txBody>
      </p:sp>
      <p:sp>
        <p:nvSpPr>
          <p:cNvPr id="26" name="Text 0">
            <a:extLst>
              <a:ext uri="{FF2B5EF4-FFF2-40B4-BE49-F238E27FC236}">
                <a16:creationId xmlns:a16="http://schemas.microsoft.com/office/drawing/2014/main" id="{86CA7D23-D779-43B7-F95D-D702A1041DE0}"/>
              </a:ext>
            </a:extLst>
          </p:cNvPr>
          <p:cNvSpPr/>
          <p:nvPr/>
        </p:nvSpPr>
        <p:spPr>
          <a:xfrm>
            <a:off x="-1727518" y="990634"/>
            <a:ext cx="10741543" cy="605574"/>
          </a:xfrm>
          <a:prstGeom prst="rect">
            <a:avLst/>
          </a:prstGeom>
        </p:spPr>
        <p:txBody>
          <a:bodyPr vert="horz" lIns="91440" tIns="45720" rIns="91440" bIns="45720" rtlCol="0" anchor="t">
            <a:normAutofit/>
          </a:bodyPr>
          <a:lstStyle/>
          <a:p>
            <a:pPr algn="ctr">
              <a:lnSpc>
                <a:spcPct val="90000"/>
              </a:lnSpc>
              <a:spcBef>
                <a:spcPts val="1000"/>
              </a:spcBef>
            </a:pPr>
            <a:r>
              <a:rPr lang="en-US" sz="2200" dirty="0" err="1"/>
              <a:t>Đồ</a:t>
            </a:r>
            <a:r>
              <a:rPr lang="en-US" sz="2200" dirty="0"/>
              <a:t> </a:t>
            </a:r>
            <a:r>
              <a:rPr lang="en-US" sz="2200" dirty="0" err="1"/>
              <a:t>thị</a:t>
            </a:r>
            <a:r>
              <a:rPr lang="en-US" sz="2200" dirty="0"/>
              <a:t> </a:t>
            </a:r>
            <a:r>
              <a:rPr lang="en-US" sz="2200" dirty="0" err="1"/>
              <a:t>của</a:t>
            </a:r>
            <a:r>
              <a:rPr lang="en-US" sz="2200" dirty="0"/>
              <a:t> </a:t>
            </a:r>
            <a:r>
              <a:rPr lang="en-US" sz="2200" dirty="0" err="1"/>
              <a:t>quá</a:t>
            </a:r>
            <a:r>
              <a:rPr lang="en-US" sz="2200" dirty="0"/>
              <a:t> </a:t>
            </a:r>
            <a:r>
              <a:rPr lang="en-US" sz="2200" dirty="0" err="1"/>
              <a:t>trình</a:t>
            </a:r>
            <a:r>
              <a:rPr lang="en-US" sz="2200" dirty="0"/>
              <a:t> training </a:t>
            </a:r>
            <a:r>
              <a:rPr lang="en-US" sz="2200" dirty="0" err="1"/>
              <a:t>nhận</a:t>
            </a:r>
            <a:r>
              <a:rPr lang="en-US" sz="2200" dirty="0"/>
              <a:t> </a:t>
            </a:r>
            <a:r>
              <a:rPr lang="en-US" sz="2200" dirty="0" err="1"/>
              <a:t>diện</a:t>
            </a:r>
            <a:r>
              <a:rPr lang="en-US" sz="2200" dirty="0"/>
              <a:t> </a:t>
            </a:r>
            <a:r>
              <a:rPr lang="en-US" sz="2200" dirty="0" err="1"/>
              <a:t>biển</a:t>
            </a:r>
            <a:r>
              <a:rPr lang="en-US" sz="2200" dirty="0"/>
              <a:t> </a:t>
            </a:r>
            <a:r>
              <a:rPr lang="en-US" sz="2200" dirty="0" err="1"/>
              <a:t>số</a:t>
            </a:r>
            <a:endParaRPr lang="en-US" sz="2200" dirty="0"/>
          </a:p>
        </p:txBody>
      </p:sp>
      <p:pic>
        <p:nvPicPr>
          <p:cNvPr id="4" name="Picture 3" descr="A graph of a function&#10;&#10;AI-generated content may be incorrect.">
            <a:extLst>
              <a:ext uri="{FF2B5EF4-FFF2-40B4-BE49-F238E27FC236}">
                <a16:creationId xmlns:a16="http://schemas.microsoft.com/office/drawing/2014/main" id="{0D361BED-5497-8347-0C58-BEC53A61851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auto">
          <a:xfrm>
            <a:off x="215154" y="1448292"/>
            <a:ext cx="6856200" cy="6433904"/>
          </a:xfrm>
          <a:prstGeom prst="rect">
            <a:avLst/>
          </a:prstGeom>
          <a:noFill/>
        </p:spPr>
      </p:pic>
      <p:graphicFrame>
        <p:nvGraphicFramePr>
          <p:cNvPr id="7" name="Table 6">
            <a:extLst>
              <a:ext uri="{FF2B5EF4-FFF2-40B4-BE49-F238E27FC236}">
                <a16:creationId xmlns:a16="http://schemas.microsoft.com/office/drawing/2014/main" id="{E7EB300E-D87F-E1D8-E993-95ABC9EE001C}"/>
              </a:ext>
            </a:extLst>
          </p:cNvPr>
          <p:cNvGraphicFramePr>
            <a:graphicFrameLocks noGrp="1"/>
          </p:cNvGraphicFramePr>
          <p:nvPr>
            <p:extLst>
              <p:ext uri="{D42A27DB-BD31-4B8C-83A1-F6EECF244321}">
                <p14:modId xmlns:p14="http://schemas.microsoft.com/office/powerpoint/2010/main" val="3692309740"/>
              </p:ext>
            </p:extLst>
          </p:nvPr>
        </p:nvGraphicFramePr>
        <p:xfrm>
          <a:off x="7315200" y="1448291"/>
          <a:ext cx="7194176" cy="6433905"/>
        </p:xfrm>
        <a:graphic>
          <a:graphicData uri="http://schemas.openxmlformats.org/drawingml/2006/table">
            <a:tbl>
              <a:tblPr>
                <a:solidFill>
                  <a:schemeClr val="bg1"/>
                </a:solidFill>
              </a:tblPr>
              <a:tblGrid>
                <a:gridCol w="1675916">
                  <a:extLst>
                    <a:ext uri="{9D8B030D-6E8A-4147-A177-3AD203B41FA5}">
                      <a16:colId xmlns:a16="http://schemas.microsoft.com/office/drawing/2014/main" val="3981039613"/>
                    </a:ext>
                  </a:extLst>
                </a:gridCol>
                <a:gridCol w="2524576">
                  <a:extLst>
                    <a:ext uri="{9D8B030D-6E8A-4147-A177-3AD203B41FA5}">
                      <a16:colId xmlns:a16="http://schemas.microsoft.com/office/drawing/2014/main" val="579840019"/>
                    </a:ext>
                  </a:extLst>
                </a:gridCol>
                <a:gridCol w="2993684">
                  <a:extLst>
                    <a:ext uri="{9D8B030D-6E8A-4147-A177-3AD203B41FA5}">
                      <a16:colId xmlns:a16="http://schemas.microsoft.com/office/drawing/2014/main" val="679380279"/>
                    </a:ext>
                  </a:extLst>
                </a:gridCol>
              </a:tblGrid>
              <a:tr h="349682">
                <a:tc>
                  <a:txBody>
                    <a:bodyPr/>
                    <a:lstStyle/>
                    <a:p>
                      <a:pPr algn="ctr"/>
                      <a:r>
                        <a:rPr lang="en-US" sz="1600" b="1">
                          <a:latin typeface="Cambria" panose="02040503050406030204" pitchFamily="18" charset="0"/>
                          <a:ea typeface="Cambria" panose="02040503050406030204" pitchFamily="18" charset="0"/>
                        </a:rPr>
                        <a:t>Chỉ số</a:t>
                      </a:r>
                      <a:endParaRPr lang="en-US" sz="160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600" b="1">
                          <a:latin typeface="Cambria" panose="02040503050406030204" pitchFamily="18" charset="0"/>
                          <a:ea typeface="Cambria" panose="02040503050406030204" pitchFamily="18" charset="0"/>
                        </a:rPr>
                        <a:t>Ý nghĩa &amp; Tác dụng</a:t>
                      </a:r>
                      <a:endParaRPr lang="en-US" sz="16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gn="ctr"/>
                      <a:r>
                        <a:rPr lang="en-US" sz="1600" b="1" dirty="0" err="1">
                          <a:latin typeface="Cambria" panose="02040503050406030204" pitchFamily="18" charset="0"/>
                          <a:ea typeface="Cambria" panose="02040503050406030204" pitchFamily="18" charset="0"/>
                        </a:rPr>
                        <a:t>Ví</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dụ</a:t>
                      </a: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trên</a:t>
                      </a:r>
                      <a:r>
                        <a:rPr lang="en-US" sz="1600" b="1" dirty="0">
                          <a:latin typeface="Cambria" panose="02040503050406030204" pitchFamily="18" charset="0"/>
                          <a:ea typeface="Cambria" panose="02040503050406030204" pitchFamily="18" charset="0"/>
                        </a:rPr>
                        <a:t> 100 </a:t>
                      </a:r>
                      <a:r>
                        <a:rPr lang="en-US" sz="1600" b="1" dirty="0" err="1">
                          <a:latin typeface="Cambria" panose="02040503050406030204" pitchFamily="18" charset="0"/>
                          <a:ea typeface="Cambria" panose="02040503050406030204" pitchFamily="18" charset="0"/>
                        </a:rPr>
                        <a:t>ảnh</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4024957430"/>
                  </a:ext>
                </a:extLst>
              </a:tr>
              <a:tr h="922392">
                <a:tc>
                  <a:txBody>
                    <a:bodyPr/>
                    <a:lstStyle/>
                    <a:p>
                      <a:pPr algn="ctr"/>
                      <a:r>
                        <a:rPr lang="en-US" sz="1600" b="1" dirty="0">
                          <a:latin typeface="Cambria" panose="02040503050406030204" pitchFamily="18" charset="0"/>
                          <a:ea typeface="Cambria" panose="02040503050406030204" pitchFamily="18" charset="0"/>
                        </a:rPr>
                        <a:t>TP (True Positive)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cao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tốt</a:t>
                      </a:r>
                      <a:r>
                        <a:rPr lang="en-US"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60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thật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50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TP = 50</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091071657"/>
                  </a:ext>
                </a:extLst>
              </a:tr>
              <a:tr h="922392">
                <a:tc>
                  <a:txBody>
                    <a:bodyPr/>
                    <a:lstStyle/>
                    <a:p>
                      <a:pPr algn="ctr"/>
                      <a:r>
                        <a:rPr lang="en-US" sz="1600" b="1" dirty="0">
                          <a:latin typeface="Cambria" panose="02040503050406030204" pitchFamily="18" charset="0"/>
                          <a:ea typeface="Cambria" panose="02040503050406030204" pitchFamily="18" charset="0"/>
                        </a:rPr>
                        <a:t>FP (False Positive)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sai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cần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giảm</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để</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tránh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báo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nhầm</a:t>
                      </a:r>
                      <a:r>
                        <a:rPr lang="en-US"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a:latin typeface="Cambria" panose="02040503050406030204" pitchFamily="18" charset="0"/>
                          <a:ea typeface="Cambria" panose="02040503050406030204" pitchFamily="18" charset="0"/>
                        </a:rPr>
                        <a:t>Có 40 ảnh không có biển số, mô hình báo nhầm 5 ảnh là có → </a:t>
                      </a:r>
                      <a:r>
                        <a:rPr lang="en-US" sz="1600" b="1">
                          <a:latin typeface="Cambria" panose="02040503050406030204" pitchFamily="18" charset="0"/>
                          <a:ea typeface="Cambria" panose="02040503050406030204" pitchFamily="18" charset="0"/>
                        </a:rPr>
                        <a:t>FP = 5</a:t>
                      </a:r>
                      <a:endParaRPr lang="en-US" sz="160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862836060"/>
                  </a:ext>
                </a:extLst>
              </a:tr>
              <a:tr h="922392">
                <a:tc>
                  <a:txBody>
                    <a:bodyPr/>
                    <a:lstStyle/>
                    <a:p>
                      <a:pPr algn="ctr"/>
                      <a:r>
                        <a:rPr lang="en-US" sz="1600" b="1" dirty="0">
                          <a:latin typeface="Cambria" panose="02040503050406030204" pitchFamily="18" charset="0"/>
                          <a:ea typeface="Cambria" panose="02040503050406030204" pitchFamily="18" charset="0"/>
                        </a:rPr>
                        <a:t>TN (True Negative)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cao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càng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tốt</a:t>
                      </a:r>
                      <a:r>
                        <a:rPr lang="en-US"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a:latin typeface="Cambria" panose="02040503050406030204" pitchFamily="18" charset="0"/>
                          <a:ea typeface="Cambria" panose="02040503050406030204" pitchFamily="18" charset="0"/>
                        </a:rPr>
                        <a:t>Trong 40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không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35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TN = 35</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544684912"/>
                  </a:ext>
                </a:extLst>
              </a:tr>
              <a:tr h="922392">
                <a:tc>
                  <a:txBody>
                    <a:bodyPr/>
                    <a:lstStyle/>
                    <a:p>
                      <a:pPr algn="ctr"/>
                      <a:r>
                        <a:rPr lang="en-US" sz="1600" b="1" dirty="0">
                          <a:latin typeface="Cambria" panose="02040503050406030204" pitchFamily="18" charset="0"/>
                          <a:ea typeface="Cambria" panose="02040503050406030204" pitchFamily="18" charset="0"/>
                        </a:rPr>
                        <a:t>FN (False Negative)</a:t>
                      </a:r>
                      <a:endParaRPr lang="en-US" sz="1600" dirty="0">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vi-VN" sz="1600" dirty="0">
                          <a:latin typeface="Cambria" panose="02040503050406030204" pitchFamily="18" charset="0"/>
                          <a:ea typeface="Cambria" panose="02040503050406030204" pitchFamily="18" charset="0"/>
                        </a:rPr>
                        <a:t>Bỏ sót ảnh có biển số → cần giảm để không bỏ lọt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đối</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tượng</a:t>
                      </a:r>
                      <a:r>
                        <a:rPr lang="vi-VN" sz="1600" dirty="0">
                          <a:latin typeface="Cambria" panose="02040503050406030204" pitchFamily="18" charset="0"/>
                          <a:ea typeface="Cambria" panose="02040503050406030204" pitchFamily="18" charset="0"/>
                        </a:rPr>
                        <a:t>.</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a:latin typeface="Cambria" panose="02040503050406030204" pitchFamily="18" charset="0"/>
                          <a:ea typeface="Cambria" panose="02040503050406030204" pitchFamily="18" charset="0"/>
                        </a:rPr>
                        <a:t>Trong 60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bỏ</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sót</a:t>
                      </a:r>
                      <a:r>
                        <a:rPr lang="en-US" sz="1600" dirty="0">
                          <a:latin typeface="Cambria" panose="02040503050406030204" pitchFamily="18" charset="0"/>
                          <a:ea typeface="Cambria" panose="02040503050406030204" pitchFamily="18" charset="0"/>
                        </a:rPr>
                        <a:t> 10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FN = 10</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577530090"/>
                  </a:ext>
                </a:extLst>
              </a:tr>
              <a:tr h="1084015">
                <a:tc>
                  <a:txBody>
                    <a:bodyPr/>
                    <a:lstStyle/>
                    <a:p>
                      <a:pPr algn="ctr"/>
                      <a:r>
                        <a:rPr lang="en-US" sz="1600" b="1">
                          <a:solidFill>
                            <a:schemeClr val="accent6"/>
                          </a:solidFill>
                          <a:latin typeface="Cambria" panose="02040503050406030204" pitchFamily="18" charset="0"/>
                          <a:ea typeface="Cambria" panose="02040503050406030204" pitchFamily="18" charset="0"/>
                        </a:rPr>
                        <a:t>Precision</a:t>
                      </a:r>
                      <a:endParaRPr lang="en-US" sz="1600">
                        <a:solidFill>
                          <a:schemeClr val="accent6"/>
                        </a:solidFill>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a:latin typeface="Cambria" panose="02040503050406030204" pitchFamily="18" charset="0"/>
                          <a:ea typeface="Cambria" panose="02040503050406030204" pitchFamily="18" charset="0"/>
                        </a:rPr>
                        <a:t>Trong </a:t>
                      </a:r>
                      <a:r>
                        <a:rPr lang="en-US" sz="1600" dirty="0" err="1">
                          <a:latin typeface="Cambria" panose="02040503050406030204" pitchFamily="18" charset="0"/>
                          <a:ea typeface="Cambria" panose="02040503050406030204" pitchFamily="18" charset="0"/>
                        </a:rPr>
                        <a:t>các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mô</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hình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bao </a:t>
                      </a:r>
                      <a:r>
                        <a:rPr lang="en-US" sz="1600" dirty="0" err="1">
                          <a:latin typeface="Cambria" panose="02040503050406030204" pitchFamily="18" charset="0"/>
                          <a:ea typeface="Cambria" panose="02040503050406030204" pitchFamily="18" charset="0"/>
                        </a:rPr>
                        <a:t>nhiêu</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là</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 </a:t>
                      </a:r>
                      <a:r>
                        <a:rPr lang="en-US" sz="1600" dirty="0" err="1">
                          <a:latin typeface="Cambria" panose="02040503050406030204" pitchFamily="18" charset="0"/>
                          <a:ea typeface="Cambria" panose="02040503050406030204" pitchFamily="18" charset="0"/>
                        </a:rPr>
                        <a:t>Tránh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báo</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nhầm</a:t>
                      </a:r>
                      <a:r>
                        <a:rPr lang="en-US" sz="1600" dirty="0">
                          <a:latin typeface="Cambria" panose="02040503050406030204" pitchFamily="18" charset="0"/>
                          <a:ea typeface="Cambria" panose="02040503050406030204" pitchFamily="18" charset="0"/>
                        </a:rPr>
                        <a:t>. 𝐏 = TP / (TP + FP)</a:t>
                      </a: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Dự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đoán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tổng</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cộng</a:t>
                      </a:r>
                      <a:r>
                        <a:rPr lang="en-US" sz="1600" dirty="0">
                          <a:latin typeface="Cambria" panose="02040503050406030204" pitchFamily="18" charset="0"/>
                          <a:ea typeface="Cambria" panose="02040503050406030204" pitchFamily="18" charset="0"/>
                        </a:rPr>
                        <a:t> 55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số</a:t>
                      </a:r>
                      <a:r>
                        <a:rPr lang="en-US" sz="1600" dirty="0">
                          <a:latin typeface="Cambria" panose="02040503050406030204" pitchFamily="18" charset="0"/>
                          <a:ea typeface="Cambria" panose="02040503050406030204" pitchFamily="18" charset="0"/>
                        </a:rPr>
                        <a:t> (TP + FP = 50 + 5),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50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Precision = 50 / 55 ≈ 0.91</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1324627"/>
                  </a:ext>
                </a:extLst>
              </a:tr>
              <a:tr h="1084015">
                <a:tc>
                  <a:txBody>
                    <a:bodyPr/>
                    <a:lstStyle/>
                    <a:p>
                      <a:pPr algn="ctr"/>
                      <a:r>
                        <a:rPr lang="en-US" sz="1600" b="1" dirty="0">
                          <a:solidFill>
                            <a:schemeClr val="accent6"/>
                          </a:solidFill>
                          <a:latin typeface="Cambria" panose="02040503050406030204" pitchFamily="18" charset="0"/>
                          <a:ea typeface="Cambria" panose="02040503050406030204" pitchFamily="18" charset="0"/>
                        </a:rPr>
                        <a:t>Recall</a:t>
                      </a:r>
                      <a:endParaRPr lang="en-US" sz="1600" dirty="0">
                        <a:solidFill>
                          <a:schemeClr val="accent6"/>
                        </a:solidFill>
                        <a:latin typeface="Cambria" panose="02040503050406030204" pitchFamily="18" charset="0"/>
                        <a:ea typeface="Cambria" panose="02040503050406030204" pitchFamily="18" charset="0"/>
                      </a:endParaRPr>
                    </a:p>
                  </a:txBody>
                  <a:tcPr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vi-VN" sz="1600" dirty="0">
                          <a:latin typeface="Cambria" panose="02040503050406030204" pitchFamily="18" charset="0"/>
                          <a:ea typeface="Cambria" panose="02040503050406030204" pitchFamily="18" charset="0"/>
                        </a:rPr>
                        <a:t>Trong tất cả ảnh có biển số thật, mô hình phát hiện được bao nhiêu. → Tránh bỏ sót.</a:t>
                      </a:r>
                      <a:r>
                        <a:rPr lang="en-US" sz="1600" dirty="0">
                          <a:latin typeface="Cambria" panose="02040503050406030204" pitchFamily="18" charset="0"/>
                          <a:ea typeface="Cambria" panose="02040503050406030204" pitchFamily="18" charset="0"/>
                        </a:rPr>
                        <a:t> 𝐑 = TP / (TP + FN)</a:t>
                      </a:r>
                      <a:endParaRPr lang="vi-VN"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60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thực</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sự</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có</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biển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phát</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hiện</a:t>
                      </a:r>
                      <a:r>
                        <a:rPr lang="en-US" sz="1600" dirty="0">
                          <a:latin typeface="Cambria" panose="02040503050406030204" pitchFamily="18" charset="0"/>
                          <a:ea typeface="Cambria" panose="02040503050406030204" pitchFamily="18" charset="0"/>
                        </a:rPr>
                        <a:t> </a:t>
                      </a:r>
                      <a:r>
                        <a:rPr lang="en-US" sz="1600" dirty="0" err="1">
                          <a:latin typeface="Cambria" panose="02040503050406030204" pitchFamily="18" charset="0"/>
                          <a:ea typeface="Cambria" panose="02040503050406030204" pitchFamily="18" charset="0"/>
                        </a:rPr>
                        <a:t>đúng</a:t>
                      </a:r>
                      <a:r>
                        <a:rPr lang="en-US" sz="1600" dirty="0">
                          <a:latin typeface="Cambria" panose="02040503050406030204" pitchFamily="18" charset="0"/>
                          <a:ea typeface="Cambria" panose="02040503050406030204" pitchFamily="18" charset="0"/>
                        </a:rPr>
                        <a:t> 50 </a:t>
                      </a:r>
                      <a:r>
                        <a:rPr lang="en-US" sz="1600" dirty="0" err="1">
                          <a:latin typeface="Cambria" panose="02040503050406030204" pitchFamily="18" charset="0"/>
                          <a:ea typeface="Cambria" panose="02040503050406030204" pitchFamily="18" charset="0"/>
                        </a:rPr>
                        <a:t>ảnh</a:t>
                      </a:r>
                      <a:r>
                        <a:rPr lang="en-US" sz="1600" dirty="0">
                          <a:latin typeface="Cambria" panose="02040503050406030204" pitchFamily="18" charset="0"/>
                          <a:ea typeface="Cambria" panose="02040503050406030204" pitchFamily="18" charset="0"/>
                        </a:rPr>
                        <a:t> → </a:t>
                      </a:r>
                      <a:r>
                        <a:rPr lang="en-US" sz="1600" b="1" dirty="0">
                          <a:latin typeface="Cambria" panose="02040503050406030204" pitchFamily="18" charset="0"/>
                          <a:ea typeface="Cambria" panose="02040503050406030204" pitchFamily="18" charset="0"/>
                        </a:rPr>
                        <a:t>Recall = 50 / 60 ≈ 0.83</a:t>
                      </a:r>
                      <a:endParaRPr lang="en-US" sz="1600" dirty="0">
                        <a:latin typeface="Cambria" panose="02040503050406030204" pitchFamily="18" charset="0"/>
                        <a:ea typeface="Cambria" panose="02040503050406030204" pitchFamily="18" charset="0"/>
                      </a:endParaRPr>
                    </a:p>
                  </a:txBody>
                  <a:tcPr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622104281"/>
                  </a:ext>
                </a:extLst>
              </a:tr>
            </a:tbl>
          </a:graphicData>
        </a:graphic>
      </p:graphicFrame>
      <p:sp>
        <p:nvSpPr>
          <p:cNvPr id="5" name="TextBox 4">
            <a:extLst>
              <a:ext uri="{FF2B5EF4-FFF2-40B4-BE49-F238E27FC236}">
                <a16:creationId xmlns:a16="http://schemas.microsoft.com/office/drawing/2014/main" id="{24B3BF43-4ADC-1996-D34E-46674C9F970C}"/>
              </a:ext>
            </a:extLst>
          </p:cNvPr>
          <p:cNvSpPr txBox="1"/>
          <p:nvPr/>
        </p:nvSpPr>
        <p:spPr>
          <a:xfrm>
            <a:off x="6447865" y="990634"/>
            <a:ext cx="8700246" cy="397032"/>
          </a:xfrm>
          <a:prstGeom prst="rect">
            <a:avLst/>
          </a:prstGeom>
          <a:noFill/>
        </p:spPr>
        <p:txBody>
          <a:bodyPr wrap="square">
            <a:spAutoFit/>
          </a:bodyPr>
          <a:lstStyle/>
          <a:p>
            <a:pPr algn="ctr">
              <a:lnSpc>
                <a:spcPct val="90000"/>
              </a:lnSpc>
              <a:spcBef>
                <a:spcPts val="1000"/>
              </a:spcBef>
            </a:pPr>
            <a:r>
              <a:rPr lang="en-US" sz="2200" dirty="0"/>
              <a:t>Các </a:t>
            </a:r>
            <a:r>
              <a:rPr lang="en-US" sz="2200" dirty="0" err="1"/>
              <a:t>chỉ</a:t>
            </a:r>
            <a:r>
              <a:rPr lang="en-US" sz="2200" dirty="0"/>
              <a:t> </a:t>
            </a:r>
            <a:r>
              <a:rPr lang="en-US" sz="2200" dirty="0" err="1"/>
              <a:t>số</a:t>
            </a:r>
            <a:r>
              <a:rPr lang="en-US" sz="2200" dirty="0"/>
              <a:t> </a:t>
            </a:r>
            <a:r>
              <a:rPr lang="en-US" sz="2200" dirty="0" err="1"/>
              <a:t>quan</a:t>
            </a:r>
            <a:r>
              <a:rPr lang="en-US" sz="2200" dirty="0"/>
              <a:t> </a:t>
            </a:r>
            <a:r>
              <a:rPr lang="en-US" sz="2200" dirty="0" err="1"/>
              <a:t>trọng</a:t>
            </a:r>
            <a:r>
              <a:rPr lang="en-US" sz="2200" dirty="0"/>
              <a:t> </a:t>
            </a:r>
            <a:r>
              <a:rPr lang="en-US" sz="2200" dirty="0" err="1"/>
              <a:t>để</a:t>
            </a:r>
            <a:r>
              <a:rPr lang="en-US" sz="2200" dirty="0"/>
              <a:t> </a:t>
            </a:r>
            <a:r>
              <a:rPr lang="en-US" sz="2200" dirty="0" err="1"/>
              <a:t>dánh</a:t>
            </a:r>
            <a:r>
              <a:rPr lang="en-US" sz="2200" dirty="0"/>
              <a:t> </a:t>
            </a:r>
            <a:r>
              <a:rPr lang="en-US" sz="2200" dirty="0" err="1"/>
              <a:t>giá</a:t>
            </a:r>
            <a:endParaRPr lang="en-US" sz="2200" dirty="0"/>
          </a:p>
        </p:txBody>
      </p:sp>
    </p:spTree>
    <p:extLst>
      <p:ext uri="{BB962C8B-B14F-4D97-AF65-F5344CB8AC3E}">
        <p14:creationId xmlns:p14="http://schemas.microsoft.com/office/powerpoint/2010/main" val="258785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graph of a graph&#10;&#10;AI-generated content may be incorrect.">
            <a:extLst>
              <a:ext uri="{FF2B5EF4-FFF2-40B4-BE49-F238E27FC236}">
                <a16:creationId xmlns:a16="http://schemas.microsoft.com/office/drawing/2014/main" id="{76439F02-2A0B-8C58-0368-E28B2D5D560E}"/>
              </a:ext>
            </a:extLst>
          </p:cNvPr>
          <p:cNvPicPr>
            <a:picLocks/>
          </p:cNvPicPr>
          <p:nvPr/>
        </p:nvPicPr>
        <p:blipFill>
          <a:blip r:embed="rId3"/>
          <a:stretch>
            <a:fillRect/>
          </a:stretch>
        </p:blipFill>
        <p:spPr>
          <a:xfrm>
            <a:off x="636037" y="1200041"/>
            <a:ext cx="6679163" cy="6414248"/>
          </a:xfrm>
          <a:prstGeom prst="rect">
            <a:avLst/>
          </a:prstGeom>
          <a:ln>
            <a:noFill/>
          </a:ln>
        </p:spPr>
      </p:pic>
      <p:sp>
        <p:nvSpPr>
          <p:cNvPr id="26" name="Text 0">
            <a:extLst>
              <a:ext uri="{FF2B5EF4-FFF2-40B4-BE49-F238E27FC236}">
                <a16:creationId xmlns:a16="http://schemas.microsoft.com/office/drawing/2014/main" id="{92D0F596-869E-49BB-7FD1-DF22840EFB62}"/>
              </a:ext>
            </a:extLst>
          </p:cNvPr>
          <p:cNvSpPr/>
          <p:nvPr/>
        </p:nvSpPr>
        <p:spPr>
          <a:xfrm>
            <a:off x="4509429" y="-4767"/>
            <a:ext cx="5876211" cy="620078"/>
          </a:xfrm>
          <a:prstGeom prst="rect">
            <a:avLst/>
          </a:prstGeom>
          <a:noFill/>
          <a:ln/>
        </p:spPr>
        <p:txBody>
          <a:bodyPr wrap="none" lIns="0" tIns="0" rIns="0" bIns="0" rtlCol="0" anchor="t"/>
          <a:lstStyle/>
          <a:p>
            <a:pPr marL="0" indent="0" algn="l">
              <a:lnSpc>
                <a:spcPts val="4850"/>
              </a:lnSpc>
              <a:buNone/>
            </a:pPr>
            <a:r>
              <a:rPr lang="en-US" sz="2400" dirty="0" err="1">
                <a:solidFill>
                  <a:srgbClr val="233E32"/>
                </a:solidFill>
                <a:latin typeface="Alice" pitchFamily="34" charset="0"/>
                <a:ea typeface="Alice" pitchFamily="34" charset="-122"/>
                <a:cs typeface="Alice" pitchFamily="34" charset="-120"/>
              </a:rPr>
              <a:t>Đánh</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giá</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kết</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quả</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mô</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hình</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nhận</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diện</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ký</a:t>
            </a:r>
            <a:r>
              <a:rPr lang="en-US" sz="2400" dirty="0">
                <a:solidFill>
                  <a:srgbClr val="233E32"/>
                </a:solidFill>
                <a:latin typeface="Alice" pitchFamily="34" charset="0"/>
                <a:ea typeface="Alice" pitchFamily="34" charset="-122"/>
                <a:cs typeface="Alice" pitchFamily="34" charset="-120"/>
              </a:rPr>
              <a:t> </a:t>
            </a:r>
            <a:r>
              <a:rPr lang="en-US" sz="2400" dirty="0" err="1">
                <a:solidFill>
                  <a:srgbClr val="233E32"/>
                </a:solidFill>
                <a:latin typeface="Alice" pitchFamily="34" charset="0"/>
                <a:ea typeface="Alice" pitchFamily="34" charset="-122"/>
                <a:cs typeface="Alice" pitchFamily="34" charset="-120"/>
              </a:rPr>
              <a:t>tự</a:t>
            </a:r>
            <a:endParaRPr lang="en-US" sz="2400" dirty="0"/>
          </a:p>
        </p:txBody>
      </p:sp>
      <p:pic>
        <p:nvPicPr>
          <p:cNvPr id="8" name="Picture 7">
            <a:extLst>
              <a:ext uri="{FF2B5EF4-FFF2-40B4-BE49-F238E27FC236}">
                <a16:creationId xmlns:a16="http://schemas.microsoft.com/office/drawing/2014/main" id="{E56092EE-8640-94EC-A20F-ACC691CF7A58}"/>
              </a:ext>
            </a:extLst>
          </p:cNvPr>
          <p:cNvPicPr>
            <a:picLocks noChangeAspect="1"/>
          </p:cNvPicPr>
          <p:nvPr/>
        </p:nvPicPr>
        <p:blipFill>
          <a:blip r:embed="rId4"/>
          <a:stretch>
            <a:fillRect/>
          </a:stretch>
        </p:blipFill>
        <p:spPr>
          <a:xfrm>
            <a:off x="7947212" y="1069605"/>
            <a:ext cx="6679163" cy="6414247"/>
          </a:xfrm>
          <a:prstGeom prst="rect">
            <a:avLst/>
          </a:prstGeom>
        </p:spPr>
      </p:pic>
      <p:sp>
        <p:nvSpPr>
          <p:cNvPr id="4" name="TextBox 3">
            <a:extLst>
              <a:ext uri="{FF2B5EF4-FFF2-40B4-BE49-F238E27FC236}">
                <a16:creationId xmlns:a16="http://schemas.microsoft.com/office/drawing/2014/main" id="{E6FB6520-A799-8487-E843-FE7CF986E08C}"/>
              </a:ext>
            </a:extLst>
          </p:cNvPr>
          <p:cNvSpPr txBox="1"/>
          <p:nvPr/>
        </p:nvSpPr>
        <p:spPr>
          <a:xfrm>
            <a:off x="132334" y="831828"/>
            <a:ext cx="7315200" cy="369332"/>
          </a:xfrm>
          <a:prstGeom prst="rect">
            <a:avLst/>
          </a:prstGeom>
          <a:noFill/>
        </p:spPr>
        <p:txBody>
          <a:bodyPr wrap="square">
            <a:spAutoFit/>
          </a:bodyPr>
          <a:lstStyle/>
          <a:p>
            <a:pPr algn="ctr">
              <a:lnSpc>
                <a:spcPct val="90000"/>
              </a:lnSpc>
              <a:spcBef>
                <a:spcPts val="1000"/>
              </a:spcBef>
            </a:pPr>
            <a:r>
              <a:rPr lang="en-US" sz="2000" dirty="0" err="1"/>
              <a:t>Đồ</a:t>
            </a:r>
            <a:r>
              <a:rPr lang="en-US" sz="2000" dirty="0"/>
              <a:t> </a:t>
            </a:r>
            <a:r>
              <a:rPr lang="en-US" sz="2000" dirty="0" err="1"/>
              <a:t>thị</a:t>
            </a:r>
            <a:r>
              <a:rPr lang="en-US" sz="2000" dirty="0"/>
              <a:t> </a:t>
            </a:r>
            <a:r>
              <a:rPr lang="en-US" sz="2000" dirty="0" err="1"/>
              <a:t>của</a:t>
            </a:r>
            <a:r>
              <a:rPr lang="en-US" sz="2000" dirty="0"/>
              <a:t> </a:t>
            </a:r>
            <a:r>
              <a:rPr lang="en-US" sz="2000" dirty="0" err="1"/>
              <a:t>quá</a:t>
            </a:r>
            <a:r>
              <a:rPr lang="en-US" sz="2000" dirty="0"/>
              <a:t> </a:t>
            </a:r>
            <a:r>
              <a:rPr lang="en-US" sz="2000" dirty="0" err="1"/>
              <a:t>trình</a:t>
            </a:r>
            <a:r>
              <a:rPr lang="en-US" sz="2000" dirty="0"/>
              <a:t> training </a:t>
            </a:r>
            <a:r>
              <a:rPr lang="en-US" sz="2000" dirty="0" err="1"/>
              <a:t>nhận</a:t>
            </a:r>
            <a:r>
              <a:rPr lang="en-US" sz="2000" dirty="0"/>
              <a:t> </a:t>
            </a:r>
            <a:r>
              <a:rPr lang="en-US" sz="2000" dirty="0" err="1"/>
              <a:t>diện</a:t>
            </a:r>
            <a:r>
              <a:rPr lang="en-US" sz="2000" dirty="0"/>
              <a:t> </a:t>
            </a:r>
            <a:r>
              <a:rPr lang="en-US" sz="2000" dirty="0" err="1"/>
              <a:t>ký</a:t>
            </a:r>
            <a:r>
              <a:rPr lang="en-US" sz="2000" dirty="0"/>
              <a:t> </a:t>
            </a:r>
            <a:r>
              <a:rPr lang="en-US" sz="2000" dirty="0" err="1"/>
              <a:t>tự</a:t>
            </a:r>
            <a:endParaRPr lang="en-US" sz="2000" dirty="0"/>
          </a:p>
        </p:txBody>
      </p:sp>
      <p:sp>
        <p:nvSpPr>
          <p:cNvPr id="6" name="TextBox 5">
            <a:extLst>
              <a:ext uri="{FF2B5EF4-FFF2-40B4-BE49-F238E27FC236}">
                <a16:creationId xmlns:a16="http://schemas.microsoft.com/office/drawing/2014/main" id="{5E3F26B2-FA0E-C7C4-0B58-A09E1D3FB633}"/>
              </a:ext>
            </a:extLst>
          </p:cNvPr>
          <p:cNvSpPr txBox="1"/>
          <p:nvPr/>
        </p:nvSpPr>
        <p:spPr>
          <a:xfrm>
            <a:off x="7602299" y="831828"/>
            <a:ext cx="7368988" cy="369332"/>
          </a:xfrm>
          <a:prstGeom prst="rect">
            <a:avLst/>
          </a:prstGeom>
          <a:noFill/>
        </p:spPr>
        <p:txBody>
          <a:bodyPr wrap="square">
            <a:spAutoFit/>
          </a:bodyPr>
          <a:lstStyle/>
          <a:p>
            <a:pPr algn="ctr">
              <a:lnSpc>
                <a:spcPct val="90000"/>
              </a:lnSpc>
              <a:spcBef>
                <a:spcPts val="1000"/>
              </a:spcBef>
            </a:pPr>
            <a:r>
              <a:rPr lang="en-US" sz="2000" dirty="0"/>
              <a:t>Ma </a:t>
            </a:r>
            <a:r>
              <a:rPr lang="en-US" sz="2000" dirty="0" err="1"/>
              <a:t>trận</a:t>
            </a:r>
            <a:r>
              <a:rPr lang="en-US" sz="2000" dirty="0"/>
              <a:t> </a:t>
            </a:r>
            <a:r>
              <a:rPr lang="en-US" sz="2000" dirty="0" err="1"/>
              <a:t>nhầm</a:t>
            </a:r>
            <a:r>
              <a:rPr lang="en-US" sz="2000" dirty="0"/>
              <a:t> </a:t>
            </a:r>
            <a:r>
              <a:rPr lang="en-US" sz="2000" dirty="0" err="1"/>
              <a:t>lẫn</a:t>
            </a:r>
            <a:endParaRPr lang="en-US" sz="2000" dirty="0"/>
          </a:p>
        </p:txBody>
      </p:sp>
    </p:spTree>
    <p:extLst>
      <p:ext uri="{BB962C8B-B14F-4D97-AF65-F5344CB8AC3E}">
        <p14:creationId xmlns:p14="http://schemas.microsoft.com/office/powerpoint/2010/main" val="3456664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2209" y="2020014"/>
            <a:ext cx="6782991" cy="620078"/>
          </a:xfrm>
          <a:prstGeom prst="rect">
            <a:avLst/>
          </a:prstGeom>
          <a:noFill/>
          <a:ln/>
        </p:spPr>
        <p:txBody>
          <a:bodyPr wrap="none" lIns="0" tIns="0" rIns="0" bIns="0" rtlCol="0" anchor="t"/>
          <a:lstStyle/>
          <a:p>
            <a:pPr marL="0" indent="0" algn="l">
              <a:lnSpc>
                <a:spcPts val="4850"/>
              </a:lnSpc>
              <a:buNone/>
            </a:pPr>
            <a:r>
              <a:rPr lang="en-US" sz="3900" dirty="0">
                <a:solidFill>
                  <a:srgbClr val="233E32"/>
                </a:solidFill>
                <a:latin typeface="Alice" pitchFamily="34" charset="0"/>
                <a:ea typeface="Alice" pitchFamily="34" charset="-122"/>
                <a:cs typeface="Alice" pitchFamily="34" charset="-120"/>
              </a:rPr>
              <a:t>5. </a:t>
            </a:r>
            <a:r>
              <a:rPr lang="en-US" sz="3900" dirty="0" err="1">
                <a:solidFill>
                  <a:srgbClr val="233E32"/>
                </a:solidFill>
                <a:latin typeface="Alice" pitchFamily="34" charset="0"/>
                <a:ea typeface="Alice" pitchFamily="34" charset="-122"/>
                <a:cs typeface="Alice" pitchFamily="34" charset="-120"/>
              </a:rPr>
              <a:t>Kết</a:t>
            </a:r>
            <a:r>
              <a:rPr lang="en-US" sz="3900" dirty="0">
                <a:solidFill>
                  <a:srgbClr val="233E32"/>
                </a:solidFill>
                <a:latin typeface="Alice" pitchFamily="34" charset="0"/>
                <a:ea typeface="Alice" pitchFamily="34" charset="-122"/>
                <a:cs typeface="Alice" pitchFamily="34" charset="-120"/>
              </a:rPr>
              <a:t> Luận và Hướng Phát Triển</a:t>
            </a:r>
            <a:endParaRPr lang="en-US" sz="3900" dirty="0"/>
          </a:p>
        </p:txBody>
      </p:sp>
      <p:sp>
        <p:nvSpPr>
          <p:cNvPr id="4" name="Text 2"/>
          <p:cNvSpPr/>
          <p:nvPr/>
        </p:nvSpPr>
        <p:spPr>
          <a:xfrm>
            <a:off x="793790" y="3353803"/>
            <a:ext cx="2480905" cy="310158"/>
          </a:xfrm>
          <a:prstGeom prst="rect">
            <a:avLst/>
          </a:prstGeom>
          <a:noFill/>
          <a:ln/>
        </p:spPr>
        <p:txBody>
          <a:bodyPr wrap="none" lIns="0" tIns="0" rIns="0" bIns="0" rtlCol="0" anchor="t"/>
          <a:lstStyle/>
          <a:p>
            <a:pPr marL="0" indent="0" algn="l">
              <a:lnSpc>
                <a:spcPts val="2400"/>
              </a:lnSpc>
              <a:buNone/>
            </a:pPr>
            <a:r>
              <a:rPr lang="en-US" sz="1950" dirty="0" err="1">
                <a:solidFill>
                  <a:srgbClr val="233E32"/>
                </a:solidFill>
                <a:latin typeface="Alice" pitchFamily="34" charset="0"/>
                <a:ea typeface="Alice" pitchFamily="34" charset="-122"/>
              </a:rPr>
              <a:t>Kết</a:t>
            </a:r>
            <a:r>
              <a:rPr lang="en-US" sz="1950" dirty="0">
                <a:solidFill>
                  <a:srgbClr val="233E32"/>
                </a:solidFill>
                <a:latin typeface="Alice" pitchFamily="34" charset="0"/>
                <a:ea typeface="Alice" pitchFamily="34" charset="-122"/>
              </a:rPr>
              <a:t> </a:t>
            </a:r>
            <a:r>
              <a:rPr lang="en-US" sz="1950" dirty="0" err="1">
                <a:solidFill>
                  <a:srgbClr val="233E32"/>
                </a:solidFill>
                <a:latin typeface="Alice" pitchFamily="34" charset="0"/>
                <a:ea typeface="Alice" pitchFamily="34" charset="-122"/>
              </a:rPr>
              <a:t>luận</a:t>
            </a:r>
            <a:endParaRPr lang="en-US" sz="1950" dirty="0"/>
          </a:p>
        </p:txBody>
      </p:sp>
      <p:sp>
        <p:nvSpPr>
          <p:cNvPr id="5" name="Text 3"/>
          <p:cNvSpPr/>
          <p:nvPr/>
        </p:nvSpPr>
        <p:spPr>
          <a:xfrm>
            <a:off x="793790" y="379467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2C2821"/>
                </a:solidFill>
                <a:latin typeface="Lora" pitchFamily="34" charset="0"/>
                <a:ea typeface="Lora" pitchFamily="34" charset="-122"/>
                <a:cs typeface="Lora" pitchFamily="34" charset="-120"/>
              </a:rPr>
              <a:t>Mô</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hình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nhận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biển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số</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hoạt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động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ổn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định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độ</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chính</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xác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cao</a:t>
            </a:r>
            <a:endParaRPr lang="en-US" sz="1550" dirty="0"/>
          </a:p>
        </p:txBody>
      </p:sp>
      <p:sp>
        <p:nvSpPr>
          <p:cNvPr id="6" name="Text 4"/>
          <p:cNvSpPr/>
          <p:nvPr/>
        </p:nvSpPr>
        <p:spPr>
          <a:xfrm>
            <a:off x="793790" y="4181628"/>
            <a:ext cx="6279356" cy="1085171"/>
          </a:xfrm>
          <a:prstGeom prst="rect">
            <a:avLst/>
          </a:prstGeom>
          <a:noFill/>
          <a:ln/>
        </p:spPr>
        <p:txBody>
          <a:bodyPr wrap="none" lIns="0" tIns="0" rIns="0" bIns="0" rtlCol="0" anchor="t"/>
          <a:lstStyle/>
          <a:p>
            <a:pPr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Giao </a:t>
            </a:r>
            <a:r>
              <a:rPr lang="en-US" sz="1550" dirty="0" err="1">
                <a:solidFill>
                  <a:srgbClr val="2C2821"/>
                </a:solidFill>
                <a:latin typeface="Lora" pitchFamily="34" charset="0"/>
                <a:ea typeface="Lora" pitchFamily="34" charset="-122"/>
                <a:cs typeface="Lora" pitchFamily="34" charset="-120"/>
              </a:rPr>
              <a:t>diện</a:t>
            </a:r>
            <a:r>
              <a:rPr lang="en-US" sz="1550" dirty="0">
                <a:solidFill>
                  <a:srgbClr val="2C2821"/>
                </a:solidFill>
                <a:latin typeface="Lora" pitchFamily="34" charset="0"/>
                <a:ea typeface="Lora" pitchFamily="34" charset="-122"/>
                <a:cs typeface="Lora" pitchFamily="34" charset="-120"/>
              </a:rPr>
              <a:t> website </a:t>
            </a:r>
            <a:r>
              <a:rPr lang="en-US" sz="1550" dirty="0" err="1">
                <a:solidFill>
                  <a:srgbClr val="2C2821"/>
                </a:solidFill>
                <a:latin typeface="Lora" pitchFamily="34" charset="0"/>
                <a:ea typeface="Lora" pitchFamily="34" charset="-122"/>
                <a:cs typeface="Lora" pitchFamily="34" charset="-120"/>
              </a:rPr>
              <a:t>trực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quan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chức</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năng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đăng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ký</a:t>
            </a:r>
            <a:r>
              <a:rPr lang="en-US" sz="1550" dirty="0">
                <a:solidFill>
                  <a:srgbClr val="2C2821"/>
                </a:solidFill>
                <a:latin typeface="Lora" pitchFamily="34" charset="0"/>
                <a:ea typeface="Lora" pitchFamily="34" charset="-122"/>
                <a:cs typeface="Lora" pitchFamily="34" charset="-120"/>
              </a:rPr>
              <a:t> </a:t>
            </a:r>
          </a:p>
          <a:p>
            <a:pPr>
              <a:lnSpc>
                <a:spcPts val="2500"/>
              </a:lnSpc>
              <a:buSzPct val="100000"/>
            </a:pP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và</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tạo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tài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khoản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đáp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ứng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đầy</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đủ</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yêu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cầu</a:t>
            </a:r>
            <a:r>
              <a:rPr lang="en-US" sz="1550" dirty="0">
                <a:solidFill>
                  <a:srgbClr val="2C2821"/>
                </a:solidFill>
                <a:latin typeface="Lora" pitchFamily="34" charset="0"/>
                <a:ea typeface="Lora" pitchFamily="34" charset="-122"/>
                <a:cs typeface="Lora" pitchFamily="34" charset="-120"/>
              </a:rPr>
              <a:t>.</a:t>
            </a:r>
            <a:endParaRPr lang="en-US" sz="1550" dirty="0"/>
          </a:p>
        </p:txBody>
      </p:sp>
      <p:sp>
        <p:nvSpPr>
          <p:cNvPr id="7" name="Text 5"/>
          <p:cNvSpPr/>
          <p:nvPr/>
        </p:nvSpPr>
        <p:spPr>
          <a:xfrm>
            <a:off x="793790" y="4860916"/>
            <a:ext cx="6279356" cy="317540"/>
          </a:xfrm>
          <a:prstGeom prst="rect">
            <a:avLst/>
          </a:prstGeom>
          <a:noFill/>
          <a:ln/>
        </p:spPr>
        <p:txBody>
          <a:bodyPr wrap="none" lIns="0" tIns="0" rIns="0" bIns="0" rtlCol="0" anchor="t"/>
          <a:lstStyle/>
          <a:p>
            <a:pPr marL="342900" indent="-342900">
              <a:lnSpc>
                <a:spcPts val="2500"/>
              </a:lnSpc>
              <a:buSzPct val="100000"/>
              <a:buChar char="•"/>
            </a:pPr>
            <a:r>
              <a:rPr lang="vi-VN" sz="1550" dirty="0">
                <a:solidFill>
                  <a:srgbClr val="2C2821"/>
                </a:solidFill>
                <a:latin typeface="Lora" pitchFamily="34" charset="0"/>
                <a:ea typeface="Lora" pitchFamily="34" charset="-122"/>
                <a:cs typeface="Lora" pitchFamily="34" charset="-120"/>
              </a:rPr>
              <a:t>Cơ sở dữ liệu được thiết kế đơn giản, mạch lạc, với mối quan </a:t>
            </a:r>
            <a:endParaRPr lang="en-US" sz="1550" dirty="0">
              <a:solidFill>
                <a:srgbClr val="2C2821"/>
              </a:solidFill>
              <a:latin typeface="Lora" pitchFamily="34" charset="0"/>
              <a:ea typeface="Lora" pitchFamily="34" charset="-122"/>
              <a:cs typeface="Lora" pitchFamily="34" charset="-120"/>
            </a:endParaRPr>
          </a:p>
          <a:p>
            <a:pPr>
              <a:lnSpc>
                <a:spcPts val="2500"/>
              </a:lnSpc>
              <a:buSzPct val="100000"/>
            </a:pPr>
            <a:r>
              <a:rPr lang="en-US" sz="1550" dirty="0">
                <a:solidFill>
                  <a:srgbClr val="2C2821"/>
                </a:solidFill>
                <a:latin typeface="Lora" pitchFamily="34" charset="0"/>
                <a:ea typeface="Lora" pitchFamily="34" charset="-122"/>
                <a:cs typeface="Lora" pitchFamily="34" charset="-120"/>
              </a:rPr>
              <a:t>       </a:t>
            </a:r>
            <a:r>
              <a:rPr lang="vi-VN" sz="1550" dirty="0">
                <a:solidFill>
                  <a:srgbClr val="2C2821"/>
                </a:solidFill>
                <a:latin typeface="Lora" pitchFamily="34" charset="0"/>
                <a:ea typeface="Lora" pitchFamily="34" charset="-122"/>
                <a:cs typeface="Lora" pitchFamily="34" charset="-120"/>
              </a:rPr>
              <a:t>hệ giữa các thực thể rõ ràng và hợp lý. </a:t>
            </a:r>
            <a:endParaRPr lang="en-US" sz="1550" dirty="0"/>
          </a:p>
        </p:txBody>
      </p:sp>
      <p:sp>
        <p:nvSpPr>
          <p:cNvPr id="8" name="Text 6"/>
          <p:cNvSpPr/>
          <p:nvPr/>
        </p:nvSpPr>
        <p:spPr>
          <a:xfrm>
            <a:off x="7564874" y="334167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33E32"/>
                </a:solidFill>
                <a:latin typeface="Alice" pitchFamily="34" charset="0"/>
                <a:ea typeface="Alice" pitchFamily="34" charset="-122"/>
                <a:cs typeface="Alice" pitchFamily="34" charset="-120"/>
              </a:rPr>
              <a:t>Hướng Phát Triển</a:t>
            </a:r>
            <a:endParaRPr lang="en-US" sz="1950" dirty="0"/>
          </a:p>
        </p:txBody>
      </p:sp>
      <p:sp>
        <p:nvSpPr>
          <p:cNvPr id="9" name="Text 7"/>
          <p:cNvSpPr/>
          <p:nvPr/>
        </p:nvSpPr>
        <p:spPr>
          <a:xfrm>
            <a:off x="7564873" y="3794676"/>
            <a:ext cx="6514197"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C2821"/>
                </a:solidFill>
                <a:latin typeface="Lora" pitchFamily="34" charset="0"/>
                <a:ea typeface="Lora" pitchFamily="34" charset="-122"/>
                <a:cs typeface="Lora" pitchFamily="34" charset="-120"/>
              </a:rPr>
              <a:t>Cải thiện hiệu suất trong điều kiện ánh sáng yếu hoặc thời tiết xấu.</a:t>
            </a:r>
            <a:endParaRPr lang="en-US" sz="1550" dirty="0"/>
          </a:p>
        </p:txBody>
      </p:sp>
      <p:sp>
        <p:nvSpPr>
          <p:cNvPr id="10" name="Text 8"/>
          <p:cNvSpPr/>
          <p:nvPr/>
        </p:nvSpPr>
        <p:spPr>
          <a:xfrm>
            <a:off x="7564874" y="420889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821"/>
                </a:solidFill>
                <a:latin typeface="Lora" pitchFamily="34" charset="0"/>
                <a:ea typeface="Lora" pitchFamily="34" charset="-122"/>
                <a:cs typeface="Lora" pitchFamily="34" charset="-120"/>
              </a:rPr>
              <a:t>Hỗ trợ nhận diện biển số bị che khuất một phần hoặc bị hỏng.</a:t>
            </a:r>
            <a:endParaRPr lang="en-US" sz="1550" dirty="0"/>
          </a:p>
        </p:txBody>
      </p:sp>
      <p:sp>
        <p:nvSpPr>
          <p:cNvPr id="11" name="Text 9"/>
          <p:cNvSpPr/>
          <p:nvPr/>
        </p:nvSpPr>
        <p:spPr>
          <a:xfrm>
            <a:off x="7576781" y="4623112"/>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C2821"/>
                </a:solidFill>
                <a:latin typeface="Lora" pitchFamily="34" charset="0"/>
                <a:ea typeface="Lora" pitchFamily="34" charset="-122"/>
                <a:cs typeface="Lora" pitchFamily="34" charset="-120"/>
              </a:rPr>
              <a:t>Tích hợp thêm các tính năng phân tích dữ liệu </a:t>
            </a:r>
            <a:r>
              <a:rPr lang="en-US" sz="1550" dirty="0" err="1">
                <a:solidFill>
                  <a:srgbClr val="2C2821"/>
                </a:solidFill>
                <a:latin typeface="Lora" pitchFamily="34" charset="0"/>
                <a:ea typeface="Lora" pitchFamily="34" charset="-122"/>
                <a:cs typeface="Lora" pitchFamily="34" charset="-120"/>
              </a:rPr>
              <a:t>nâng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cao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triển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khai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hệ</a:t>
            </a:r>
            <a:r>
              <a:rPr lang="en-US" sz="1550" dirty="0">
                <a:solidFill>
                  <a:srgbClr val="2C2821"/>
                </a:solidFill>
                <a:latin typeface="Lora" pitchFamily="34" charset="0"/>
                <a:ea typeface="Lora" pitchFamily="34" charset="-122"/>
                <a:cs typeface="Lora" pitchFamily="34" charset="-120"/>
              </a:rPr>
              <a:t>    </a:t>
            </a:r>
          </a:p>
          <a:p>
            <a:pPr algn="l">
              <a:lnSpc>
                <a:spcPts val="2500"/>
              </a:lnSpc>
              <a:buSzPct val="100000"/>
            </a:pP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thống</a:t>
            </a:r>
            <a:r>
              <a:rPr lang="en-US" sz="1550" dirty="0">
                <a:solidFill>
                  <a:srgbClr val="2C2821"/>
                </a:solidFill>
                <a:latin typeface="Lora" pitchFamily="34" charset="0"/>
                <a:ea typeface="Lora" pitchFamily="34" charset="-122"/>
                <a:cs typeface="Lora" pitchFamily="34" charset="-120"/>
              </a:rPr>
              <a:t> website </a:t>
            </a:r>
            <a:r>
              <a:rPr lang="en-US" sz="1550" dirty="0" err="1">
                <a:solidFill>
                  <a:srgbClr val="2C2821"/>
                </a:solidFill>
                <a:latin typeface="Lora" pitchFamily="34" charset="0"/>
                <a:ea typeface="Lora" pitchFamily="34" charset="-122"/>
                <a:cs typeface="Lora" pitchFamily="34" charset="-120"/>
              </a:rPr>
              <a:t>lên</a:t>
            </a:r>
            <a:r>
              <a:rPr lang="en-US" sz="1550" dirty="0">
                <a:solidFill>
                  <a:srgbClr val="2C2821"/>
                </a:solidFill>
                <a:latin typeface="Lora" pitchFamily="34" charset="0"/>
                <a:ea typeface="Lora" pitchFamily="34" charset="-122"/>
                <a:cs typeface="Lora" pitchFamily="34" charset="-120"/>
              </a:rPr>
              <a:t> internet.</a:t>
            </a:r>
            <a:endParaRPr lang="en-US" sz="1550" dirty="0"/>
          </a:p>
        </p:txBody>
      </p:sp>
      <p:sp>
        <p:nvSpPr>
          <p:cNvPr id="14" name="Text 9">
            <a:extLst>
              <a:ext uri="{FF2B5EF4-FFF2-40B4-BE49-F238E27FC236}">
                <a16:creationId xmlns:a16="http://schemas.microsoft.com/office/drawing/2014/main" id="{7E013052-D22E-7F7F-817C-A490E2D3F681}"/>
              </a:ext>
            </a:extLst>
          </p:cNvPr>
          <p:cNvSpPr/>
          <p:nvPr/>
        </p:nvSpPr>
        <p:spPr>
          <a:xfrm>
            <a:off x="7564873" y="5311154"/>
            <a:ext cx="83983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err="1">
                <a:solidFill>
                  <a:srgbClr val="2C2821"/>
                </a:solidFill>
                <a:latin typeface="Lora" pitchFamily="34" charset="0"/>
                <a:ea typeface="Lora" pitchFamily="34" charset="-122"/>
                <a:cs typeface="Lora" pitchFamily="34" charset="-120"/>
              </a:rPr>
              <a:t>Sử</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dụng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các</a:t>
            </a:r>
            <a:r>
              <a:rPr lang="en-US" sz="1550" dirty="0">
                <a:solidFill>
                  <a:srgbClr val="2C2821"/>
                </a:solidFill>
                <a:latin typeface="Lora" pitchFamily="34" charset="0"/>
                <a:ea typeface="Lora" pitchFamily="34" charset="-122"/>
                <a:cs typeface="Lora" pitchFamily="34" charset="-120"/>
              </a:rPr>
              <a:t> camera </a:t>
            </a:r>
            <a:r>
              <a:rPr lang="en-US" sz="1550" dirty="0" err="1">
                <a:solidFill>
                  <a:srgbClr val="2C2821"/>
                </a:solidFill>
                <a:latin typeface="Lora" pitchFamily="34" charset="0"/>
                <a:ea typeface="Lora" pitchFamily="34" charset="-122"/>
                <a:cs typeface="Lora" pitchFamily="34" charset="-120"/>
              </a:rPr>
              <a:t>cao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cấp</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hơn</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để</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mang</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lại</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hiệu</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suất</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cao</a:t>
            </a:r>
            <a:r>
              <a:rPr lang="en-US" sz="1550" dirty="0">
                <a:solidFill>
                  <a:srgbClr val="2C2821"/>
                </a:solidFill>
                <a:latin typeface="Lora" pitchFamily="34" charset="0"/>
                <a:ea typeface="Lora" pitchFamily="34" charset="-122"/>
                <a:cs typeface="Lora" pitchFamily="34" charset="-120"/>
              </a:rPr>
              <a:t> </a:t>
            </a:r>
            <a:r>
              <a:rPr lang="en-US" sz="1550" dirty="0" err="1">
                <a:solidFill>
                  <a:srgbClr val="2C2821"/>
                </a:solidFill>
                <a:latin typeface="Lora" pitchFamily="34" charset="0"/>
                <a:ea typeface="Lora" pitchFamily="34" charset="-122"/>
                <a:cs typeface="Lora" pitchFamily="34" charset="-120"/>
              </a:rPr>
              <a:t>hơn</a:t>
            </a:r>
            <a:endParaRPr lang="en-US" sz="1550" dirty="0">
              <a:solidFill>
                <a:srgbClr val="2C2821"/>
              </a:solidFill>
              <a:latin typeface="Lora" pitchFamily="34" charset="0"/>
              <a:ea typeface="Lora" pitchFamily="34" charset="-122"/>
              <a:cs typeface="Lora"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8B94-D64F-E060-5F2C-05C56ED9BD1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B98A35C-B25C-907D-748A-33C867FE1171}"/>
              </a:ext>
            </a:extLst>
          </p:cNvPr>
          <p:cNvSpPr txBox="1"/>
          <p:nvPr/>
        </p:nvSpPr>
        <p:spPr>
          <a:xfrm>
            <a:off x="5701552" y="-68190"/>
            <a:ext cx="7315200" cy="696986"/>
          </a:xfrm>
          <a:prstGeom prst="rect">
            <a:avLst/>
          </a:prstGeom>
          <a:noFill/>
        </p:spPr>
        <p:txBody>
          <a:bodyPr wrap="square">
            <a:spAutoFit/>
          </a:bodyPr>
          <a:lstStyle/>
          <a:p>
            <a:pPr marL="0" indent="0" algn="l">
              <a:lnSpc>
                <a:spcPts val="4850"/>
              </a:lnSpc>
              <a:buNone/>
            </a:pPr>
            <a:r>
              <a:rPr lang="en-US" sz="4000" dirty="0">
                <a:solidFill>
                  <a:srgbClr val="233E32"/>
                </a:solidFill>
                <a:latin typeface="Alice" pitchFamily="34" charset="0"/>
                <a:ea typeface="Alice" pitchFamily="34" charset="-122"/>
                <a:cs typeface="Alice" pitchFamily="34" charset="-120"/>
              </a:rPr>
              <a:t>6. DEMO</a:t>
            </a:r>
            <a:endParaRPr lang="en-US" sz="4000" dirty="0"/>
          </a:p>
        </p:txBody>
      </p:sp>
    </p:spTree>
    <p:extLst>
      <p:ext uri="{BB962C8B-B14F-4D97-AF65-F5344CB8AC3E}">
        <p14:creationId xmlns:p14="http://schemas.microsoft.com/office/powerpoint/2010/main" val="364078006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446</TotalTime>
  <Words>2520</Words>
  <Application>Microsoft Office PowerPoint</Application>
  <PresentationFormat>Custom</PresentationFormat>
  <Paragraphs>157</Paragraphs>
  <Slides>14</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Cambria</vt:lpstr>
      <vt:lpstr>Hanken Grotesk</vt:lpstr>
      <vt:lpstr>Lora</vt:lpstr>
      <vt:lpstr>Calibri Light</vt:lpstr>
      <vt:lpstr>Consolas</vt:lpstr>
      <vt:lpstr>Arial</vt:lpstr>
      <vt:lpstr>Figtree Black</vt:lpstr>
      <vt:lpstr>Calibri</vt:lpstr>
      <vt:lpstr>Alice</vt:lpstr>
      <vt:lpstr>Office 2013 - 2022 Theme</vt:lpstr>
      <vt:lpstr>PowerPoint Presentation</vt:lpstr>
      <vt:lpstr>Mục lục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MINH TRÍ</cp:lastModifiedBy>
  <cp:revision>300</cp:revision>
  <dcterms:created xsi:type="dcterms:W3CDTF">2025-07-06T23:46:08Z</dcterms:created>
  <dcterms:modified xsi:type="dcterms:W3CDTF">2025-08-03T15:09:26Z</dcterms:modified>
</cp:coreProperties>
</file>