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61" r:id="rId1"/>
  </p:sldMasterIdLst>
  <p:notesMasterIdLst>
    <p:notesMasterId r:id="rId17"/>
  </p:notesMasterIdLst>
  <p:sldIdLst>
    <p:sldId id="256" r:id="rId2"/>
    <p:sldId id="258" r:id="rId3"/>
    <p:sldId id="257" r:id="rId4"/>
    <p:sldId id="259" r:id="rId5"/>
    <p:sldId id="263" r:id="rId6"/>
    <p:sldId id="271" r:id="rId7"/>
    <p:sldId id="260" r:id="rId8"/>
    <p:sldId id="262" r:id="rId9"/>
    <p:sldId id="268" r:id="rId10"/>
    <p:sldId id="272" r:id="rId11"/>
    <p:sldId id="269" r:id="rId12"/>
    <p:sldId id="267" r:id="rId13"/>
    <p:sldId id="266" r:id="rId14"/>
    <p:sldId id="265" r:id="rId15"/>
    <p:sldId id="270" r:id="rId16"/>
  </p:sldIdLst>
  <p:sldSz cx="14630400" cy="8229600"/>
  <p:notesSz cx="8229600" cy="14630400"/>
  <p:embeddedFontLst>
    <p:embeddedFont>
      <p:font typeface="Alice" panose="020B0604020202020204" charset="0"/>
      <p:regular r:id="rId18"/>
    </p:embeddedFont>
    <p:embeddedFont>
      <p:font typeface="Cambria" panose="02040503050406030204" pitchFamily="18" charset="0"/>
      <p:regular r:id="rId19"/>
      <p:bold r:id="rId20"/>
      <p:italic r:id="rId21"/>
      <p:boldItalic r:id="rId22"/>
    </p:embeddedFont>
    <p:embeddedFont>
      <p:font typeface="Cambria Math" panose="02040503050406030204" pitchFamily="18" charset="0"/>
      <p:regular r:id="rId23"/>
    </p:embeddedFont>
    <p:embeddedFont>
      <p:font typeface="Consolas" panose="020B0609020204030204" pitchFamily="49" charset="0"/>
      <p:regular r:id="rId24"/>
      <p:bold r:id="rId25"/>
      <p:italic r:id="rId26"/>
      <p:boldItalic r:id="rId27"/>
    </p:embeddedFont>
    <p:embeddedFont>
      <p:font typeface="Figtree Black" panose="020B0604020202020204" charset="0"/>
      <p:bold r:id="rId28"/>
      <p:boldItalic r:id="rId29"/>
    </p:embeddedFont>
    <p:embeddedFont>
      <p:font typeface="Hanken Grotesk" panose="020B0604020202020204" charset="0"/>
      <p:regular r:id="rId30"/>
      <p:bold r:id="rId31"/>
      <p:italic r:id="rId32"/>
      <p:boldItalic r:id="rId33"/>
    </p:embeddedFont>
    <p:embeddedFont>
      <p:font typeface="Lora" pitchFamily="2" charset="0"/>
      <p:regular r:id="rId34"/>
      <p:bold r:id="rId35"/>
      <p:italic r:id="rId36"/>
      <p:boldItalic r:id="rId37"/>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83660" autoAdjust="0"/>
  </p:normalViewPr>
  <p:slideViewPr>
    <p:cSldViewPr snapToGrid="0" snapToObjects="1">
      <p:cViewPr varScale="1">
        <p:scale>
          <a:sx n="58" d="100"/>
          <a:sy n="58" d="100"/>
        </p:scale>
        <p:origin x="1176" y="62"/>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9" Type="http://schemas.openxmlformats.org/officeDocument/2006/relationships/viewProps" Target="viewProps.xml"/><Relationship Id="rId21" Type="http://schemas.openxmlformats.org/officeDocument/2006/relationships/font" Target="fonts/font4.fntdata"/><Relationship Id="rId34" Type="http://schemas.openxmlformats.org/officeDocument/2006/relationships/font" Target="fonts/font17.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font" Target="fonts/font15.fntdata"/><Relationship Id="rId37" Type="http://schemas.openxmlformats.org/officeDocument/2006/relationships/font" Target="fonts/font20.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font" Target="fonts/font19.fntdata"/><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font" Target="fonts/font18.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font" Target="fonts/font16.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05050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2768bdccc6f_2_1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 name="Google Shape;302;g2768bdccc6f_2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213B3-D7D5-4CEF-E140-A243F3B43A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611C14-95AF-AC48-8E6D-3B478E594E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4C107E-E06F-3B66-FDCA-3D67F25FE396}"/>
              </a:ext>
            </a:extLst>
          </p:cNvPr>
          <p:cNvSpPr>
            <a:spLocks noGrp="1"/>
          </p:cNvSpPr>
          <p:nvPr>
            <p:ph type="body" idx="1"/>
          </p:nvPr>
        </p:nvSpPr>
        <p:spPr/>
        <p:txBody>
          <a:bodyPr/>
          <a:lstStyle/>
          <a:p>
            <a:r>
              <a:rPr lang="vi-VN" b="1" dirty="0"/>
              <a:t>Kết Quả Huấn Luyện Mô Hình Phát Hiện Biển Số (YOLOv5 - Plate Detection)</a:t>
            </a:r>
          </a:p>
          <a:p>
            <a:r>
              <a:rPr lang="vi-VN" dirty="0"/>
              <a:t>Mô hình YOLOv5 dùng để </a:t>
            </a:r>
            <a:r>
              <a:rPr lang="vi-VN" b="1" dirty="0"/>
              <a:t>xác định vị trí biển số xe trong ảnh</a:t>
            </a:r>
            <a:r>
              <a:rPr lang="vi-VN" dirty="0"/>
              <a:t>, chuẩn bị cho bước trích xuất ký tự.</a:t>
            </a:r>
          </a:p>
          <a:p>
            <a:r>
              <a:rPr lang="vi-VN" dirty="0"/>
              <a:t>Bộ dữ liệu: </a:t>
            </a:r>
            <a:r>
              <a:rPr lang="vi-VN" b="1" dirty="0"/>
              <a:t>1652 ảnh</a:t>
            </a:r>
            <a:r>
              <a:rPr lang="vi-VN" dirty="0"/>
              <a:t>, chứa </a:t>
            </a:r>
            <a:r>
              <a:rPr lang="vi-VN" b="1" dirty="0"/>
              <a:t>1667 instance biển số</a:t>
            </a:r>
            <a:r>
              <a:rPr lang="vi-VN" dirty="0"/>
              <a:t>, huấn luyện trong </a:t>
            </a:r>
            <a:r>
              <a:rPr lang="vi-VN" b="1" dirty="0"/>
              <a:t>30 epochs (~34 phút)</a:t>
            </a:r>
            <a:r>
              <a:rPr lang="vi-VN" dirty="0"/>
              <a:t>.</a:t>
            </a:r>
          </a:p>
          <a:p>
            <a:r>
              <a:rPr lang="vi-VN" b="1" dirty="0"/>
              <a:t>Precision (P)</a:t>
            </a:r>
            <a:r>
              <a:rPr lang="en-US" b="1" dirty="0"/>
              <a:t>: </a:t>
            </a:r>
            <a:r>
              <a:rPr lang="vi-VN" dirty="0"/>
              <a:t>0.996Gần như không có báo động giả, mô hình cực kỳ chính xác khi dự đoán biển số.</a:t>
            </a:r>
            <a:endParaRPr lang="en-US" dirty="0"/>
          </a:p>
          <a:p>
            <a:r>
              <a:rPr lang="vi-VN" b="1" dirty="0"/>
              <a:t>Recall (R)</a:t>
            </a:r>
            <a:r>
              <a:rPr lang="en-US" b="1" dirty="0"/>
              <a:t>: </a:t>
            </a:r>
            <a:r>
              <a:rPr lang="vi-VN" dirty="0"/>
              <a:t>0.995Tìm được hầu như toàn bộ biển số thực tế trong ảnh.</a:t>
            </a:r>
            <a:endParaRPr lang="en-US" dirty="0"/>
          </a:p>
          <a:p>
            <a:r>
              <a:rPr lang="vi-VN" b="1" dirty="0"/>
              <a:t>mAP@0.5</a:t>
            </a:r>
            <a:r>
              <a:rPr lang="en-US" b="1" dirty="0"/>
              <a:t>: </a:t>
            </a:r>
            <a:r>
              <a:rPr lang="vi-VN" dirty="0"/>
              <a:t>0.995Mô hình xác định rất chính xác vùng chứa biển số.</a:t>
            </a:r>
            <a:endParaRPr lang="en-US" dirty="0"/>
          </a:p>
          <a:p>
            <a:r>
              <a:rPr lang="vi-VN" b="1" dirty="0"/>
              <a:t>mAP@0.5:0.95</a:t>
            </a:r>
            <a:r>
              <a:rPr lang="en-US" b="1" dirty="0"/>
              <a:t>: </a:t>
            </a:r>
            <a:r>
              <a:rPr lang="vi-VN" dirty="0"/>
              <a:t>0.733Hiệu quả tốt ngay cả với các trường hợp khó, như biển số nghiêng, mờ hoặc bị che khuất một phần.</a:t>
            </a:r>
          </a:p>
          <a:p>
            <a:r>
              <a:rPr lang="vi-VN" dirty="0"/>
              <a:t>Với độ chính xác cao gần như tuyệt đối, mô hình này là </a:t>
            </a:r>
            <a:r>
              <a:rPr lang="vi-VN" b="1" dirty="0"/>
              <a:t>bước đầu lý tưởng trong pipeline</a:t>
            </a:r>
            <a:r>
              <a:rPr lang="vi-VN" dirty="0"/>
              <a:t>, giúp xác định nhanh và đúng </a:t>
            </a:r>
            <a:r>
              <a:rPr lang="vi-VN" b="1" dirty="0"/>
              <a:t>vị trí biển số</a:t>
            </a:r>
            <a:r>
              <a:rPr lang="vi-VN" dirty="0"/>
              <a:t> để xử lý tiếp.</a:t>
            </a:r>
          </a:p>
          <a:p>
            <a:r>
              <a:rPr lang="vi-VN" dirty="0"/>
              <a:t>mAP@0.5:0.95 khá tốt chứng minh khả năng </a:t>
            </a:r>
            <a:r>
              <a:rPr lang="vi-VN" b="1" dirty="0"/>
              <a:t>chống chịu biến dạng hình ảnh</a:t>
            </a:r>
            <a:r>
              <a:rPr lang="vi-VN" dirty="0"/>
              <a:t>, giúp mô hình vận hành ổn định trong điều kiện ánh sáng yếu, lệch góc hoặc ảnh chất lượng thấp.</a:t>
            </a:r>
          </a:p>
          <a:p>
            <a:r>
              <a:rPr lang="vi-VN" dirty="0"/>
              <a:t>Khi sử dụng kết hợp với mô hình nhận diện ký tự (slide trước), hệ thống có thể thực hiện pipeline:</a:t>
            </a:r>
          </a:p>
          <a:p>
            <a:r>
              <a:rPr lang="vi-VN" b="1" dirty="0"/>
              <a:t>YOLOv5 (phát hiện biển số) → Cắt ảnh → Mô hình OCR (phân tích ký tự)</a:t>
            </a:r>
            <a:br>
              <a:rPr lang="vi-VN" dirty="0"/>
            </a:br>
            <a:r>
              <a:rPr lang="vi-VN" dirty="0"/>
              <a:t>→ đảm bảo hiệu quả cao từ phát hiện đến nhận dạng.</a:t>
            </a:r>
          </a:p>
          <a:p>
            <a:r>
              <a:rPr lang="vi-VN" dirty="0"/>
              <a:t>Sử dụng </a:t>
            </a:r>
            <a:r>
              <a:rPr lang="vi-VN" b="1" dirty="0"/>
              <a:t>auto-label</a:t>
            </a:r>
            <a:r>
              <a:rPr lang="vi-VN" dirty="0"/>
              <a:t> và tăng thêm dữ liệu biển số nghiêng hoặc ban đêm để cải thiện mAP@0.5:0.95.</a:t>
            </a:r>
          </a:p>
          <a:p>
            <a:r>
              <a:rPr lang="vi-VN" dirty="0"/>
              <a:t>Áp dụng mô hình vào video streaming để thử nghiệm hiệu năng thực tế theo thời gian thực.</a:t>
            </a:r>
          </a:p>
          <a:p>
            <a:endParaRPr lang="en-US" dirty="0"/>
          </a:p>
        </p:txBody>
      </p:sp>
      <p:sp>
        <p:nvSpPr>
          <p:cNvPr id="4" name="Slide Number Placeholder 3">
            <a:extLst>
              <a:ext uri="{FF2B5EF4-FFF2-40B4-BE49-F238E27FC236}">
                <a16:creationId xmlns:a16="http://schemas.microsoft.com/office/drawing/2014/main" id="{1B421239-7281-D210-E454-C1E7A648711C}"/>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2268486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673C7-1135-8B78-D964-97B48AB441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81D44D-BC74-4FAC-2AFE-E0484EC3B689}"/>
              </a:ext>
            </a:extLst>
          </p:cNvPr>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FE5297F7-D99C-3F5B-A44D-2D43694F5C8C}"/>
              </a:ext>
            </a:extLst>
          </p:cNvPr>
          <p:cNvSpPr>
            <a:spLocks noGrp="1"/>
          </p:cNvSpPr>
          <p:nvPr>
            <p:ph type="body" idx="1"/>
          </p:nvPr>
        </p:nvSpPr>
        <p:spPr>
          <a:xfrm>
            <a:off x="822325" y="7040563"/>
            <a:ext cx="6584950" cy="5761037"/>
          </a:xfrm>
          <a:prstGeom prst="rect">
            <a:avLst/>
          </a:prstGeom>
        </p:spPr>
        <p:txBody>
          <a:bodyPr/>
          <a:lstStyle/>
          <a:p>
            <a:r>
              <a:rPr lang="en-US" sz="1200" b="1" i="1" kern="1200" dirty="0">
                <a:solidFill>
                  <a:schemeClr val="tx1"/>
                </a:solidFill>
                <a:effectLst/>
                <a:latin typeface="+mn-lt"/>
                <a:ea typeface="+mn-ea"/>
                <a:cs typeface="+mn-cs"/>
              </a:rPr>
              <a:t>Các</a:t>
            </a:r>
            <a:r>
              <a:rPr lang="vi-VN" sz="1200" b="1" i="1" kern="1200" dirty="0">
                <a:solidFill>
                  <a:schemeClr val="tx1"/>
                </a:solidFill>
                <a:effectLst/>
                <a:latin typeface="+mn-lt"/>
                <a:ea typeface="+mn-ea"/>
                <a:cs typeface="+mn-cs"/>
              </a:rPr>
              <a:t> đồ thị trong </a:t>
            </a:r>
            <a:r>
              <a:rPr lang="en-US" sz="1200" b="1" i="1" kern="1200" dirty="0" err="1">
                <a:solidFill>
                  <a:schemeClr val="tx1"/>
                </a:solidFill>
                <a:effectLst/>
                <a:latin typeface="+mn-lt"/>
                <a:ea typeface="+mn-ea"/>
                <a:cs typeface="+mn-cs"/>
              </a:rPr>
              <a:t>quá</a:t>
            </a:r>
            <a:r>
              <a:rPr lang="en-US" sz="1200" b="1" i="1" kern="1200" dirty="0">
                <a:solidFill>
                  <a:schemeClr val="tx1"/>
                </a:solidFill>
                <a:effectLst/>
                <a:latin typeface="+mn-lt"/>
                <a:ea typeface="+mn-ea"/>
                <a:cs typeface="+mn-cs"/>
              </a:rPr>
              <a:t> </a:t>
            </a:r>
            <a:r>
              <a:rPr lang="en-US" sz="1200" b="1" i="1" kern="1200" dirty="0" err="1">
                <a:solidFill>
                  <a:schemeClr val="tx1"/>
                </a:solidFill>
                <a:effectLst/>
                <a:latin typeface="+mn-lt"/>
                <a:ea typeface="+mn-ea"/>
                <a:cs typeface="+mn-cs"/>
              </a:rPr>
              <a:t>trình</a:t>
            </a:r>
            <a:r>
              <a:rPr lang="en-US" sz="1200" b="1" i="1" kern="1200" dirty="0">
                <a:solidFill>
                  <a:schemeClr val="tx1"/>
                </a:solidFill>
                <a:effectLst/>
                <a:latin typeface="+mn-lt"/>
                <a:ea typeface="+mn-ea"/>
                <a:cs typeface="+mn-cs"/>
              </a:rPr>
              <a:t> </a:t>
            </a:r>
            <a:r>
              <a:rPr lang="en-US" sz="1200" b="1" i="1" kern="1200" dirty="0" err="1">
                <a:solidFill>
                  <a:schemeClr val="tx1"/>
                </a:solidFill>
                <a:effectLst/>
                <a:latin typeface="+mn-lt"/>
                <a:ea typeface="+mn-ea"/>
                <a:cs typeface="+mn-cs"/>
              </a:rPr>
              <a:t>huấn</a:t>
            </a:r>
            <a:r>
              <a:rPr lang="en-US" sz="1200" b="1" i="1" kern="1200" dirty="0">
                <a:solidFill>
                  <a:schemeClr val="tx1"/>
                </a:solidFill>
                <a:effectLst/>
                <a:latin typeface="+mn-lt"/>
                <a:ea typeface="+mn-ea"/>
                <a:cs typeface="+mn-cs"/>
              </a:rPr>
              <a:t> </a:t>
            </a:r>
            <a:r>
              <a:rPr lang="en-US" sz="1200" b="1" i="1" kern="1200" dirty="0" err="1">
                <a:solidFill>
                  <a:schemeClr val="tx1"/>
                </a:solidFill>
                <a:effectLst/>
                <a:latin typeface="+mn-lt"/>
                <a:ea typeface="+mn-ea"/>
                <a:cs typeface="+mn-cs"/>
              </a:rPr>
              <a:t>luyện</a:t>
            </a:r>
            <a:r>
              <a:rPr lang="en-US" sz="1200" b="1" i="1" kern="1200" dirty="0">
                <a:solidFill>
                  <a:schemeClr val="tx1"/>
                </a:solidFill>
                <a:effectLst/>
                <a:latin typeface="+mn-lt"/>
                <a:ea typeface="+mn-ea"/>
                <a:cs typeface="+mn-cs"/>
              </a:rPr>
              <a:t> </a:t>
            </a:r>
            <a:r>
              <a:rPr lang="en-US" sz="1200" b="1" i="1" kern="1200" dirty="0" err="1">
                <a:solidFill>
                  <a:schemeClr val="tx1"/>
                </a:solidFill>
                <a:effectLst/>
                <a:latin typeface="+mn-lt"/>
                <a:ea typeface="+mn-ea"/>
                <a:cs typeface="+mn-cs"/>
              </a:rPr>
              <a:t>mô</a:t>
            </a:r>
            <a:r>
              <a:rPr lang="en-US" sz="1200" b="1" i="1" kern="1200" dirty="0">
                <a:solidFill>
                  <a:schemeClr val="tx1"/>
                </a:solidFill>
                <a:effectLst/>
                <a:latin typeface="+mn-lt"/>
                <a:ea typeface="+mn-ea"/>
                <a:cs typeface="+mn-cs"/>
              </a:rPr>
              <a:t> </a:t>
            </a:r>
            <a:r>
              <a:rPr lang="en-US" sz="1200" b="1" i="1" kern="1200" dirty="0" err="1">
                <a:solidFill>
                  <a:schemeClr val="tx1"/>
                </a:solidFill>
                <a:effectLst/>
                <a:latin typeface="+mn-lt"/>
                <a:ea typeface="+mn-ea"/>
                <a:cs typeface="+mn-cs"/>
              </a:rPr>
              <a:t>hình</a:t>
            </a:r>
            <a:r>
              <a:rPr lang="en-US" sz="1200" b="1" i="1" kern="1200" dirty="0">
                <a:solidFill>
                  <a:schemeClr val="tx1"/>
                </a:solidFill>
                <a:effectLst/>
                <a:latin typeface="+mn-lt"/>
                <a:ea typeface="+mn-ea"/>
                <a:cs typeface="+mn-cs"/>
              </a:rPr>
              <a:t> </a:t>
            </a:r>
            <a:r>
              <a:rPr lang="en-US" sz="1200" b="1" i="1" kern="1200" dirty="0" err="1">
                <a:solidFill>
                  <a:schemeClr val="tx1"/>
                </a:solidFill>
                <a:effectLst/>
                <a:latin typeface="+mn-lt"/>
                <a:ea typeface="+mn-ea"/>
                <a:cs typeface="+mn-cs"/>
              </a:rPr>
              <a:t>nhận</a:t>
            </a:r>
            <a:r>
              <a:rPr lang="en-US" sz="1200" b="1" i="1" kern="1200" dirty="0">
                <a:solidFill>
                  <a:schemeClr val="tx1"/>
                </a:solidFill>
                <a:effectLst/>
                <a:latin typeface="+mn-lt"/>
                <a:ea typeface="+mn-ea"/>
                <a:cs typeface="+mn-cs"/>
              </a:rPr>
              <a:t> </a:t>
            </a:r>
            <a:r>
              <a:rPr lang="en-US" sz="1200" b="1" i="1" kern="1200" dirty="0" err="1">
                <a:solidFill>
                  <a:schemeClr val="tx1"/>
                </a:solidFill>
                <a:effectLst/>
                <a:latin typeface="+mn-lt"/>
                <a:ea typeface="+mn-ea"/>
                <a:cs typeface="+mn-cs"/>
              </a:rPr>
              <a:t>diện</a:t>
            </a:r>
            <a:r>
              <a:rPr lang="en-US" sz="1200" b="1" i="1" kern="1200" dirty="0">
                <a:solidFill>
                  <a:schemeClr val="tx1"/>
                </a:solidFill>
                <a:effectLst/>
                <a:latin typeface="+mn-lt"/>
                <a:ea typeface="+mn-ea"/>
                <a:cs typeface="+mn-cs"/>
              </a:rPr>
              <a:t> </a:t>
            </a:r>
            <a:r>
              <a:rPr lang="en-US" sz="1200" b="1" i="1" kern="1200" dirty="0" err="1">
                <a:solidFill>
                  <a:schemeClr val="tx1"/>
                </a:solidFill>
                <a:effectLst/>
                <a:latin typeface="+mn-lt"/>
                <a:ea typeface="+mn-ea"/>
                <a:cs typeface="+mn-cs"/>
              </a:rPr>
              <a:t>biển</a:t>
            </a:r>
            <a:r>
              <a:rPr lang="en-US" sz="1200" b="1" i="1" kern="1200" dirty="0">
                <a:solidFill>
                  <a:schemeClr val="tx1"/>
                </a:solidFill>
                <a:effectLst/>
                <a:latin typeface="+mn-lt"/>
                <a:ea typeface="+mn-ea"/>
                <a:cs typeface="+mn-cs"/>
              </a:rPr>
              <a:t> </a:t>
            </a:r>
            <a:r>
              <a:rPr lang="en-US" sz="1200" b="1" i="1" kern="1200" dirty="0" err="1">
                <a:solidFill>
                  <a:schemeClr val="tx1"/>
                </a:solidFill>
                <a:effectLst/>
                <a:latin typeface="+mn-lt"/>
                <a:ea typeface="+mn-ea"/>
                <a:cs typeface="+mn-cs"/>
              </a:rPr>
              <a:t>số</a:t>
            </a:r>
            <a:endParaRPr lang="en-US" sz="1200" b="1" kern="1200" dirty="0">
              <a:solidFill>
                <a:schemeClr val="tx1"/>
              </a:solidFill>
              <a:effectLst/>
              <a:latin typeface="+mn-lt"/>
              <a:ea typeface="+mn-ea"/>
              <a:cs typeface="+mn-cs"/>
            </a:endParaRPr>
          </a:p>
          <a:p>
            <a:pPr lvl="0"/>
            <a:r>
              <a:rPr lang="vi-VN" sz="1200" b="1" kern="1200" dirty="0">
                <a:solidFill>
                  <a:schemeClr val="tx1"/>
                </a:solidFill>
                <a:effectLst/>
                <a:latin typeface="+mn-lt"/>
                <a:ea typeface="+mn-ea"/>
                <a:cs typeface="+mn-cs"/>
              </a:rPr>
              <a:t>Box loss &amp; Objectness loss (train/val)</a:t>
            </a:r>
            <a:r>
              <a:rPr lang="vi-VN" sz="1200" kern="1200" dirty="0">
                <a:solidFill>
                  <a:schemeClr val="tx1"/>
                </a:solidFill>
                <a:effectLst/>
                <a:latin typeface="+mn-lt"/>
                <a:ea typeface="+mn-ea"/>
                <a:cs typeface="+mn-cs"/>
              </a:rPr>
              <a:t>: Cả hai loại mất mát đều giảm đều theo thời gian, cho thấy mô hình học được cách phân biệt các biển số xe xuất hiện trong hình.</a:t>
            </a:r>
            <a:endParaRPr lang="en-US" sz="1200" kern="1200" dirty="0">
              <a:solidFill>
                <a:schemeClr val="tx1"/>
              </a:solidFill>
              <a:effectLst/>
              <a:latin typeface="+mn-lt"/>
              <a:ea typeface="+mn-ea"/>
              <a:cs typeface="+mn-cs"/>
            </a:endParaRPr>
          </a:p>
          <a:p>
            <a:pPr lvl="0"/>
            <a:r>
              <a:rPr lang="vi-VN" sz="1200" b="1" kern="1200" dirty="0">
                <a:solidFill>
                  <a:schemeClr val="tx1"/>
                </a:solidFill>
                <a:effectLst/>
                <a:latin typeface="+mn-lt"/>
                <a:ea typeface="+mn-ea"/>
                <a:cs typeface="+mn-cs"/>
              </a:rPr>
              <a:t>Classification loss</a:t>
            </a:r>
            <a:r>
              <a:rPr lang="vi-VN" sz="1200" kern="1200" dirty="0">
                <a:solidFill>
                  <a:schemeClr val="tx1"/>
                </a:solidFill>
                <a:effectLst/>
                <a:latin typeface="+mn-lt"/>
                <a:ea typeface="+mn-ea"/>
                <a:cs typeface="+mn-cs"/>
              </a:rPr>
              <a:t>: Gần như bằng 0 trong cả huấn luyện và xác thực → điều này đạt được do trong mô hình chỉ có một vật thể duy nhất cần phát hiện đó là biển số xe (class index = 0).</a:t>
            </a:r>
            <a:endParaRPr lang="en-US" sz="1200" kern="1200" dirty="0">
              <a:solidFill>
                <a:schemeClr val="tx1"/>
              </a:solidFill>
              <a:effectLst/>
              <a:latin typeface="+mn-lt"/>
              <a:ea typeface="+mn-ea"/>
              <a:cs typeface="+mn-cs"/>
            </a:endParaRPr>
          </a:p>
          <a:p>
            <a:pPr lvl="0"/>
            <a:r>
              <a:rPr lang="vi-VN" sz="1200" b="1" kern="1200" dirty="0">
                <a:solidFill>
                  <a:schemeClr val="tx1"/>
                </a:solidFill>
                <a:effectLst/>
                <a:latin typeface="+mn-lt"/>
                <a:ea typeface="+mn-ea"/>
                <a:cs typeface="+mn-cs"/>
              </a:rPr>
              <a:t>Precision &amp; Recall:</a:t>
            </a:r>
            <a:r>
              <a:rPr lang="vi-VN" sz="1200" kern="1200" dirty="0">
                <a:solidFill>
                  <a:schemeClr val="tx1"/>
                </a:solidFill>
                <a:effectLst/>
                <a:latin typeface="+mn-lt"/>
                <a:ea typeface="+mn-ea"/>
                <a:cs typeface="+mn-cs"/>
              </a:rPr>
              <a:t> Cả hai chỉ số đều tăng và ổn định gần mức 1.0, cho thấy mô hình rất chính xác và bao phủ tốt các đối tượng cần phát hiện.</a:t>
            </a:r>
            <a:endParaRPr lang="en-US" sz="1200" kern="1200" dirty="0">
              <a:solidFill>
                <a:schemeClr val="tx1"/>
              </a:solidFill>
              <a:effectLst/>
              <a:latin typeface="+mn-lt"/>
              <a:ea typeface="+mn-ea"/>
              <a:cs typeface="+mn-cs"/>
            </a:endParaRPr>
          </a:p>
          <a:p>
            <a:pPr lvl="0"/>
            <a:r>
              <a:rPr lang="vi-VN" sz="1200" b="1" kern="1200" dirty="0">
                <a:solidFill>
                  <a:schemeClr val="tx1"/>
                </a:solidFill>
                <a:effectLst/>
                <a:latin typeface="+mn-lt"/>
                <a:ea typeface="+mn-ea"/>
                <a:cs typeface="+mn-cs"/>
              </a:rPr>
              <a:t>mAP@0.5: </a:t>
            </a:r>
            <a:r>
              <a:rPr lang="vi-VN" sz="1200" kern="1200" dirty="0">
                <a:solidFill>
                  <a:schemeClr val="tx1"/>
                </a:solidFill>
                <a:effectLst/>
                <a:latin typeface="+mn-lt"/>
                <a:ea typeface="+mn-ea"/>
                <a:cs typeface="+mn-cs"/>
              </a:rPr>
              <a:t>tỷ lệ phần trăm gần đạt 100 phần trăm, phản ánh mô hình dự đoán rất chính xác ở ngưỡng IoU = 0.5.</a:t>
            </a:r>
            <a:endParaRPr lang="en-US" sz="1200" kern="1200" dirty="0">
              <a:solidFill>
                <a:schemeClr val="tx1"/>
              </a:solidFill>
              <a:effectLst/>
              <a:latin typeface="+mn-lt"/>
              <a:ea typeface="+mn-ea"/>
              <a:cs typeface="+mn-cs"/>
            </a:endParaRPr>
          </a:p>
          <a:p>
            <a:r>
              <a:rPr lang="vi-VN" sz="1200" b="1" kern="1200" dirty="0">
                <a:solidFill>
                  <a:schemeClr val="tx1"/>
                </a:solidFill>
                <a:effectLst/>
                <a:latin typeface="+mn-lt"/>
                <a:ea typeface="+mn-ea"/>
                <a:cs typeface="+mn-cs"/>
              </a:rPr>
              <a:t>mAP@0.5:0.95</a:t>
            </a:r>
            <a:r>
              <a:rPr lang="vi-VN" sz="1200" kern="1200" dirty="0">
                <a:solidFill>
                  <a:schemeClr val="tx1"/>
                </a:solidFill>
                <a:effectLst/>
                <a:latin typeface="+mn-lt"/>
                <a:ea typeface="+mn-ea"/>
                <a:cs typeface="+mn-cs"/>
              </a:rPr>
              <a:t>: Giá trị trung bình ổn định lớn hơn 0.7, cho thấy mô hình vẫn giữ được hiệu suất cao ngay cả ở các ngưỡng IoU khắt khe hơn.</a:t>
            </a:r>
            <a:endParaRPr lang="en-US" dirty="0"/>
          </a:p>
        </p:txBody>
      </p:sp>
    </p:spTree>
    <p:extLst>
      <p:ext uri="{BB962C8B-B14F-4D97-AF65-F5344CB8AC3E}">
        <p14:creationId xmlns:p14="http://schemas.microsoft.com/office/powerpoint/2010/main" val="27012801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07E13-7C19-1430-13DB-5F0F2E05F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4E8DB2-6E23-CABC-4D6E-5CC0F192A5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71935B-6CAE-F0AF-3FA2-56BA01E6996F}"/>
              </a:ext>
            </a:extLst>
          </p:cNvPr>
          <p:cNvSpPr>
            <a:spLocks noGrp="1"/>
          </p:cNvSpPr>
          <p:nvPr>
            <p:ph type="body" idx="1"/>
          </p:nvPr>
        </p:nvSpPr>
        <p:spPr/>
        <p:txBody>
          <a:bodyPr/>
          <a:lstStyle/>
          <a:p>
            <a:r>
              <a:rPr lang="vi-VN" b="1" dirty="0"/>
              <a:t>Kết Quả Huấn Luyện Mô Hình Nhận Diện Ký Tự (Character Recognition)</a:t>
            </a:r>
          </a:p>
          <a:p>
            <a:r>
              <a:rPr lang="vi-VN" dirty="0"/>
              <a:t>Sử dụng kiến trúc YOLOv5 để </a:t>
            </a:r>
            <a:r>
              <a:rPr lang="vi-VN" b="1" dirty="0"/>
              <a:t>phân loại từng ký tự</a:t>
            </a:r>
            <a:r>
              <a:rPr lang="vi-VN" dirty="0"/>
              <a:t> xuất hiện trong biển số xe.</a:t>
            </a:r>
          </a:p>
          <a:p>
            <a:r>
              <a:rPr lang="vi-VN" dirty="0"/>
              <a:t>Bộ dữ liệu gồm </a:t>
            </a:r>
            <a:r>
              <a:rPr lang="vi-VN" b="1" dirty="0"/>
              <a:t>767 ảnh</a:t>
            </a:r>
            <a:r>
              <a:rPr lang="vi-VN" dirty="0"/>
              <a:t>, chứa tổng cộng </a:t>
            </a:r>
            <a:r>
              <a:rPr lang="vi-VN" b="1" dirty="0"/>
              <a:t>6236 instance</a:t>
            </a:r>
            <a:r>
              <a:rPr lang="vi-VN" dirty="0"/>
              <a:t> của 36 lớp (0-9, A-Z).</a:t>
            </a:r>
          </a:p>
          <a:p>
            <a:r>
              <a:rPr lang="vi-VN" dirty="0"/>
              <a:t>Đào tạo trong </a:t>
            </a:r>
            <a:r>
              <a:rPr lang="en-US" b="1" dirty="0"/>
              <a:t>50</a:t>
            </a:r>
            <a:r>
              <a:rPr lang="vi-VN" b="1" dirty="0"/>
              <a:t> epochs </a:t>
            </a:r>
            <a:r>
              <a:rPr lang="en-US" b="1" dirty="0"/>
              <a:t>(</a:t>
            </a:r>
            <a:r>
              <a:rPr lang="en-US" b="1" dirty="0" err="1"/>
              <a:t>hơn</a:t>
            </a:r>
            <a:r>
              <a:rPr lang="en-US" b="1" dirty="0"/>
              <a:t> 1 </a:t>
            </a:r>
            <a:r>
              <a:rPr lang="en-US" b="1" dirty="0" err="1"/>
              <a:t>tiếng</a:t>
            </a:r>
            <a:r>
              <a:rPr lang="vi-VN" b="1" dirty="0"/>
              <a:t>)</a:t>
            </a:r>
            <a:r>
              <a:rPr lang="vi-VN" dirty="0"/>
              <a:t> </a:t>
            </a:r>
            <a:endParaRPr lang="en-US" dirty="0"/>
          </a:p>
          <a:p>
            <a:r>
              <a:rPr lang="vi-VN" b="1" dirty="0"/>
              <a:t>Precision (P)</a:t>
            </a:r>
            <a:r>
              <a:rPr lang="vi-VN" dirty="0"/>
              <a:t>0.975Mô hình rất chính xác, ít nhận nhầm ký </a:t>
            </a:r>
            <a:r>
              <a:rPr lang="vi-VN"/>
              <a:t>tự.</a:t>
            </a:r>
            <a:endParaRPr lang="en-US"/>
          </a:p>
          <a:p>
            <a:r>
              <a:rPr lang="vi-VN" b="1"/>
              <a:t>Recall (R)</a:t>
            </a:r>
            <a:r>
              <a:rPr lang="vi-VN"/>
              <a:t>0.974Mô hình tìm được gần như tất cả ký tự thực tế.</a:t>
            </a:r>
            <a:endParaRPr lang="en-US"/>
          </a:p>
          <a:p>
            <a:r>
              <a:rPr lang="vi-VN" b="1"/>
              <a:t>mAP@0.5</a:t>
            </a:r>
            <a:r>
              <a:rPr lang="vi-VN"/>
              <a:t>0.982Mức độ chính xác cao trong việc xác định đúng ký tự ở mức IoU ≥ 0.5.</a:t>
            </a:r>
            <a:endParaRPr lang="en-US"/>
          </a:p>
          <a:p>
            <a:r>
              <a:rPr lang="vi-VN" b="1"/>
              <a:t>mAP@0.5:0.95</a:t>
            </a:r>
            <a:r>
              <a:rPr lang="vi-VN"/>
              <a:t>0.765Mức độ chính xác trung bình nghiêm ngặt hơn, đánh giá tốt khả năng phân biệt ký tự ở các vị trí gần nhau hoặc biến dạng nhẹ.</a:t>
            </a:r>
          </a:p>
          <a:p>
            <a:r>
              <a:rPr lang="vi-VN"/>
              <a:t>Các ký tự như </a:t>
            </a:r>
            <a:r>
              <a:rPr lang="vi-VN" b="1"/>
              <a:t>D, H, M, I, Y, Z</a:t>
            </a:r>
            <a:r>
              <a:rPr lang="vi-VN"/>
              <a:t> đạt mAP &gt; 0.80 → nhận diện </a:t>
            </a:r>
            <a:r>
              <a:rPr lang="vi-VN" b="1"/>
              <a:t>ổn định và đáng tin cậy</a:t>
            </a:r>
            <a:r>
              <a:rPr lang="vi-VN"/>
              <a:t>.</a:t>
            </a:r>
          </a:p>
          <a:p>
            <a:r>
              <a:rPr lang="vi-VN"/>
              <a:t>Một </a:t>
            </a:r>
            <a:r>
              <a:rPr lang="vi-VN" dirty="0"/>
              <a:t>số ký tự như </a:t>
            </a:r>
            <a:r>
              <a:rPr lang="vi-VN" b="1" dirty="0"/>
              <a:t>K (0.76), R (0.70), Q (0.75), C (0.73)</a:t>
            </a:r>
            <a:r>
              <a:rPr lang="vi-VN" dirty="0"/>
              <a:t> có mAP thấp hơn → do </a:t>
            </a:r>
            <a:r>
              <a:rPr lang="vi-VN" b="1" dirty="0"/>
              <a:t>số lượng ảnh huấn luyện ít</a:t>
            </a:r>
            <a:r>
              <a:rPr lang="vi-VN" dirty="0"/>
              <a:t> (chỉ từ 9–30 ảnh), ảnh hưởng tới hiệu quả phân loại.</a:t>
            </a:r>
          </a:p>
          <a:p>
            <a:r>
              <a:rPr lang="en-US"/>
              <a:t>📌 </a:t>
            </a:r>
            <a:r>
              <a:rPr lang="vi-VN" b="1"/>
              <a:t>Ý nghĩa thực tiễn</a:t>
            </a:r>
            <a:endParaRPr lang="vi-VN"/>
          </a:p>
          <a:p>
            <a:r>
              <a:rPr lang="vi-VN"/>
              <a:t>Mô </a:t>
            </a:r>
            <a:r>
              <a:rPr lang="vi-VN" dirty="0"/>
              <a:t>hình này phù hợp với </a:t>
            </a:r>
            <a:r>
              <a:rPr lang="vi-VN" b="1" dirty="0"/>
              <a:t>bước nhận diện ký tự (OCR)</a:t>
            </a:r>
            <a:r>
              <a:rPr lang="vi-VN" dirty="0"/>
              <a:t> sau khi đã phát hiện biển số.</a:t>
            </a:r>
          </a:p>
          <a:p>
            <a:r>
              <a:rPr lang="vi-VN" dirty="0"/>
              <a:t>Kết quả chứng minh mô hình có thể </a:t>
            </a:r>
            <a:r>
              <a:rPr lang="vi-VN" b="1" dirty="0"/>
              <a:t>xử lý tốt sự đa dạng trong kiểu chữ và điều kiện ánh sáng</a:t>
            </a:r>
            <a:r>
              <a:rPr lang="vi-VN" dirty="0"/>
              <a:t>, đặc biệt hữu ích cho hệ thống thực tế tại bãi giữ xe, trạm kiểm soát, v.v.</a:t>
            </a:r>
          </a:p>
          <a:p>
            <a:r>
              <a:rPr lang="en-US"/>
              <a:t>📌 </a:t>
            </a:r>
            <a:r>
              <a:rPr lang="vi-VN" b="1"/>
              <a:t>Hướng cải thiện</a:t>
            </a:r>
            <a:endParaRPr lang="vi-VN"/>
          </a:p>
          <a:p>
            <a:r>
              <a:rPr lang="vi-VN" b="1"/>
              <a:t>Tăng </a:t>
            </a:r>
            <a:r>
              <a:rPr lang="vi-VN" b="1" dirty="0"/>
              <a:t>cường dữ liệu</a:t>
            </a:r>
            <a:r>
              <a:rPr lang="vi-VN" dirty="0"/>
              <a:t> cho các ký tự có ít ảnh (như R, K, Q).</a:t>
            </a:r>
          </a:p>
          <a:p>
            <a:r>
              <a:rPr lang="vi-VN" dirty="0"/>
              <a:t>Kết hợp thêm mô hình CRNN hoặc Tesseract để thử nghiệm hiệu quả OCR nâng cao.</a:t>
            </a:r>
          </a:p>
        </p:txBody>
      </p:sp>
      <p:sp>
        <p:nvSpPr>
          <p:cNvPr id="4" name="Slide Number Placeholder 3">
            <a:extLst>
              <a:ext uri="{FF2B5EF4-FFF2-40B4-BE49-F238E27FC236}">
                <a16:creationId xmlns:a16="http://schemas.microsoft.com/office/drawing/2014/main" id="{A9BA3969-4AB5-33F3-1BC7-BD3CD283B5FE}"/>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7715925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157A5-9884-3A09-77CE-2A33936128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D4ABD8-648E-9671-553A-CBE98F75097D}"/>
              </a:ext>
            </a:extLst>
          </p:cNvPr>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D4867A92-37C8-CD01-CF1D-16747FEB7AFE}"/>
              </a:ext>
            </a:extLst>
          </p:cNvPr>
          <p:cNvSpPr>
            <a:spLocks noGrp="1"/>
          </p:cNvSpPr>
          <p:nvPr>
            <p:ph type="body" idx="1"/>
          </p:nvPr>
        </p:nvSpPr>
        <p:spPr>
          <a:xfrm>
            <a:off x="822325" y="7040563"/>
            <a:ext cx="6584950" cy="5761037"/>
          </a:xfrm>
          <a:prstGeom prst="rect">
            <a:avLst/>
          </a:prstGeom>
        </p:spPr>
        <p:txBody>
          <a:bodyPr/>
          <a:lstStyle/>
          <a:p>
            <a:r>
              <a:rPr lang="en-US" sz="1200" b="1" i="1" kern="1200" dirty="0">
                <a:solidFill>
                  <a:schemeClr val="tx1"/>
                </a:solidFill>
                <a:effectLst/>
                <a:latin typeface="+mn-lt"/>
                <a:ea typeface="+mn-ea"/>
                <a:cs typeface="+mn-cs"/>
              </a:rPr>
              <a:t>Các</a:t>
            </a:r>
            <a:r>
              <a:rPr lang="vi-VN" sz="1200" b="1" i="1" kern="1200" dirty="0">
                <a:solidFill>
                  <a:schemeClr val="tx1"/>
                </a:solidFill>
                <a:effectLst/>
                <a:latin typeface="+mn-lt"/>
                <a:ea typeface="+mn-ea"/>
                <a:cs typeface="+mn-cs"/>
              </a:rPr>
              <a:t> đồ thị trong </a:t>
            </a:r>
            <a:r>
              <a:rPr lang="en-US" sz="1200" b="1" i="1" kern="1200" dirty="0" err="1">
                <a:solidFill>
                  <a:schemeClr val="tx1"/>
                </a:solidFill>
                <a:effectLst/>
                <a:latin typeface="+mn-lt"/>
                <a:ea typeface="+mn-ea"/>
                <a:cs typeface="+mn-cs"/>
              </a:rPr>
              <a:t>quá</a:t>
            </a:r>
            <a:r>
              <a:rPr lang="en-US" sz="1200" b="1" i="1" kern="1200" dirty="0">
                <a:solidFill>
                  <a:schemeClr val="tx1"/>
                </a:solidFill>
                <a:effectLst/>
                <a:latin typeface="+mn-lt"/>
                <a:ea typeface="+mn-ea"/>
                <a:cs typeface="+mn-cs"/>
              </a:rPr>
              <a:t> </a:t>
            </a:r>
            <a:r>
              <a:rPr lang="en-US" sz="1200" b="1" i="1" kern="1200" dirty="0" err="1">
                <a:solidFill>
                  <a:schemeClr val="tx1"/>
                </a:solidFill>
                <a:effectLst/>
                <a:latin typeface="+mn-lt"/>
                <a:ea typeface="+mn-ea"/>
                <a:cs typeface="+mn-cs"/>
              </a:rPr>
              <a:t>trình</a:t>
            </a:r>
            <a:r>
              <a:rPr lang="en-US" sz="1200" b="1" i="1" kern="1200" dirty="0">
                <a:solidFill>
                  <a:schemeClr val="tx1"/>
                </a:solidFill>
                <a:effectLst/>
                <a:latin typeface="+mn-lt"/>
                <a:ea typeface="+mn-ea"/>
                <a:cs typeface="+mn-cs"/>
              </a:rPr>
              <a:t> </a:t>
            </a:r>
            <a:r>
              <a:rPr lang="en-US" sz="1200" b="1" i="1" kern="1200" dirty="0" err="1">
                <a:solidFill>
                  <a:schemeClr val="tx1"/>
                </a:solidFill>
                <a:effectLst/>
                <a:latin typeface="+mn-lt"/>
                <a:ea typeface="+mn-ea"/>
                <a:cs typeface="+mn-cs"/>
              </a:rPr>
              <a:t>huấn</a:t>
            </a:r>
            <a:r>
              <a:rPr lang="en-US" sz="1200" b="1" i="1" kern="1200" dirty="0">
                <a:solidFill>
                  <a:schemeClr val="tx1"/>
                </a:solidFill>
                <a:effectLst/>
                <a:latin typeface="+mn-lt"/>
                <a:ea typeface="+mn-ea"/>
                <a:cs typeface="+mn-cs"/>
              </a:rPr>
              <a:t> </a:t>
            </a:r>
            <a:r>
              <a:rPr lang="en-US" sz="1200" b="1" i="1" kern="1200" dirty="0" err="1">
                <a:solidFill>
                  <a:schemeClr val="tx1"/>
                </a:solidFill>
                <a:effectLst/>
                <a:latin typeface="+mn-lt"/>
                <a:ea typeface="+mn-ea"/>
                <a:cs typeface="+mn-cs"/>
              </a:rPr>
              <a:t>luyện</a:t>
            </a:r>
            <a:r>
              <a:rPr lang="en-US" sz="1200" b="1" i="1" kern="1200" dirty="0">
                <a:solidFill>
                  <a:schemeClr val="tx1"/>
                </a:solidFill>
                <a:effectLst/>
                <a:latin typeface="+mn-lt"/>
                <a:ea typeface="+mn-ea"/>
                <a:cs typeface="+mn-cs"/>
              </a:rPr>
              <a:t> </a:t>
            </a:r>
            <a:r>
              <a:rPr lang="en-US" sz="1200" b="1" i="1" kern="1200" dirty="0" err="1">
                <a:solidFill>
                  <a:schemeClr val="tx1"/>
                </a:solidFill>
                <a:effectLst/>
                <a:latin typeface="+mn-lt"/>
                <a:ea typeface="+mn-ea"/>
                <a:cs typeface="+mn-cs"/>
              </a:rPr>
              <a:t>mô</a:t>
            </a:r>
            <a:r>
              <a:rPr lang="en-US" sz="1200" b="1" i="1" kern="1200" dirty="0">
                <a:solidFill>
                  <a:schemeClr val="tx1"/>
                </a:solidFill>
                <a:effectLst/>
                <a:latin typeface="+mn-lt"/>
                <a:ea typeface="+mn-ea"/>
                <a:cs typeface="+mn-cs"/>
              </a:rPr>
              <a:t> </a:t>
            </a:r>
            <a:r>
              <a:rPr lang="en-US" sz="1200" b="1" i="1" kern="1200" dirty="0" err="1">
                <a:solidFill>
                  <a:schemeClr val="tx1"/>
                </a:solidFill>
                <a:effectLst/>
                <a:latin typeface="+mn-lt"/>
                <a:ea typeface="+mn-ea"/>
                <a:cs typeface="+mn-cs"/>
              </a:rPr>
              <a:t>hình</a:t>
            </a:r>
            <a:r>
              <a:rPr lang="en-US" sz="1200" b="1" i="1" kern="1200" dirty="0">
                <a:solidFill>
                  <a:schemeClr val="tx1"/>
                </a:solidFill>
                <a:effectLst/>
                <a:latin typeface="+mn-lt"/>
                <a:ea typeface="+mn-ea"/>
                <a:cs typeface="+mn-cs"/>
              </a:rPr>
              <a:t> </a:t>
            </a:r>
            <a:r>
              <a:rPr lang="en-US" sz="1200" b="1" i="1" kern="1200" dirty="0" err="1">
                <a:solidFill>
                  <a:schemeClr val="tx1"/>
                </a:solidFill>
                <a:effectLst/>
                <a:latin typeface="+mn-lt"/>
                <a:ea typeface="+mn-ea"/>
                <a:cs typeface="+mn-cs"/>
              </a:rPr>
              <a:t>nhận</a:t>
            </a:r>
            <a:r>
              <a:rPr lang="en-US" sz="1200" b="1" i="1" kern="1200" dirty="0">
                <a:solidFill>
                  <a:schemeClr val="tx1"/>
                </a:solidFill>
                <a:effectLst/>
                <a:latin typeface="+mn-lt"/>
                <a:ea typeface="+mn-ea"/>
                <a:cs typeface="+mn-cs"/>
              </a:rPr>
              <a:t> </a:t>
            </a:r>
            <a:r>
              <a:rPr lang="en-US" sz="1200" b="1" i="1" kern="1200" dirty="0" err="1">
                <a:solidFill>
                  <a:schemeClr val="tx1"/>
                </a:solidFill>
                <a:effectLst/>
                <a:latin typeface="+mn-lt"/>
                <a:ea typeface="+mn-ea"/>
                <a:cs typeface="+mn-cs"/>
              </a:rPr>
              <a:t>diện</a:t>
            </a:r>
            <a:r>
              <a:rPr lang="en-US" sz="1200" b="1" i="1" kern="1200" dirty="0">
                <a:solidFill>
                  <a:schemeClr val="tx1"/>
                </a:solidFill>
                <a:effectLst/>
                <a:latin typeface="+mn-lt"/>
                <a:ea typeface="+mn-ea"/>
                <a:cs typeface="+mn-cs"/>
              </a:rPr>
              <a:t> </a:t>
            </a:r>
            <a:r>
              <a:rPr lang="en-US" sz="1200" b="1" i="1" kern="1200" dirty="0" err="1">
                <a:solidFill>
                  <a:schemeClr val="tx1"/>
                </a:solidFill>
                <a:effectLst/>
                <a:latin typeface="+mn-lt"/>
                <a:ea typeface="+mn-ea"/>
                <a:cs typeface="+mn-cs"/>
              </a:rPr>
              <a:t>biển</a:t>
            </a:r>
            <a:r>
              <a:rPr lang="en-US" sz="1200" b="1" i="1" kern="1200" dirty="0">
                <a:solidFill>
                  <a:schemeClr val="tx1"/>
                </a:solidFill>
                <a:effectLst/>
                <a:latin typeface="+mn-lt"/>
                <a:ea typeface="+mn-ea"/>
                <a:cs typeface="+mn-cs"/>
              </a:rPr>
              <a:t> </a:t>
            </a:r>
            <a:r>
              <a:rPr lang="en-US" sz="1200" b="1" i="1" kern="1200" dirty="0" err="1">
                <a:solidFill>
                  <a:schemeClr val="tx1"/>
                </a:solidFill>
                <a:effectLst/>
                <a:latin typeface="+mn-lt"/>
                <a:ea typeface="+mn-ea"/>
                <a:cs typeface="+mn-cs"/>
              </a:rPr>
              <a:t>số</a:t>
            </a:r>
            <a:endParaRPr lang="en-US" sz="1200" b="1" kern="1200" dirty="0">
              <a:solidFill>
                <a:schemeClr val="tx1"/>
              </a:solidFill>
              <a:effectLst/>
              <a:latin typeface="+mn-lt"/>
              <a:ea typeface="+mn-ea"/>
              <a:cs typeface="+mn-cs"/>
            </a:endParaRPr>
          </a:p>
          <a:p>
            <a:pPr lvl="0"/>
            <a:r>
              <a:rPr lang="vi-VN" sz="1200" b="1" kern="1200" dirty="0">
                <a:solidFill>
                  <a:schemeClr val="tx1"/>
                </a:solidFill>
                <a:effectLst/>
                <a:latin typeface="+mn-lt"/>
                <a:ea typeface="+mn-ea"/>
                <a:cs typeface="+mn-cs"/>
              </a:rPr>
              <a:t>Box loss &amp; Objectness loss (train/val)</a:t>
            </a:r>
            <a:r>
              <a:rPr lang="vi-VN" sz="1200" kern="1200" dirty="0">
                <a:solidFill>
                  <a:schemeClr val="tx1"/>
                </a:solidFill>
                <a:effectLst/>
                <a:latin typeface="+mn-lt"/>
                <a:ea typeface="+mn-ea"/>
                <a:cs typeface="+mn-cs"/>
              </a:rPr>
              <a:t>: Cả hai loại mất mát đều giảm đều theo thời gian, cho thấy mô hình học được cách phân biệt các biển số xe xuất hiện trong hình.</a:t>
            </a:r>
            <a:endParaRPr lang="en-US" sz="1200" kern="1200" dirty="0">
              <a:solidFill>
                <a:schemeClr val="tx1"/>
              </a:solidFill>
              <a:effectLst/>
              <a:latin typeface="+mn-lt"/>
              <a:ea typeface="+mn-ea"/>
              <a:cs typeface="+mn-cs"/>
            </a:endParaRPr>
          </a:p>
          <a:p>
            <a:pPr lvl="0"/>
            <a:r>
              <a:rPr lang="vi-VN" sz="1200" b="1" kern="1200" dirty="0">
                <a:solidFill>
                  <a:schemeClr val="tx1"/>
                </a:solidFill>
                <a:effectLst/>
                <a:latin typeface="+mn-lt"/>
                <a:ea typeface="+mn-ea"/>
                <a:cs typeface="+mn-cs"/>
              </a:rPr>
              <a:t>Classification loss</a:t>
            </a:r>
            <a:r>
              <a:rPr lang="vi-VN" sz="1200" kern="1200" dirty="0">
                <a:solidFill>
                  <a:schemeClr val="tx1"/>
                </a:solidFill>
                <a:effectLst/>
                <a:latin typeface="+mn-lt"/>
                <a:ea typeface="+mn-ea"/>
                <a:cs typeface="+mn-cs"/>
              </a:rPr>
              <a:t>: Gần như bằng 0 trong cả huấn luyện và xác thực → điều này đạt được do trong mô hình chỉ có một vật thể duy nhất cần phát hiện đó là biển số xe (class index = 0).</a:t>
            </a:r>
            <a:endParaRPr lang="en-US" sz="1200" kern="1200" dirty="0">
              <a:solidFill>
                <a:schemeClr val="tx1"/>
              </a:solidFill>
              <a:effectLst/>
              <a:latin typeface="+mn-lt"/>
              <a:ea typeface="+mn-ea"/>
              <a:cs typeface="+mn-cs"/>
            </a:endParaRPr>
          </a:p>
          <a:p>
            <a:pPr lvl="0"/>
            <a:r>
              <a:rPr lang="vi-VN" sz="1200" b="1" kern="1200" dirty="0">
                <a:solidFill>
                  <a:schemeClr val="tx1"/>
                </a:solidFill>
                <a:effectLst/>
                <a:latin typeface="+mn-lt"/>
                <a:ea typeface="+mn-ea"/>
                <a:cs typeface="+mn-cs"/>
              </a:rPr>
              <a:t>Precision &amp; Recall:</a:t>
            </a:r>
            <a:r>
              <a:rPr lang="vi-VN" sz="1200" kern="1200" dirty="0">
                <a:solidFill>
                  <a:schemeClr val="tx1"/>
                </a:solidFill>
                <a:effectLst/>
                <a:latin typeface="+mn-lt"/>
                <a:ea typeface="+mn-ea"/>
                <a:cs typeface="+mn-cs"/>
              </a:rPr>
              <a:t> Cả hai chỉ số đều tăng và ổn định gần mức 1.0, cho thấy mô hình rất chính xác và bao phủ tốt các đối tượng cần phát hiện.</a:t>
            </a:r>
            <a:endParaRPr lang="en-US" sz="1200" kern="1200" dirty="0">
              <a:solidFill>
                <a:schemeClr val="tx1"/>
              </a:solidFill>
              <a:effectLst/>
              <a:latin typeface="+mn-lt"/>
              <a:ea typeface="+mn-ea"/>
              <a:cs typeface="+mn-cs"/>
            </a:endParaRPr>
          </a:p>
          <a:p>
            <a:pPr lvl="0"/>
            <a:r>
              <a:rPr lang="vi-VN" sz="1200" b="1" kern="1200" dirty="0">
                <a:solidFill>
                  <a:schemeClr val="tx1"/>
                </a:solidFill>
                <a:effectLst/>
                <a:latin typeface="+mn-lt"/>
                <a:ea typeface="+mn-ea"/>
                <a:cs typeface="+mn-cs"/>
              </a:rPr>
              <a:t>mAP@0.5: </a:t>
            </a:r>
            <a:r>
              <a:rPr lang="vi-VN" sz="1200" kern="1200" dirty="0">
                <a:solidFill>
                  <a:schemeClr val="tx1"/>
                </a:solidFill>
                <a:effectLst/>
                <a:latin typeface="+mn-lt"/>
                <a:ea typeface="+mn-ea"/>
                <a:cs typeface="+mn-cs"/>
              </a:rPr>
              <a:t>tỷ lệ phần trăm gần đạt 100 phần trăm, phản ánh mô hình dự đoán rất chính xác ở ngưỡng IoU = 0.5.</a:t>
            </a:r>
            <a:endParaRPr lang="en-US" sz="1200" kern="1200" dirty="0">
              <a:solidFill>
                <a:schemeClr val="tx1"/>
              </a:solidFill>
              <a:effectLst/>
              <a:latin typeface="+mn-lt"/>
              <a:ea typeface="+mn-ea"/>
              <a:cs typeface="+mn-cs"/>
            </a:endParaRPr>
          </a:p>
          <a:p>
            <a:r>
              <a:rPr lang="vi-VN" sz="1200" b="1" kern="1200" dirty="0">
                <a:solidFill>
                  <a:schemeClr val="tx1"/>
                </a:solidFill>
                <a:effectLst/>
                <a:latin typeface="+mn-lt"/>
                <a:ea typeface="+mn-ea"/>
                <a:cs typeface="+mn-cs"/>
              </a:rPr>
              <a:t>mAP@0.5:0.95</a:t>
            </a:r>
            <a:r>
              <a:rPr lang="vi-VN" sz="1200" kern="1200" dirty="0">
                <a:solidFill>
                  <a:schemeClr val="tx1"/>
                </a:solidFill>
                <a:effectLst/>
                <a:latin typeface="+mn-lt"/>
                <a:ea typeface="+mn-ea"/>
                <a:cs typeface="+mn-cs"/>
              </a:rPr>
              <a:t>: Giá trị trung bình ổn định lớn hơn 0.7, cho thấy mô hình vẫn giữ được hiệu suất cao ngay cả ở các ngưỡng IoU khắt khe hơn.</a:t>
            </a:r>
            <a:endParaRPr lang="en-US" dirty="0"/>
          </a:p>
        </p:txBody>
      </p:sp>
    </p:spTree>
    <p:extLst>
      <p:ext uri="{BB962C8B-B14F-4D97-AF65-F5344CB8AC3E}">
        <p14:creationId xmlns:p14="http://schemas.microsoft.com/office/powerpoint/2010/main" val="1895120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en-US" sz="1200" b="1" i="1" kern="1200" dirty="0">
                <a:solidFill>
                  <a:schemeClr val="tx1"/>
                </a:solidFill>
                <a:effectLst/>
                <a:latin typeface="+mn-lt"/>
                <a:ea typeface="+mn-ea"/>
                <a:cs typeface="+mn-cs"/>
              </a:rPr>
              <a:t>Các</a:t>
            </a:r>
            <a:r>
              <a:rPr lang="vi-VN" sz="1200" b="1" i="1" kern="1200" dirty="0">
                <a:solidFill>
                  <a:schemeClr val="tx1"/>
                </a:solidFill>
                <a:effectLst/>
                <a:latin typeface="+mn-lt"/>
                <a:ea typeface="+mn-ea"/>
                <a:cs typeface="+mn-cs"/>
              </a:rPr>
              <a:t> đồ thị trong </a:t>
            </a:r>
            <a:r>
              <a:rPr lang="en-US" sz="1200" b="1" i="1" kern="1200" dirty="0" err="1">
                <a:solidFill>
                  <a:schemeClr val="tx1"/>
                </a:solidFill>
                <a:effectLst/>
                <a:latin typeface="+mn-lt"/>
                <a:ea typeface="+mn-ea"/>
                <a:cs typeface="+mn-cs"/>
              </a:rPr>
              <a:t>quá</a:t>
            </a:r>
            <a:r>
              <a:rPr lang="en-US" sz="1200" b="1" i="1" kern="1200" dirty="0">
                <a:solidFill>
                  <a:schemeClr val="tx1"/>
                </a:solidFill>
                <a:effectLst/>
                <a:latin typeface="+mn-lt"/>
                <a:ea typeface="+mn-ea"/>
                <a:cs typeface="+mn-cs"/>
              </a:rPr>
              <a:t> </a:t>
            </a:r>
            <a:r>
              <a:rPr lang="en-US" sz="1200" b="1" i="1" kern="1200" dirty="0" err="1">
                <a:solidFill>
                  <a:schemeClr val="tx1"/>
                </a:solidFill>
                <a:effectLst/>
                <a:latin typeface="+mn-lt"/>
                <a:ea typeface="+mn-ea"/>
                <a:cs typeface="+mn-cs"/>
              </a:rPr>
              <a:t>trình</a:t>
            </a:r>
            <a:r>
              <a:rPr lang="en-US" sz="1200" b="1" i="1" kern="1200" dirty="0">
                <a:solidFill>
                  <a:schemeClr val="tx1"/>
                </a:solidFill>
                <a:effectLst/>
                <a:latin typeface="+mn-lt"/>
                <a:ea typeface="+mn-ea"/>
                <a:cs typeface="+mn-cs"/>
              </a:rPr>
              <a:t> </a:t>
            </a:r>
            <a:r>
              <a:rPr lang="en-US" sz="1200" b="1" i="1" kern="1200" dirty="0" err="1">
                <a:solidFill>
                  <a:schemeClr val="tx1"/>
                </a:solidFill>
                <a:effectLst/>
                <a:latin typeface="+mn-lt"/>
                <a:ea typeface="+mn-ea"/>
                <a:cs typeface="+mn-cs"/>
              </a:rPr>
              <a:t>huấn</a:t>
            </a:r>
            <a:r>
              <a:rPr lang="en-US" sz="1200" b="1" i="1" kern="1200" dirty="0">
                <a:solidFill>
                  <a:schemeClr val="tx1"/>
                </a:solidFill>
                <a:effectLst/>
                <a:latin typeface="+mn-lt"/>
                <a:ea typeface="+mn-ea"/>
                <a:cs typeface="+mn-cs"/>
              </a:rPr>
              <a:t> </a:t>
            </a:r>
            <a:r>
              <a:rPr lang="en-US" sz="1200" b="1" i="1" kern="1200" dirty="0" err="1">
                <a:solidFill>
                  <a:schemeClr val="tx1"/>
                </a:solidFill>
                <a:effectLst/>
                <a:latin typeface="+mn-lt"/>
                <a:ea typeface="+mn-ea"/>
                <a:cs typeface="+mn-cs"/>
              </a:rPr>
              <a:t>luyện</a:t>
            </a:r>
            <a:r>
              <a:rPr lang="en-US" sz="1200" b="1" i="1" kern="1200" dirty="0">
                <a:solidFill>
                  <a:schemeClr val="tx1"/>
                </a:solidFill>
                <a:effectLst/>
                <a:latin typeface="+mn-lt"/>
                <a:ea typeface="+mn-ea"/>
                <a:cs typeface="+mn-cs"/>
              </a:rPr>
              <a:t> </a:t>
            </a:r>
            <a:r>
              <a:rPr lang="en-US" sz="1200" b="1" i="1" kern="1200" dirty="0" err="1">
                <a:solidFill>
                  <a:schemeClr val="tx1"/>
                </a:solidFill>
                <a:effectLst/>
                <a:latin typeface="+mn-lt"/>
                <a:ea typeface="+mn-ea"/>
                <a:cs typeface="+mn-cs"/>
              </a:rPr>
              <a:t>mô</a:t>
            </a:r>
            <a:r>
              <a:rPr lang="en-US" sz="1200" b="1" i="1" kern="1200" dirty="0">
                <a:solidFill>
                  <a:schemeClr val="tx1"/>
                </a:solidFill>
                <a:effectLst/>
                <a:latin typeface="+mn-lt"/>
                <a:ea typeface="+mn-ea"/>
                <a:cs typeface="+mn-cs"/>
              </a:rPr>
              <a:t> </a:t>
            </a:r>
            <a:r>
              <a:rPr lang="en-US" sz="1200" b="1" i="1" kern="1200" dirty="0" err="1">
                <a:solidFill>
                  <a:schemeClr val="tx1"/>
                </a:solidFill>
                <a:effectLst/>
                <a:latin typeface="+mn-lt"/>
                <a:ea typeface="+mn-ea"/>
                <a:cs typeface="+mn-cs"/>
              </a:rPr>
              <a:t>hình</a:t>
            </a:r>
            <a:r>
              <a:rPr lang="en-US" sz="1200" b="1" i="1" kern="1200" dirty="0">
                <a:solidFill>
                  <a:schemeClr val="tx1"/>
                </a:solidFill>
                <a:effectLst/>
                <a:latin typeface="+mn-lt"/>
                <a:ea typeface="+mn-ea"/>
                <a:cs typeface="+mn-cs"/>
              </a:rPr>
              <a:t> </a:t>
            </a:r>
            <a:r>
              <a:rPr lang="en-US" sz="1200" b="1" i="1" kern="1200" dirty="0" err="1">
                <a:solidFill>
                  <a:schemeClr val="tx1"/>
                </a:solidFill>
                <a:effectLst/>
                <a:latin typeface="+mn-lt"/>
                <a:ea typeface="+mn-ea"/>
                <a:cs typeface="+mn-cs"/>
              </a:rPr>
              <a:t>nhận</a:t>
            </a:r>
            <a:r>
              <a:rPr lang="en-US" sz="1200" b="1" i="1" kern="1200" dirty="0">
                <a:solidFill>
                  <a:schemeClr val="tx1"/>
                </a:solidFill>
                <a:effectLst/>
                <a:latin typeface="+mn-lt"/>
                <a:ea typeface="+mn-ea"/>
                <a:cs typeface="+mn-cs"/>
              </a:rPr>
              <a:t> </a:t>
            </a:r>
            <a:r>
              <a:rPr lang="en-US" sz="1200" b="1" i="1" kern="1200" dirty="0" err="1">
                <a:solidFill>
                  <a:schemeClr val="tx1"/>
                </a:solidFill>
                <a:effectLst/>
                <a:latin typeface="+mn-lt"/>
                <a:ea typeface="+mn-ea"/>
                <a:cs typeface="+mn-cs"/>
              </a:rPr>
              <a:t>diện</a:t>
            </a:r>
            <a:r>
              <a:rPr lang="en-US" sz="1200" b="1" i="1" kern="1200" dirty="0">
                <a:solidFill>
                  <a:schemeClr val="tx1"/>
                </a:solidFill>
                <a:effectLst/>
                <a:latin typeface="+mn-lt"/>
                <a:ea typeface="+mn-ea"/>
                <a:cs typeface="+mn-cs"/>
              </a:rPr>
              <a:t> </a:t>
            </a:r>
            <a:r>
              <a:rPr lang="en-US" sz="1200" b="1" i="1" kern="1200" dirty="0" err="1">
                <a:solidFill>
                  <a:schemeClr val="tx1"/>
                </a:solidFill>
                <a:effectLst/>
                <a:latin typeface="+mn-lt"/>
                <a:ea typeface="+mn-ea"/>
                <a:cs typeface="+mn-cs"/>
              </a:rPr>
              <a:t>ký</a:t>
            </a:r>
            <a:r>
              <a:rPr lang="en-US" sz="1200" b="1" i="1" kern="1200" dirty="0">
                <a:solidFill>
                  <a:schemeClr val="tx1"/>
                </a:solidFill>
                <a:effectLst/>
                <a:latin typeface="+mn-lt"/>
                <a:ea typeface="+mn-ea"/>
                <a:cs typeface="+mn-cs"/>
              </a:rPr>
              <a:t> </a:t>
            </a:r>
            <a:r>
              <a:rPr lang="en-US" sz="1200" b="1" i="1" kern="1200" dirty="0" err="1">
                <a:solidFill>
                  <a:schemeClr val="tx1"/>
                </a:solidFill>
                <a:effectLst/>
                <a:latin typeface="+mn-lt"/>
                <a:ea typeface="+mn-ea"/>
                <a:cs typeface="+mn-cs"/>
              </a:rPr>
              <a:t>tự</a:t>
            </a:r>
            <a:endParaRPr lang="en-US" sz="1200" b="1" kern="1200" dirty="0">
              <a:solidFill>
                <a:schemeClr val="tx1"/>
              </a:solidFill>
              <a:effectLst/>
              <a:latin typeface="+mn-lt"/>
              <a:ea typeface="+mn-ea"/>
              <a:cs typeface="+mn-cs"/>
            </a:endParaRPr>
          </a:p>
          <a:p>
            <a:pPr lvl="0"/>
            <a:r>
              <a:rPr lang="vi-VN" sz="1200" b="1" kern="1200" dirty="0">
                <a:solidFill>
                  <a:schemeClr val="tx1"/>
                </a:solidFill>
                <a:effectLst/>
                <a:latin typeface="+mn-lt"/>
                <a:ea typeface="+mn-ea"/>
                <a:cs typeface="+mn-cs"/>
              </a:rPr>
              <a:t>train/box_loss</a:t>
            </a:r>
            <a:r>
              <a:rPr lang="vi-VN" sz="1200" kern="1200" dirty="0">
                <a:solidFill>
                  <a:schemeClr val="tx1"/>
                </a:solidFill>
                <a:effectLst/>
                <a:latin typeface="+mn-lt"/>
                <a:ea typeface="+mn-ea"/>
                <a:cs typeface="+mn-cs"/>
              </a:rPr>
              <a:t>: Độ mất mát khi dự đoán bounding box trên tập huấn luyện giảm dần theo từng epoch, cho thấy mô hình ngày càng định vị vật thể chính xác hơn.</a:t>
            </a:r>
            <a:endParaRPr lang="en-US" sz="1200" kern="1200" dirty="0">
              <a:solidFill>
                <a:schemeClr val="tx1"/>
              </a:solidFill>
              <a:effectLst/>
              <a:latin typeface="+mn-lt"/>
              <a:ea typeface="+mn-ea"/>
              <a:cs typeface="+mn-cs"/>
            </a:endParaRPr>
          </a:p>
          <a:p>
            <a:pPr lvl="0"/>
            <a:r>
              <a:rPr lang="vi-VN" sz="1200" b="1" kern="1200" dirty="0">
                <a:solidFill>
                  <a:schemeClr val="tx1"/>
                </a:solidFill>
                <a:effectLst/>
                <a:latin typeface="+mn-lt"/>
                <a:ea typeface="+mn-ea"/>
                <a:cs typeface="+mn-cs"/>
              </a:rPr>
              <a:t>train/obj_loss</a:t>
            </a:r>
            <a:r>
              <a:rPr lang="vi-VN" sz="1200" kern="1200" dirty="0">
                <a:solidFill>
                  <a:schemeClr val="tx1"/>
                </a:solidFill>
                <a:effectLst/>
                <a:latin typeface="+mn-lt"/>
                <a:ea typeface="+mn-ea"/>
                <a:cs typeface="+mn-cs"/>
              </a:rPr>
              <a:t>: Độ mất mát khi xác định sự tồn tại của vật thể cũng giảm đều, chứng tỏ mô hình học tốt trong việc phân biệt vật thể và nền.</a:t>
            </a:r>
            <a:endParaRPr lang="en-US" sz="1200" kern="1200" dirty="0">
              <a:solidFill>
                <a:schemeClr val="tx1"/>
              </a:solidFill>
              <a:effectLst/>
              <a:latin typeface="+mn-lt"/>
              <a:ea typeface="+mn-ea"/>
              <a:cs typeface="+mn-cs"/>
            </a:endParaRPr>
          </a:p>
          <a:p>
            <a:pPr lvl="0"/>
            <a:r>
              <a:rPr lang="vi-VN" sz="1200" b="1" kern="1200" dirty="0">
                <a:solidFill>
                  <a:schemeClr val="tx1"/>
                </a:solidFill>
                <a:effectLst/>
                <a:latin typeface="+mn-lt"/>
                <a:ea typeface="+mn-ea"/>
                <a:cs typeface="+mn-cs"/>
              </a:rPr>
              <a:t>train/cls_loss</a:t>
            </a:r>
            <a:r>
              <a:rPr lang="vi-VN" sz="1200" kern="1200" dirty="0">
                <a:solidFill>
                  <a:schemeClr val="tx1"/>
                </a:solidFill>
                <a:effectLst/>
                <a:latin typeface="+mn-lt"/>
                <a:ea typeface="+mn-ea"/>
                <a:cs typeface="+mn-cs"/>
              </a:rPr>
              <a:t>: Độ mất mát phân loại trên tập huấn luyện giảm ổn định, phản ánh khả năng phân loại vật thể của mô hình được cải thiện.</a:t>
            </a:r>
            <a:endParaRPr lang="en-US" sz="1200" kern="1200" dirty="0">
              <a:solidFill>
                <a:schemeClr val="tx1"/>
              </a:solidFill>
              <a:effectLst/>
              <a:latin typeface="+mn-lt"/>
              <a:ea typeface="+mn-ea"/>
              <a:cs typeface="+mn-cs"/>
            </a:endParaRPr>
          </a:p>
          <a:p>
            <a:pPr lvl="0"/>
            <a:r>
              <a:rPr lang="vi-VN" sz="1200" b="1" kern="1200" dirty="0">
                <a:solidFill>
                  <a:schemeClr val="tx1"/>
                </a:solidFill>
                <a:effectLst/>
                <a:latin typeface="+mn-lt"/>
                <a:ea typeface="+mn-ea"/>
                <a:cs typeface="+mn-cs"/>
              </a:rPr>
              <a:t>val/box_loss</a:t>
            </a:r>
            <a:r>
              <a:rPr lang="vi-VN" sz="1200" kern="1200" dirty="0">
                <a:solidFill>
                  <a:schemeClr val="tx1"/>
                </a:solidFill>
                <a:effectLst/>
                <a:latin typeface="+mn-lt"/>
                <a:ea typeface="+mn-ea"/>
                <a:cs typeface="+mn-cs"/>
              </a:rPr>
              <a:t>: Độ mất mát bounding box trên tập kiểm tra giảm tương tự như tập huấn luyện, cho thấy mô hình không bị overfitting và có khả năng tổng quát tốt.</a:t>
            </a:r>
            <a:endParaRPr lang="en-US" sz="1200" kern="1200" dirty="0">
              <a:solidFill>
                <a:schemeClr val="tx1"/>
              </a:solidFill>
              <a:effectLst/>
              <a:latin typeface="+mn-lt"/>
              <a:ea typeface="+mn-ea"/>
              <a:cs typeface="+mn-cs"/>
            </a:endParaRPr>
          </a:p>
          <a:p>
            <a:pPr lvl="0"/>
            <a:r>
              <a:rPr lang="vi-VN" sz="1200" b="1" kern="1200" dirty="0">
                <a:solidFill>
                  <a:schemeClr val="tx1"/>
                </a:solidFill>
                <a:effectLst/>
                <a:latin typeface="+mn-lt"/>
                <a:ea typeface="+mn-ea"/>
                <a:cs typeface="+mn-cs"/>
              </a:rPr>
              <a:t>val/obj_loss</a:t>
            </a:r>
            <a:r>
              <a:rPr lang="vi-VN" sz="1200" kern="1200" dirty="0">
                <a:solidFill>
                  <a:schemeClr val="tx1"/>
                </a:solidFill>
                <a:effectLst/>
                <a:latin typeface="+mn-lt"/>
                <a:ea typeface="+mn-ea"/>
                <a:cs typeface="+mn-cs"/>
              </a:rPr>
              <a:t>: Độ mất mát objectness trên tập kiểm tra giảm đều, chứng minh mô hình duy trì hiệu suất phát hiện vật thể trên dữ liệu mới.</a:t>
            </a:r>
            <a:endParaRPr lang="en-US" sz="1200" kern="1200" dirty="0">
              <a:solidFill>
                <a:schemeClr val="tx1"/>
              </a:solidFill>
              <a:effectLst/>
              <a:latin typeface="+mn-lt"/>
              <a:ea typeface="+mn-ea"/>
              <a:cs typeface="+mn-cs"/>
            </a:endParaRPr>
          </a:p>
          <a:p>
            <a:pPr lvl="0"/>
            <a:r>
              <a:rPr lang="vi-VN" sz="1200" b="1" kern="1200" dirty="0">
                <a:solidFill>
                  <a:schemeClr val="tx1"/>
                </a:solidFill>
                <a:effectLst/>
                <a:latin typeface="+mn-lt"/>
                <a:ea typeface="+mn-ea"/>
                <a:cs typeface="+mn-cs"/>
              </a:rPr>
              <a:t>val/cls_loss</a:t>
            </a:r>
            <a:r>
              <a:rPr lang="vi-VN" sz="1200" kern="1200" dirty="0">
                <a:solidFill>
                  <a:schemeClr val="tx1"/>
                </a:solidFill>
                <a:effectLst/>
                <a:latin typeface="+mn-lt"/>
                <a:ea typeface="+mn-ea"/>
                <a:cs typeface="+mn-cs"/>
              </a:rPr>
              <a:t>: Độ mất mát phân loại trên tập kiểm tra cũng giảm, cho thấy mô hình phân loại chính xác ngay cả với dữ liệu chưa từng thấy.</a:t>
            </a:r>
            <a:endParaRPr lang="en-US" sz="1200" kern="1200" dirty="0">
              <a:solidFill>
                <a:schemeClr val="tx1"/>
              </a:solidFill>
              <a:effectLst/>
              <a:latin typeface="+mn-lt"/>
              <a:ea typeface="+mn-ea"/>
              <a:cs typeface="+mn-cs"/>
            </a:endParaRPr>
          </a:p>
          <a:p>
            <a:pPr lvl="0"/>
            <a:r>
              <a:rPr lang="vi-VN" sz="1200" b="1" kern="1200" dirty="0">
                <a:solidFill>
                  <a:schemeClr val="tx1"/>
                </a:solidFill>
                <a:effectLst/>
                <a:latin typeface="+mn-lt"/>
                <a:ea typeface="+mn-ea"/>
                <a:cs typeface="+mn-cs"/>
              </a:rPr>
              <a:t>metrics/precision</a:t>
            </a:r>
            <a:r>
              <a:rPr lang="vi-VN" sz="1200" kern="1200" dirty="0">
                <a:solidFill>
                  <a:schemeClr val="tx1"/>
                </a:solidFill>
                <a:effectLst/>
                <a:latin typeface="+mn-lt"/>
                <a:ea typeface="+mn-ea"/>
                <a:cs typeface="+mn-cs"/>
              </a:rPr>
              <a:t>: Precision tăng dần và ổn định, nghĩa là mô hình ngày càng ít dự đoán sai (false positives).</a:t>
            </a:r>
            <a:endParaRPr lang="en-US" sz="1200" kern="1200" dirty="0">
              <a:solidFill>
                <a:schemeClr val="tx1"/>
              </a:solidFill>
              <a:effectLst/>
              <a:latin typeface="+mn-lt"/>
              <a:ea typeface="+mn-ea"/>
              <a:cs typeface="+mn-cs"/>
            </a:endParaRPr>
          </a:p>
          <a:p>
            <a:pPr lvl="0"/>
            <a:r>
              <a:rPr lang="vi-VN" sz="1200" b="1" kern="1200" dirty="0">
                <a:solidFill>
                  <a:schemeClr val="tx1"/>
                </a:solidFill>
                <a:effectLst/>
                <a:latin typeface="+mn-lt"/>
                <a:ea typeface="+mn-ea"/>
                <a:cs typeface="+mn-cs"/>
              </a:rPr>
              <a:t>metrics/recall</a:t>
            </a:r>
            <a:r>
              <a:rPr lang="vi-VN" sz="1200" kern="1200" dirty="0">
                <a:solidFill>
                  <a:schemeClr val="tx1"/>
                </a:solidFill>
                <a:effectLst/>
                <a:latin typeface="+mn-lt"/>
                <a:ea typeface="+mn-ea"/>
                <a:cs typeface="+mn-cs"/>
              </a:rPr>
              <a:t>: Recall cũng tăng và ổn định, cho thấy mô hình ngày càng ít bỏ sót vật thể (false negatives).</a:t>
            </a:r>
            <a:endParaRPr lang="en-US" sz="1200" kern="1200" dirty="0">
              <a:solidFill>
                <a:schemeClr val="tx1"/>
              </a:solidFill>
              <a:effectLst/>
              <a:latin typeface="+mn-lt"/>
              <a:ea typeface="+mn-ea"/>
              <a:cs typeface="+mn-cs"/>
            </a:endParaRPr>
          </a:p>
          <a:p>
            <a:pPr lvl="0"/>
            <a:r>
              <a:rPr lang="vi-VN" sz="1200" b="1" kern="1200" dirty="0">
                <a:solidFill>
                  <a:schemeClr val="tx1"/>
                </a:solidFill>
                <a:effectLst/>
                <a:latin typeface="+mn-lt"/>
                <a:ea typeface="+mn-ea"/>
                <a:cs typeface="+mn-cs"/>
              </a:rPr>
              <a:t>metrics/mAP_0.5</a:t>
            </a:r>
            <a:r>
              <a:rPr lang="vi-VN" sz="1200" kern="1200" dirty="0">
                <a:solidFill>
                  <a:schemeClr val="tx1"/>
                </a:solidFill>
                <a:effectLst/>
                <a:latin typeface="+mn-lt"/>
                <a:ea typeface="+mn-ea"/>
                <a:cs typeface="+mn-cs"/>
              </a:rPr>
              <a:t>: mAP tại ngưỡng IoU = 0.5 tăng đều, phản ánh hiệu suất phát hiện vật thể ở mức cơ bản được cải thiện rõ rệt.</a:t>
            </a:r>
            <a:endParaRPr lang="en-US" sz="1200" kern="1200" dirty="0">
              <a:solidFill>
                <a:schemeClr val="tx1"/>
              </a:solidFill>
              <a:effectLst/>
              <a:latin typeface="+mn-lt"/>
              <a:ea typeface="+mn-ea"/>
              <a:cs typeface="+mn-cs"/>
            </a:endParaRPr>
          </a:p>
          <a:p>
            <a:pPr lvl="0"/>
            <a:r>
              <a:rPr lang="vi-VN" sz="1200" b="1" kern="1200" dirty="0">
                <a:solidFill>
                  <a:schemeClr val="tx1"/>
                </a:solidFill>
                <a:effectLst/>
                <a:latin typeface="+mn-lt"/>
                <a:ea typeface="+mn-ea"/>
                <a:cs typeface="+mn-cs"/>
              </a:rPr>
              <a:t>metrics/mAP_0.5:0.95</a:t>
            </a:r>
            <a:r>
              <a:rPr lang="vi-VN" sz="1200" kern="1200" dirty="0">
                <a:solidFill>
                  <a:schemeClr val="tx1"/>
                </a:solidFill>
                <a:effectLst/>
                <a:latin typeface="+mn-lt"/>
                <a:ea typeface="+mn-ea"/>
                <a:cs typeface="+mn-cs"/>
              </a:rPr>
              <a:t>: mAP trung bình trên nhiều ngưỡng IoU cũng tăng, cho thấy mô hình hoạt động tốt trên nhiều mức độ khắt khe khác nhau trong việc phát hiện vật thể.</a:t>
            </a:r>
            <a:endParaRPr lang="en-US" sz="1200" kern="1200" dirty="0">
              <a:solidFill>
                <a:schemeClr val="tx1"/>
              </a:solidFill>
              <a:effectLst/>
              <a:latin typeface="+mn-lt"/>
              <a:ea typeface="+mn-ea"/>
              <a:cs typeface="+mn-cs"/>
            </a:endParaRPr>
          </a:p>
          <a:p>
            <a:endParaRPr lang="en-US" dirty="0"/>
          </a:p>
        </p:txBody>
      </p:sp>
    </p:spTree>
    <p:extLst>
      <p:ext uri="{BB962C8B-B14F-4D97-AF65-F5344CB8AC3E}">
        <p14:creationId xmlns:p14="http://schemas.microsoft.com/office/powerpoint/2010/main" val="10417790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FFDA5-EFFC-136D-E2A1-C67FFF6BC4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FDC527-06FB-908F-C246-25FC1424AC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D31631-6547-375F-BEB1-9BE2F8711A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CAE79E-7018-CB9F-66C4-75B0C176981A}"/>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2784442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1346836"/>
            <a:ext cx="10972800" cy="2865120"/>
          </a:xfrm>
        </p:spPr>
        <p:txBody>
          <a:bodyPr anchor="b"/>
          <a:lstStyle>
            <a:lvl1pPr algn="ctr">
              <a:defRPr sz="7200"/>
            </a:lvl1pPr>
          </a:lstStyle>
          <a:p>
            <a:r>
              <a:rPr lang="en-US"/>
              <a:t>Click to edit Master title style</a:t>
            </a:r>
            <a:endParaRPr lang="en-US" dirty="0"/>
          </a:p>
        </p:txBody>
      </p:sp>
      <p:sp>
        <p:nvSpPr>
          <p:cNvPr id="3" name="Subtitle 2"/>
          <p:cNvSpPr>
            <a:spLocks noGrp="1"/>
          </p:cNvSpPr>
          <p:nvPr>
            <p:ph type="subTitle" idx="1"/>
          </p:nvPr>
        </p:nvSpPr>
        <p:spPr>
          <a:xfrm>
            <a:off x="1828800" y="4322446"/>
            <a:ext cx="109728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07-Aug-25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215532521"/>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07-Aug-25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027643803"/>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98220" y="2051686"/>
            <a:ext cx="12618720" cy="3423284"/>
          </a:xfrm>
        </p:spPr>
        <p:txBody>
          <a:bodyPr anchor="b"/>
          <a:lstStyle>
            <a:lvl1pPr>
              <a:defRPr sz="7200"/>
            </a:lvl1pPr>
          </a:lstStyle>
          <a:p>
            <a:r>
              <a:rPr lang="en-US"/>
              <a:t>Click to edit Master title style</a:t>
            </a:r>
            <a:endParaRPr lang="en-US" dirty="0"/>
          </a:p>
        </p:txBody>
      </p:sp>
      <p:sp>
        <p:nvSpPr>
          <p:cNvPr id="3" name="Text Placeholder 2"/>
          <p:cNvSpPr>
            <a:spLocks noGrp="1"/>
          </p:cNvSpPr>
          <p:nvPr>
            <p:ph type="body" idx="1"/>
          </p:nvPr>
        </p:nvSpPr>
        <p:spPr>
          <a:xfrm>
            <a:off x="998220" y="5507356"/>
            <a:ext cx="12618720" cy="1800224"/>
          </a:xfrm>
        </p:spPr>
        <p:txBody>
          <a:bodyPr/>
          <a:lstStyle>
            <a:lvl1pPr marL="0" indent="0">
              <a:buNone/>
              <a:defRPr sz="2880">
                <a:solidFill>
                  <a:schemeClr val="tx1">
                    <a:tint val="75000"/>
                  </a:schemeClr>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07-Aug-25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48235230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058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4066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07-Aug-25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2307507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07746" y="438150"/>
            <a:ext cx="12618720" cy="1590676"/>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07746" y="2017396"/>
            <a:ext cx="6189344"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1007746" y="3006090"/>
            <a:ext cx="6189344"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406640" y="2017396"/>
            <a:ext cx="6219826"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7406640" y="3006090"/>
            <a:ext cx="6219826"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07-Aug-25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167901522"/>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07-Aug-25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605603390"/>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07-Aug-25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005997860"/>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US" dirty="0"/>
          </a:p>
        </p:txBody>
      </p:sp>
      <p:sp>
        <p:nvSpPr>
          <p:cNvPr id="3" name="Content Placeholder 2"/>
          <p:cNvSpPr>
            <a:spLocks noGrp="1"/>
          </p:cNvSpPr>
          <p:nvPr>
            <p:ph idx="1"/>
          </p:nvPr>
        </p:nvSpPr>
        <p:spPr>
          <a:xfrm>
            <a:off x="6219826" y="1184911"/>
            <a:ext cx="740664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07-Aug-25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307898557"/>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US" dirty="0"/>
          </a:p>
        </p:txBody>
      </p:sp>
      <p:sp>
        <p:nvSpPr>
          <p:cNvPr id="3" name="Picture Placeholder 2"/>
          <p:cNvSpPr>
            <a:spLocks noGrp="1" noChangeAspect="1"/>
          </p:cNvSpPr>
          <p:nvPr>
            <p:ph type="pic" idx="1"/>
          </p:nvPr>
        </p:nvSpPr>
        <p:spPr>
          <a:xfrm>
            <a:off x="6219826" y="1184911"/>
            <a:ext cx="7406640" cy="5848350"/>
          </a:xfrm>
        </p:spPr>
        <p:txBody>
          <a:bodyPr anchor="t"/>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07-Aug-25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33224815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07-Aug-25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70525382"/>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469880" y="438150"/>
            <a:ext cx="3154680" cy="697420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05840" y="438150"/>
            <a:ext cx="9281160" cy="69742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07-Aug-25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592105014"/>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74225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88"/>
        <p:cNvGrpSpPr/>
        <p:nvPr/>
      </p:nvGrpSpPr>
      <p:grpSpPr>
        <a:xfrm>
          <a:off x="0" y="0"/>
          <a:ext cx="0" cy="0"/>
          <a:chOff x="0" y="0"/>
          <a:chExt cx="0" cy="0"/>
        </a:xfrm>
      </p:grpSpPr>
      <p:sp>
        <p:nvSpPr>
          <p:cNvPr id="94" name="Google Shape;94;p13"/>
          <p:cNvSpPr txBox="1">
            <a:spLocks noGrp="1"/>
          </p:cNvSpPr>
          <p:nvPr>
            <p:ph type="title"/>
          </p:nvPr>
        </p:nvSpPr>
        <p:spPr>
          <a:xfrm>
            <a:off x="1061120" y="712040"/>
            <a:ext cx="12326400" cy="91632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448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95" name="Google Shape;95;p13"/>
          <p:cNvSpPr txBox="1">
            <a:spLocks noGrp="1"/>
          </p:cNvSpPr>
          <p:nvPr>
            <p:ph type="subTitle" idx="1"/>
          </p:nvPr>
        </p:nvSpPr>
        <p:spPr>
          <a:xfrm>
            <a:off x="1261880" y="3369400"/>
            <a:ext cx="3688800" cy="91632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224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96" name="Google Shape;96;p13"/>
          <p:cNvSpPr txBox="1">
            <a:spLocks noGrp="1"/>
          </p:cNvSpPr>
          <p:nvPr>
            <p:ph type="subTitle" idx="2"/>
          </p:nvPr>
        </p:nvSpPr>
        <p:spPr>
          <a:xfrm>
            <a:off x="1261880" y="6036083"/>
            <a:ext cx="3688800" cy="91632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224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97" name="Google Shape;97;p13"/>
          <p:cNvSpPr txBox="1">
            <a:spLocks noGrp="1"/>
          </p:cNvSpPr>
          <p:nvPr>
            <p:ph type="subTitle" idx="3"/>
          </p:nvPr>
        </p:nvSpPr>
        <p:spPr>
          <a:xfrm>
            <a:off x="5469600" y="6036083"/>
            <a:ext cx="3688800" cy="91632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224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98" name="Google Shape;98;p13"/>
          <p:cNvSpPr txBox="1">
            <a:spLocks noGrp="1"/>
          </p:cNvSpPr>
          <p:nvPr>
            <p:ph type="subTitle" idx="4"/>
          </p:nvPr>
        </p:nvSpPr>
        <p:spPr>
          <a:xfrm>
            <a:off x="5469600" y="3369400"/>
            <a:ext cx="3688800" cy="91632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224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99" name="Google Shape;99;p13"/>
          <p:cNvSpPr txBox="1">
            <a:spLocks noGrp="1"/>
          </p:cNvSpPr>
          <p:nvPr>
            <p:ph type="title" idx="5" hasCustomPrompt="1"/>
          </p:nvPr>
        </p:nvSpPr>
        <p:spPr>
          <a:xfrm>
            <a:off x="1471320" y="2111440"/>
            <a:ext cx="585120" cy="585120"/>
          </a:xfrm>
          <a:prstGeom prst="rect">
            <a:avLst/>
          </a:prstGeom>
          <a:solidFill>
            <a:schemeClr val="dk1"/>
          </a:solid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1760">
                <a:solidFill>
                  <a:schemeClr val="lt1"/>
                </a:solidFill>
              </a:defRPr>
            </a:lvl1pPr>
            <a:lvl2pPr lvl="1" rtl="0">
              <a:spcBef>
                <a:spcPts val="0"/>
              </a:spcBef>
              <a:spcAft>
                <a:spcPts val="0"/>
              </a:spcAft>
              <a:buSzPts val="3000"/>
              <a:buNone/>
              <a:defRPr sz="4800"/>
            </a:lvl2pPr>
            <a:lvl3pPr lvl="2" rtl="0">
              <a:spcBef>
                <a:spcPts val="0"/>
              </a:spcBef>
              <a:spcAft>
                <a:spcPts val="0"/>
              </a:spcAft>
              <a:buSzPts val="3000"/>
              <a:buNone/>
              <a:defRPr sz="4800"/>
            </a:lvl3pPr>
            <a:lvl4pPr lvl="3" rtl="0">
              <a:spcBef>
                <a:spcPts val="0"/>
              </a:spcBef>
              <a:spcAft>
                <a:spcPts val="0"/>
              </a:spcAft>
              <a:buSzPts val="3000"/>
              <a:buNone/>
              <a:defRPr sz="4800"/>
            </a:lvl4pPr>
            <a:lvl5pPr lvl="4" rtl="0">
              <a:spcBef>
                <a:spcPts val="0"/>
              </a:spcBef>
              <a:spcAft>
                <a:spcPts val="0"/>
              </a:spcAft>
              <a:buSzPts val="3000"/>
              <a:buNone/>
              <a:defRPr sz="4800"/>
            </a:lvl5pPr>
            <a:lvl6pPr lvl="5" rtl="0">
              <a:spcBef>
                <a:spcPts val="0"/>
              </a:spcBef>
              <a:spcAft>
                <a:spcPts val="0"/>
              </a:spcAft>
              <a:buSzPts val="3000"/>
              <a:buNone/>
              <a:defRPr sz="4800"/>
            </a:lvl6pPr>
            <a:lvl7pPr lvl="6" rtl="0">
              <a:spcBef>
                <a:spcPts val="0"/>
              </a:spcBef>
              <a:spcAft>
                <a:spcPts val="0"/>
              </a:spcAft>
              <a:buSzPts val="3000"/>
              <a:buNone/>
              <a:defRPr sz="4800"/>
            </a:lvl7pPr>
            <a:lvl8pPr lvl="7" rtl="0">
              <a:spcBef>
                <a:spcPts val="0"/>
              </a:spcBef>
              <a:spcAft>
                <a:spcPts val="0"/>
              </a:spcAft>
              <a:buSzPts val="3000"/>
              <a:buNone/>
              <a:defRPr sz="4800"/>
            </a:lvl8pPr>
            <a:lvl9pPr lvl="8" rtl="0">
              <a:spcBef>
                <a:spcPts val="0"/>
              </a:spcBef>
              <a:spcAft>
                <a:spcPts val="0"/>
              </a:spcAft>
              <a:buSzPts val="3000"/>
              <a:buNone/>
              <a:defRPr sz="4800"/>
            </a:lvl9pPr>
          </a:lstStyle>
          <a:p>
            <a:r>
              <a:t>xx%</a:t>
            </a:r>
          </a:p>
        </p:txBody>
      </p:sp>
      <p:sp>
        <p:nvSpPr>
          <p:cNvPr id="100" name="Google Shape;100;p13"/>
          <p:cNvSpPr txBox="1">
            <a:spLocks noGrp="1"/>
          </p:cNvSpPr>
          <p:nvPr>
            <p:ph type="title" idx="6" hasCustomPrompt="1"/>
          </p:nvPr>
        </p:nvSpPr>
        <p:spPr>
          <a:xfrm>
            <a:off x="5614480" y="4764120"/>
            <a:ext cx="585120" cy="585120"/>
          </a:xfrm>
          <a:prstGeom prst="rect">
            <a:avLst/>
          </a:prstGeom>
          <a:solidFill>
            <a:schemeClr val="dk1"/>
          </a:solid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1760">
                <a:solidFill>
                  <a:schemeClr val="lt1"/>
                </a:solidFill>
              </a:defRPr>
            </a:lvl1pPr>
            <a:lvl2pPr lvl="1" rtl="0">
              <a:spcBef>
                <a:spcPts val="0"/>
              </a:spcBef>
              <a:spcAft>
                <a:spcPts val="0"/>
              </a:spcAft>
              <a:buSzPts val="3000"/>
              <a:buNone/>
              <a:defRPr sz="4800"/>
            </a:lvl2pPr>
            <a:lvl3pPr lvl="2" rtl="0">
              <a:spcBef>
                <a:spcPts val="0"/>
              </a:spcBef>
              <a:spcAft>
                <a:spcPts val="0"/>
              </a:spcAft>
              <a:buSzPts val="3000"/>
              <a:buNone/>
              <a:defRPr sz="4800"/>
            </a:lvl3pPr>
            <a:lvl4pPr lvl="3" rtl="0">
              <a:spcBef>
                <a:spcPts val="0"/>
              </a:spcBef>
              <a:spcAft>
                <a:spcPts val="0"/>
              </a:spcAft>
              <a:buSzPts val="3000"/>
              <a:buNone/>
              <a:defRPr sz="4800"/>
            </a:lvl4pPr>
            <a:lvl5pPr lvl="4" rtl="0">
              <a:spcBef>
                <a:spcPts val="0"/>
              </a:spcBef>
              <a:spcAft>
                <a:spcPts val="0"/>
              </a:spcAft>
              <a:buSzPts val="3000"/>
              <a:buNone/>
              <a:defRPr sz="4800"/>
            </a:lvl5pPr>
            <a:lvl6pPr lvl="5" rtl="0">
              <a:spcBef>
                <a:spcPts val="0"/>
              </a:spcBef>
              <a:spcAft>
                <a:spcPts val="0"/>
              </a:spcAft>
              <a:buSzPts val="3000"/>
              <a:buNone/>
              <a:defRPr sz="4800"/>
            </a:lvl6pPr>
            <a:lvl7pPr lvl="6" rtl="0">
              <a:spcBef>
                <a:spcPts val="0"/>
              </a:spcBef>
              <a:spcAft>
                <a:spcPts val="0"/>
              </a:spcAft>
              <a:buSzPts val="3000"/>
              <a:buNone/>
              <a:defRPr sz="4800"/>
            </a:lvl7pPr>
            <a:lvl8pPr lvl="7" rtl="0">
              <a:spcBef>
                <a:spcPts val="0"/>
              </a:spcBef>
              <a:spcAft>
                <a:spcPts val="0"/>
              </a:spcAft>
              <a:buSzPts val="3000"/>
              <a:buNone/>
              <a:defRPr sz="4800"/>
            </a:lvl8pPr>
            <a:lvl9pPr lvl="8" rtl="0">
              <a:spcBef>
                <a:spcPts val="0"/>
              </a:spcBef>
              <a:spcAft>
                <a:spcPts val="0"/>
              </a:spcAft>
              <a:buSzPts val="3000"/>
              <a:buNone/>
              <a:defRPr sz="4800"/>
            </a:lvl9pPr>
          </a:lstStyle>
          <a:p>
            <a:r>
              <a:t>xx%</a:t>
            </a:r>
          </a:p>
        </p:txBody>
      </p:sp>
      <p:sp>
        <p:nvSpPr>
          <p:cNvPr id="101" name="Google Shape;101;p13"/>
          <p:cNvSpPr txBox="1">
            <a:spLocks noGrp="1"/>
          </p:cNvSpPr>
          <p:nvPr>
            <p:ph type="title" idx="7" hasCustomPrompt="1"/>
          </p:nvPr>
        </p:nvSpPr>
        <p:spPr>
          <a:xfrm>
            <a:off x="1471320" y="4764120"/>
            <a:ext cx="585120" cy="585120"/>
          </a:xfrm>
          <a:prstGeom prst="rect">
            <a:avLst/>
          </a:prstGeom>
          <a:solidFill>
            <a:schemeClr val="dk1"/>
          </a:solid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1760">
                <a:solidFill>
                  <a:schemeClr val="lt1"/>
                </a:solidFill>
              </a:defRPr>
            </a:lvl1pPr>
            <a:lvl2pPr lvl="1" rtl="0">
              <a:spcBef>
                <a:spcPts val="0"/>
              </a:spcBef>
              <a:spcAft>
                <a:spcPts val="0"/>
              </a:spcAft>
              <a:buSzPts val="3000"/>
              <a:buNone/>
              <a:defRPr sz="4800"/>
            </a:lvl2pPr>
            <a:lvl3pPr lvl="2" rtl="0">
              <a:spcBef>
                <a:spcPts val="0"/>
              </a:spcBef>
              <a:spcAft>
                <a:spcPts val="0"/>
              </a:spcAft>
              <a:buSzPts val="3000"/>
              <a:buNone/>
              <a:defRPr sz="4800"/>
            </a:lvl3pPr>
            <a:lvl4pPr lvl="3" rtl="0">
              <a:spcBef>
                <a:spcPts val="0"/>
              </a:spcBef>
              <a:spcAft>
                <a:spcPts val="0"/>
              </a:spcAft>
              <a:buSzPts val="3000"/>
              <a:buNone/>
              <a:defRPr sz="4800"/>
            </a:lvl4pPr>
            <a:lvl5pPr lvl="4" rtl="0">
              <a:spcBef>
                <a:spcPts val="0"/>
              </a:spcBef>
              <a:spcAft>
                <a:spcPts val="0"/>
              </a:spcAft>
              <a:buSzPts val="3000"/>
              <a:buNone/>
              <a:defRPr sz="4800"/>
            </a:lvl5pPr>
            <a:lvl6pPr lvl="5" rtl="0">
              <a:spcBef>
                <a:spcPts val="0"/>
              </a:spcBef>
              <a:spcAft>
                <a:spcPts val="0"/>
              </a:spcAft>
              <a:buSzPts val="3000"/>
              <a:buNone/>
              <a:defRPr sz="4800"/>
            </a:lvl6pPr>
            <a:lvl7pPr lvl="6" rtl="0">
              <a:spcBef>
                <a:spcPts val="0"/>
              </a:spcBef>
              <a:spcAft>
                <a:spcPts val="0"/>
              </a:spcAft>
              <a:buSzPts val="3000"/>
              <a:buNone/>
              <a:defRPr sz="4800"/>
            </a:lvl7pPr>
            <a:lvl8pPr lvl="7" rtl="0">
              <a:spcBef>
                <a:spcPts val="0"/>
              </a:spcBef>
              <a:spcAft>
                <a:spcPts val="0"/>
              </a:spcAft>
              <a:buSzPts val="3000"/>
              <a:buNone/>
              <a:defRPr sz="4800"/>
            </a:lvl8pPr>
            <a:lvl9pPr lvl="8" rtl="0">
              <a:spcBef>
                <a:spcPts val="0"/>
              </a:spcBef>
              <a:spcAft>
                <a:spcPts val="0"/>
              </a:spcAft>
              <a:buSzPts val="3000"/>
              <a:buNone/>
              <a:defRPr sz="4800"/>
            </a:lvl9pPr>
          </a:lstStyle>
          <a:p>
            <a:r>
              <a:t>xx%</a:t>
            </a:r>
          </a:p>
        </p:txBody>
      </p:sp>
      <p:sp>
        <p:nvSpPr>
          <p:cNvPr id="102" name="Google Shape;102;p13"/>
          <p:cNvSpPr txBox="1">
            <a:spLocks noGrp="1"/>
          </p:cNvSpPr>
          <p:nvPr>
            <p:ph type="title" idx="8" hasCustomPrompt="1"/>
          </p:nvPr>
        </p:nvSpPr>
        <p:spPr>
          <a:xfrm>
            <a:off x="5645240" y="2111440"/>
            <a:ext cx="585120" cy="585120"/>
          </a:xfrm>
          <a:prstGeom prst="rect">
            <a:avLst/>
          </a:prstGeom>
          <a:solidFill>
            <a:schemeClr val="dk1"/>
          </a:solid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1760">
                <a:solidFill>
                  <a:schemeClr val="lt1"/>
                </a:solidFill>
              </a:defRPr>
            </a:lvl1pPr>
            <a:lvl2pPr lvl="1" rtl="0">
              <a:spcBef>
                <a:spcPts val="0"/>
              </a:spcBef>
              <a:spcAft>
                <a:spcPts val="0"/>
              </a:spcAft>
              <a:buSzPts val="3000"/>
              <a:buNone/>
              <a:defRPr sz="4800"/>
            </a:lvl2pPr>
            <a:lvl3pPr lvl="2" rtl="0">
              <a:spcBef>
                <a:spcPts val="0"/>
              </a:spcBef>
              <a:spcAft>
                <a:spcPts val="0"/>
              </a:spcAft>
              <a:buSzPts val="3000"/>
              <a:buNone/>
              <a:defRPr sz="4800"/>
            </a:lvl3pPr>
            <a:lvl4pPr lvl="3" rtl="0">
              <a:spcBef>
                <a:spcPts val="0"/>
              </a:spcBef>
              <a:spcAft>
                <a:spcPts val="0"/>
              </a:spcAft>
              <a:buSzPts val="3000"/>
              <a:buNone/>
              <a:defRPr sz="4800"/>
            </a:lvl4pPr>
            <a:lvl5pPr lvl="4" rtl="0">
              <a:spcBef>
                <a:spcPts val="0"/>
              </a:spcBef>
              <a:spcAft>
                <a:spcPts val="0"/>
              </a:spcAft>
              <a:buSzPts val="3000"/>
              <a:buNone/>
              <a:defRPr sz="4800"/>
            </a:lvl5pPr>
            <a:lvl6pPr lvl="5" rtl="0">
              <a:spcBef>
                <a:spcPts val="0"/>
              </a:spcBef>
              <a:spcAft>
                <a:spcPts val="0"/>
              </a:spcAft>
              <a:buSzPts val="3000"/>
              <a:buNone/>
              <a:defRPr sz="4800"/>
            </a:lvl6pPr>
            <a:lvl7pPr lvl="6" rtl="0">
              <a:spcBef>
                <a:spcPts val="0"/>
              </a:spcBef>
              <a:spcAft>
                <a:spcPts val="0"/>
              </a:spcAft>
              <a:buSzPts val="3000"/>
              <a:buNone/>
              <a:defRPr sz="4800"/>
            </a:lvl7pPr>
            <a:lvl8pPr lvl="7" rtl="0">
              <a:spcBef>
                <a:spcPts val="0"/>
              </a:spcBef>
              <a:spcAft>
                <a:spcPts val="0"/>
              </a:spcAft>
              <a:buSzPts val="3000"/>
              <a:buNone/>
              <a:defRPr sz="4800"/>
            </a:lvl8pPr>
            <a:lvl9pPr lvl="8" rtl="0">
              <a:spcBef>
                <a:spcPts val="0"/>
              </a:spcBef>
              <a:spcAft>
                <a:spcPts val="0"/>
              </a:spcAft>
              <a:buSzPts val="3000"/>
              <a:buNone/>
              <a:defRPr sz="4800"/>
            </a:lvl9pPr>
          </a:lstStyle>
          <a:p>
            <a:r>
              <a:t>xx%</a:t>
            </a:r>
          </a:p>
        </p:txBody>
      </p:sp>
      <p:sp>
        <p:nvSpPr>
          <p:cNvPr id="103" name="Google Shape;103;p13"/>
          <p:cNvSpPr txBox="1">
            <a:spLocks noGrp="1"/>
          </p:cNvSpPr>
          <p:nvPr>
            <p:ph type="subTitle" idx="9"/>
          </p:nvPr>
        </p:nvSpPr>
        <p:spPr>
          <a:xfrm>
            <a:off x="9677320" y="6036083"/>
            <a:ext cx="3688800" cy="91632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224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04" name="Google Shape;104;p13"/>
          <p:cNvSpPr txBox="1">
            <a:spLocks noGrp="1"/>
          </p:cNvSpPr>
          <p:nvPr>
            <p:ph type="subTitle" idx="13"/>
          </p:nvPr>
        </p:nvSpPr>
        <p:spPr>
          <a:xfrm>
            <a:off x="9677320" y="3369400"/>
            <a:ext cx="3688800" cy="91632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224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05" name="Google Shape;105;p13"/>
          <p:cNvSpPr txBox="1">
            <a:spLocks noGrp="1"/>
          </p:cNvSpPr>
          <p:nvPr>
            <p:ph type="title" idx="14" hasCustomPrompt="1"/>
          </p:nvPr>
        </p:nvSpPr>
        <p:spPr>
          <a:xfrm>
            <a:off x="9819160" y="4764120"/>
            <a:ext cx="585120" cy="585120"/>
          </a:xfrm>
          <a:prstGeom prst="rect">
            <a:avLst/>
          </a:prstGeom>
          <a:solidFill>
            <a:schemeClr val="dk1"/>
          </a:solid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1760">
                <a:solidFill>
                  <a:schemeClr val="lt1"/>
                </a:solidFill>
              </a:defRPr>
            </a:lvl1pPr>
            <a:lvl2pPr lvl="1" rtl="0">
              <a:spcBef>
                <a:spcPts val="0"/>
              </a:spcBef>
              <a:spcAft>
                <a:spcPts val="0"/>
              </a:spcAft>
              <a:buSzPts val="3000"/>
              <a:buNone/>
              <a:defRPr sz="4800"/>
            </a:lvl2pPr>
            <a:lvl3pPr lvl="2" rtl="0">
              <a:spcBef>
                <a:spcPts val="0"/>
              </a:spcBef>
              <a:spcAft>
                <a:spcPts val="0"/>
              </a:spcAft>
              <a:buSzPts val="3000"/>
              <a:buNone/>
              <a:defRPr sz="4800"/>
            </a:lvl3pPr>
            <a:lvl4pPr lvl="3" rtl="0">
              <a:spcBef>
                <a:spcPts val="0"/>
              </a:spcBef>
              <a:spcAft>
                <a:spcPts val="0"/>
              </a:spcAft>
              <a:buSzPts val="3000"/>
              <a:buNone/>
              <a:defRPr sz="4800"/>
            </a:lvl4pPr>
            <a:lvl5pPr lvl="4" rtl="0">
              <a:spcBef>
                <a:spcPts val="0"/>
              </a:spcBef>
              <a:spcAft>
                <a:spcPts val="0"/>
              </a:spcAft>
              <a:buSzPts val="3000"/>
              <a:buNone/>
              <a:defRPr sz="4800"/>
            </a:lvl5pPr>
            <a:lvl6pPr lvl="5" rtl="0">
              <a:spcBef>
                <a:spcPts val="0"/>
              </a:spcBef>
              <a:spcAft>
                <a:spcPts val="0"/>
              </a:spcAft>
              <a:buSzPts val="3000"/>
              <a:buNone/>
              <a:defRPr sz="4800"/>
            </a:lvl6pPr>
            <a:lvl7pPr lvl="6" rtl="0">
              <a:spcBef>
                <a:spcPts val="0"/>
              </a:spcBef>
              <a:spcAft>
                <a:spcPts val="0"/>
              </a:spcAft>
              <a:buSzPts val="3000"/>
              <a:buNone/>
              <a:defRPr sz="4800"/>
            </a:lvl7pPr>
            <a:lvl8pPr lvl="7" rtl="0">
              <a:spcBef>
                <a:spcPts val="0"/>
              </a:spcBef>
              <a:spcAft>
                <a:spcPts val="0"/>
              </a:spcAft>
              <a:buSzPts val="3000"/>
              <a:buNone/>
              <a:defRPr sz="4800"/>
            </a:lvl8pPr>
            <a:lvl9pPr lvl="8" rtl="0">
              <a:spcBef>
                <a:spcPts val="0"/>
              </a:spcBef>
              <a:spcAft>
                <a:spcPts val="0"/>
              </a:spcAft>
              <a:buSzPts val="3000"/>
              <a:buNone/>
              <a:defRPr sz="4800"/>
            </a:lvl9pPr>
          </a:lstStyle>
          <a:p>
            <a:r>
              <a:t>xx%</a:t>
            </a:r>
          </a:p>
        </p:txBody>
      </p:sp>
      <p:sp>
        <p:nvSpPr>
          <p:cNvPr id="106" name="Google Shape;106;p13"/>
          <p:cNvSpPr txBox="1">
            <a:spLocks noGrp="1"/>
          </p:cNvSpPr>
          <p:nvPr>
            <p:ph type="title" idx="15" hasCustomPrompt="1"/>
          </p:nvPr>
        </p:nvSpPr>
        <p:spPr>
          <a:xfrm>
            <a:off x="9819160" y="2111440"/>
            <a:ext cx="585120" cy="585120"/>
          </a:xfrm>
          <a:prstGeom prst="rect">
            <a:avLst/>
          </a:prstGeom>
          <a:solidFill>
            <a:schemeClr val="dk1"/>
          </a:solid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1760">
                <a:solidFill>
                  <a:schemeClr val="lt1"/>
                </a:solidFill>
              </a:defRPr>
            </a:lvl1pPr>
            <a:lvl2pPr lvl="1" rtl="0">
              <a:spcBef>
                <a:spcPts val="0"/>
              </a:spcBef>
              <a:spcAft>
                <a:spcPts val="0"/>
              </a:spcAft>
              <a:buSzPts val="3000"/>
              <a:buNone/>
              <a:defRPr sz="4800"/>
            </a:lvl2pPr>
            <a:lvl3pPr lvl="2" rtl="0">
              <a:spcBef>
                <a:spcPts val="0"/>
              </a:spcBef>
              <a:spcAft>
                <a:spcPts val="0"/>
              </a:spcAft>
              <a:buSzPts val="3000"/>
              <a:buNone/>
              <a:defRPr sz="4800"/>
            </a:lvl3pPr>
            <a:lvl4pPr lvl="3" rtl="0">
              <a:spcBef>
                <a:spcPts val="0"/>
              </a:spcBef>
              <a:spcAft>
                <a:spcPts val="0"/>
              </a:spcAft>
              <a:buSzPts val="3000"/>
              <a:buNone/>
              <a:defRPr sz="4800"/>
            </a:lvl4pPr>
            <a:lvl5pPr lvl="4" rtl="0">
              <a:spcBef>
                <a:spcPts val="0"/>
              </a:spcBef>
              <a:spcAft>
                <a:spcPts val="0"/>
              </a:spcAft>
              <a:buSzPts val="3000"/>
              <a:buNone/>
              <a:defRPr sz="4800"/>
            </a:lvl5pPr>
            <a:lvl6pPr lvl="5" rtl="0">
              <a:spcBef>
                <a:spcPts val="0"/>
              </a:spcBef>
              <a:spcAft>
                <a:spcPts val="0"/>
              </a:spcAft>
              <a:buSzPts val="3000"/>
              <a:buNone/>
              <a:defRPr sz="4800"/>
            </a:lvl6pPr>
            <a:lvl7pPr lvl="6" rtl="0">
              <a:spcBef>
                <a:spcPts val="0"/>
              </a:spcBef>
              <a:spcAft>
                <a:spcPts val="0"/>
              </a:spcAft>
              <a:buSzPts val="3000"/>
              <a:buNone/>
              <a:defRPr sz="4800"/>
            </a:lvl7pPr>
            <a:lvl8pPr lvl="7" rtl="0">
              <a:spcBef>
                <a:spcPts val="0"/>
              </a:spcBef>
              <a:spcAft>
                <a:spcPts val="0"/>
              </a:spcAft>
              <a:buSzPts val="3000"/>
              <a:buNone/>
              <a:defRPr sz="4800"/>
            </a:lvl8pPr>
            <a:lvl9pPr lvl="8" rtl="0">
              <a:spcBef>
                <a:spcPts val="0"/>
              </a:spcBef>
              <a:spcAft>
                <a:spcPts val="0"/>
              </a:spcAft>
              <a:buSzPts val="3000"/>
              <a:buNone/>
              <a:defRPr sz="4800"/>
            </a:lvl9pPr>
          </a:lstStyle>
          <a:p>
            <a:r>
              <a:t>xx%</a:t>
            </a:r>
          </a:p>
        </p:txBody>
      </p:sp>
      <p:sp>
        <p:nvSpPr>
          <p:cNvPr id="107" name="Google Shape;107;p13"/>
          <p:cNvSpPr txBox="1">
            <a:spLocks noGrp="1"/>
          </p:cNvSpPr>
          <p:nvPr>
            <p:ph type="subTitle" idx="16"/>
          </p:nvPr>
        </p:nvSpPr>
        <p:spPr>
          <a:xfrm>
            <a:off x="1261880" y="2958040"/>
            <a:ext cx="3688800" cy="61632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2880">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9pPr>
          </a:lstStyle>
          <a:p>
            <a:endParaRPr/>
          </a:p>
        </p:txBody>
      </p:sp>
      <p:sp>
        <p:nvSpPr>
          <p:cNvPr id="108" name="Google Shape;108;p13"/>
          <p:cNvSpPr txBox="1">
            <a:spLocks noGrp="1"/>
          </p:cNvSpPr>
          <p:nvPr>
            <p:ph type="subTitle" idx="17"/>
          </p:nvPr>
        </p:nvSpPr>
        <p:spPr>
          <a:xfrm>
            <a:off x="1261880" y="5604837"/>
            <a:ext cx="3688800" cy="61632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2880">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9pPr>
          </a:lstStyle>
          <a:p>
            <a:endParaRPr/>
          </a:p>
        </p:txBody>
      </p:sp>
      <p:sp>
        <p:nvSpPr>
          <p:cNvPr id="109" name="Google Shape;109;p13"/>
          <p:cNvSpPr txBox="1">
            <a:spLocks noGrp="1"/>
          </p:cNvSpPr>
          <p:nvPr>
            <p:ph type="subTitle" idx="18"/>
          </p:nvPr>
        </p:nvSpPr>
        <p:spPr>
          <a:xfrm>
            <a:off x="5469600" y="5604837"/>
            <a:ext cx="3688800" cy="61632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2880">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9pPr>
          </a:lstStyle>
          <a:p>
            <a:endParaRPr/>
          </a:p>
        </p:txBody>
      </p:sp>
      <p:sp>
        <p:nvSpPr>
          <p:cNvPr id="110" name="Google Shape;110;p13"/>
          <p:cNvSpPr txBox="1">
            <a:spLocks noGrp="1"/>
          </p:cNvSpPr>
          <p:nvPr>
            <p:ph type="subTitle" idx="19"/>
          </p:nvPr>
        </p:nvSpPr>
        <p:spPr>
          <a:xfrm>
            <a:off x="5469600" y="2958040"/>
            <a:ext cx="3688800" cy="61632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2880">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9pPr>
          </a:lstStyle>
          <a:p>
            <a:endParaRPr/>
          </a:p>
        </p:txBody>
      </p:sp>
      <p:sp>
        <p:nvSpPr>
          <p:cNvPr id="111" name="Google Shape;111;p13"/>
          <p:cNvSpPr txBox="1">
            <a:spLocks noGrp="1"/>
          </p:cNvSpPr>
          <p:nvPr>
            <p:ph type="subTitle" idx="20"/>
          </p:nvPr>
        </p:nvSpPr>
        <p:spPr>
          <a:xfrm>
            <a:off x="9677320" y="5604837"/>
            <a:ext cx="3688800" cy="61632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2880">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9pPr>
          </a:lstStyle>
          <a:p>
            <a:endParaRPr/>
          </a:p>
        </p:txBody>
      </p:sp>
      <p:sp>
        <p:nvSpPr>
          <p:cNvPr id="112" name="Google Shape;112;p13"/>
          <p:cNvSpPr txBox="1">
            <a:spLocks noGrp="1"/>
          </p:cNvSpPr>
          <p:nvPr>
            <p:ph type="subTitle" idx="21"/>
          </p:nvPr>
        </p:nvSpPr>
        <p:spPr>
          <a:xfrm>
            <a:off x="9677320" y="2958040"/>
            <a:ext cx="3688800" cy="61632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2880">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9pPr>
          </a:lstStyle>
          <a:p>
            <a:endParaRPr/>
          </a:p>
        </p:txBody>
      </p:sp>
    </p:spTree>
    <p:extLst>
      <p:ext uri="{BB962C8B-B14F-4D97-AF65-F5344CB8AC3E}">
        <p14:creationId xmlns:p14="http://schemas.microsoft.com/office/powerpoint/2010/main" val="3554992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31682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38343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91545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88284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00066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9678192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63588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05840" y="438150"/>
            <a:ext cx="12618720" cy="159067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05840" y="7627621"/>
            <a:ext cx="3291840" cy="438150"/>
          </a:xfrm>
          <a:prstGeom prst="rect">
            <a:avLst/>
          </a:prstGeom>
        </p:spPr>
        <p:txBody>
          <a:bodyPr vert="horz" lIns="91440" tIns="45720" rIns="91440" bIns="45720" rtlCol="0" anchor="ctr"/>
          <a:lstStyle>
            <a:lvl1pPr algn="l">
              <a:defRPr sz="1440">
                <a:solidFill>
                  <a:schemeClr val="tx1">
                    <a:tint val="75000"/>
                  </a:schemeClr>
                </a:solidFill>
              </a:defRPr>
            </a:lvl1pPr>
          </a:lstStyle>
          <a:p>
            <a:fld id="{C764DE79-268F-4C1A-8933-263129D2AF90}" type="datetimeFigureOut">
              <a:rPr lang="en-US" dirty="0"/>
              <a:t>07-Aug-25</a:t>
            </a:fld>
            <a:endParaRPr lang="en-US" dirty="0"/>
          </a:p>
        </p:txBody>
      </p:sp>
      <p:sp>
        <p:nvSpPr>
          <p:cNvPr id="5" name="Footer Placeholder 4"/>
          <p:cNvSpPr>
            <a:spLocks noGrp="1"/>
          </p:cNvSpPr>
          <p:nvPr>
            <p:ph type="ftr" sz="quarter" idx="3"/>
          </p:nvPr>
        </p:nvSpPr>
        <p:spPr>
          <a:xfrm>
            <a:off x="4846320" y="7627621"/>
            <a:ext cx="4937760" cy="438150"/>
          </a:xfrm>
          <a:prstGeom prst="rect">
            <a:avLst/>
          </a:prstGeom>
        </p:spPr>
        <p:txBody>
          <a:bodyPr vert="horz" lIns="91440" tIns="45720" rIns="91440" bIns="45720" rtlCol="0" anchor="ctr"/>
          <a:lstStyle>
            <a:lvl1pPr algn="ctr">
              <a:defRPr sz="144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332720" y="7627621"/>
            <a:ext cx="3291840" cy="438150"/>
          </a:xfrm>
          <a:prstGeom prst="rect">
            <a:avLst/>
          </a:prstGeom>
        </p:spPr>
        <p:txBody>
          <a:bodyPr vert="horz" lIns="91440" tIns="45720" rIns="91440" bIns="45720" rtlCol="0" anchor="ctr"/>
          <a:lstStyle>
            <a:lvl1pPr algn="r">
              <a:defRPr sz="144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1028548570"/>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9" r:id="rId17"/>
    <p:sldLayoutId id="2147483680" r:id="rId18"/>
    <p:sldLayoutId id="2147483681" r:id="rId19"/>
    <p:sldLayoutId id="2147483682" r:id="rId20"/>
  </p:sldLayoutIdLst>
  <p:hf hdr="0" ftr="0" dt="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15.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6.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7.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8.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8.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9.xml"/><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9.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400800" y="3344882"/>
            <a:ext cx="7556421" cy="3231713"/>
          </a:xfrm>
          <a:prstGeom prst="rect">
            <a:avLst/>
          </a:prstGeom>
          <a:noFill/>
          <a:ln/>
        </p:spPr>
        <p:txBody>
          <a:bodyPr wrap="square" lIns="0" tIns="0" rIns="0" bIns="0" rtlCol="0" anchor="t"/>
          <a:lstStyle/>
          <a:p>
            <a:pPr algn="ctr">
              <a:lnSpc>
                <a:spcPts val="4850"/>
              </a:lnSpc>
            </a:pPr>
            <a:r>
              <a:rPr lang="en-US" sz="4400" dirty="0" err="1">
                <a:solidFill>
                  <a:srgbClr val="233E32"/>
                </a:solidFill>
                <a:latin typeface="Cambria" panose="02040503050406030204" pitchFamily="18" charset="0"/>
                <a:ea typeface="Cambria" panose="02040503050406030204" pitchFamily="18" charset="0"/>
                <a:cs typeface="Arial" panose="020B0604020202020204" pitchFamily="34" charset="0"/>
              </a:rPr>
              <a:t>Tên</a:t>
            </a:r>
            <a:r>
              <a:rPr lang="en-US" sz="4400" dirty="0">
                <a:solidFill>
                  <a:srgbClr val="233E32"/>
                </a:solidFill>
                <a:latin typeface="Cambria" panose="02040503050406030204" pitchFamily="18" charset="0"/>
                <a:ea typeface="Cambria" panose="02040503050406030204" pitchFamily="18" charset="0"/>
                <a:cs typeface="Arial" panose="020B0604020202020204" pitchFamily="34" charset="0"/>
              </a:rPr>
              <a:t> </a:t>
            </a:r>
            <a:r>
              <a:rPr lang="en-US" sz="4400" dirty="0" err="1">
                <a:solidFill>
                  <a:srgbClr val="233E32"/>
                </a:solidFill>
                <a:latin typeface="Cambria" panose="02040503050406030204" pitchFamily="18" charset="0"/>
                <a:ea typeface="Cambria" panose="02040503050406030204" pitchFamily="18" charset="0"/>
                <a:cs typeface="Arial" panose="020B0604020202020204" pitchFamily="34" charset="0"/>
              </a:rPr>
              <a:t>đề</a:t>
            </a:r>
            <a:r>
              <a:rPr lang="en-US" sz="4400" dirty="0">
                <a:solidFill>
                  <a:srgbClr val="233E32"/>
                </a:solidFill>
                <a:latin typeface="Cambria" panose="02040503050406030204" pitchFamily="18" charset="0"/>
                <a:ea typeface="Cambria" panose="02040503050406030204" pitchFamily="18" charset="0"/>
                <a:cs typeface="Arial" panose="020B0604020202020204" pitchFamily="34" charset="0"/>
              </a:rPr>
              <a:t> </a:t>
            </a:r>
            <a:r>
              <a:rPr lang="en-US" sz="4400" dirty="0" err="1">
                <a:solidFill>
                  <a:srgbClr val="233E32"/>
                </a:solidFill>
                <a:latin typeface="Cambria" panose="02040503050406030204" pitchFamily="18" charset="0"/>
                <a:ea typeface="Cambria" panose="02040503050406030204" pitchFamily="18" charset="0"/>
                <a:cs typeface="Arial" panose="020B0604020202020204" pitchFamily="34" charset="0"/>
              </a:rPr>
              <a:t>tài</a:t>
            </a:r>
            <a:r>
              <a:rPr lang="en-US" sz="4400" dirty="0">
                <a:solidFill>
                  <a:srgbClr val="233E32"/>
                </a:solidFill>
                <a:latin typeface="Cambria" panose="02040503050406030204" pitchFamily="18" charset="0"/>
                <a:ea typeface="Cambria" panose="02040503050406030204" pitchFamily="18" charset="0"/>
                <a:cs typeface="Arial" panose="020B0604020202020204" pitchFamily="34" charset="0"/>
              </a:rPr>
              <a:t>: HỆ THỐNG ĐĂNG KÝ VÀ NHẬN DIỆN BIỂN SỐ XE TỰ ĐỘNG</a:t>
            </a:r>
          </a:p>
        </p:txBody>
      </p:sp>
      <p:sp>
        <p:nvSpPr>
          <p:cNvPr id="11" name="TextBox 10">
            <a:extLst>
              <a:ext uri="{FF2B5EF4-FFF2-40B4-BE49-F238E27FC236}">
                <a16:creationId xmlns:a16="http://schemas.microsoft.com/office/drawing/2014/main" id="{48E11F8E-6738-5E4F-F0AD-DC9E732E73F4}"/>
              </a:ext>
            </a:extLst>
          </p:cNvPr>
          <p:cNvSpPr txBox="1"/>
          <p:nvPr/>
        </p:nvSpPr>
        <p:spPr>
          <a:xfrm>
            <a:off x="6642019" y="2172172"/>
            <a:ext cx="7315200" cy="720710"/>
          </a:xfrm>
          <a:prstGeom prst="rect">
            <a:avLst/>
          </a:prstGeom>
          <a:noFill/>
        </p:spPr>
        <p:txBody>
          <a:bodyPr wrap="square">
            <a:spAutoFit/>
          </a:bodyPr>
          <a:lstStyle/>
          <a:p>
            <a:pPr algn="ctr">
              <a:lnSpc>
                <a:spcPts val="4850"/>
              </a:lnSpc>
            </a:pPr>
            <a:r>
              <a:rPr lang="en-US" sz="4400" dirty="0">
                <a:solidFill>
                  <a:srgbClr val="233E32"/>
                </a:solidFill>
                <a:latin typeface="Cambria" panose="02040503050406030204" pitchFamily="18" charset="0"/>
                <a:ea typeface="Cambria" panose="02040503050406030204" pitchFamily="18" charset="0"/>
                <a:cs typeface="Arial" panose="020B0604020202020204" pitchFamily="34" charset="0"/>
              </a:rPr>
              <a:t>ĐỀ TÀI TỐT NGHIỆP</a:t>
            </a:r>
          </a:p>
        </p:txBody>
      </p:sp>
      <p:sp>
        <p:nvSpPr>
          <p:cNvPr id="5" name="TextBox 4">
            <a:extLst>
              <a:ext uri="{FF2B5EF4-FFF2-40B4-BE49-F238E27FC236}">
                <a16:creationId xmlns:a16="http://schemas.microsoft.com/office/drawing/2014/main" id="{E0C33B99-6CD5-FDF0-E5CA-83C12127A334}"/>
              </a:ext>
            </a:extLst>
          </p:cNvPr>
          <p:cNvSpPr txBox="1"/>
          <p:nvPr/>
        </p:nvSpPr>
        <p:spPr>
          <a:xfrm>
            <a:off x="6521407" y="5543926"/>
            <a:ext cx="7315200" cy="1261949"/>
          </a:xfrm>
          <a:prstGeom prst="rect">
            <a:avLst/>
          </a:prstGeom>
          <a:noFill/>
        </p:spPr>
        <p:txBody>
          <a:bodyPr wrap="square">
            <a:spAutoFit/>
          </a:bodyPr>
          <a:lstStyle/>
          <a:p>
            <a:pPr algn="ctr">
              <a:lnSpc>
                <a:spcPts val="4850"/>
              </a:lnSpc>
            </a:pPr>
            <a:r>
              <a:rPr lang="en-US" sz="2500" dirty="0" err="1">
                <a:solidFill>
                  <a:srgbClr val="233E32"/>
                </a:solidFill>
                <a:latin typeface="Cambria" panose="02040503050406030204" pitchFamily="18" charset="0"/>
                <a:ea typeface="Cambria" panose="02040503050406030204" pitchFamily="18" charset="0"/>
                <a:cs typeface="Arial" panose="020B0604020202020204" pitchFamily="34" charset="0"/>
              </a:rPr>
              <a:t>Họ</a:t>
            </a:r>
            <a:r>
              <a:rPr lang="en-US" sz="2500" dirty="0">
                <a:solidFill>
                  <a:srgbClr val="233E32"/>
                </a:solidFill>
                <a:latin typeface="Cambria" panose="02040503050406030204" pitchFamily="18" charset="0"/>
                <a:ea typeface="Cambria" panose="02040503050406030204" pitchFamily="18" charset="0"/>
                <a:cs typeface="Arial" panose="020B0604020202020204" pitchFamily="34" charset="0"/>
              </a:rPr>
              <a:t> </a:t>
            </a:r>
            <a:r>
              <a:rPr lang="en-US" sz="2500" dirty="0" err="1">
                <a:solidFill>
                  <a:srgbClr val="233E32"/>
                </a:solidFill>
                <a:latin typeface="Cambria" panose="02040503050406030204" pitchFamily="18" charset="0"/>
                <a:ea typeface="Cambria" panose="02040503050406030204" pitchFamily="18" charset="0"/>
                <a:cs typeface="Arial" panose="020B0604020202020204" pitchFamily="34" charset="0"/>
              </a:rPr>
              <a:t>tên</a:t>
            </a:r>
            <a:r>
              <a:rPr lang="en-US" sz="2500" dirty="0">
                <a:solidFill>
                  <a:srgbClr val="233E32"/>
                </a:solidFill>
                <a:latin typeface="Cambria" panose="02040503050406030204" pitchFamily="18" charset="0"/>
                <a:ea typeface="Cambria" panose="02040503050406030204" pitchFamily="18" charset="0"/>
                <a:cs typeface="Arial" panose="020B0604020202020204" pitchFamily="34" charset="0"/>
              </a:rPr>
              <a:t> &amp; MSSV: </a:t>
            </a:r>
            <a:r>
              <a:rPr lang="en-US" sz="2500" dirty="0" err="1">
                <a:solidFill>
                  <a:srgbClr val="233E32"/>
                </a:solidFill>
                <a:latin typeface="Cambria" panose="02040503050406030204" pitchFamily="18" charset="0"/>
                <a:ea typeface="Cambria" panose="02040503050406030204" pitchFamily="18" charset="0"/>
                <a:cs typeface="Arial" panose="020B0604020202020204" pitchFamily="34" charset="0"/>
              </a:rPr>
              <a:t>Nguyễn</a:t>
            </a:r>
            <a:r>
              <a:rPr lang="en-US" sz="2500" dirty="0">
                <a:solidFill>
                  <a:srgbClr val="233E32"/>
                </a:solidFill>
                <a:latin typeface="Cambria" panose="02040503050406030204" pitchFamily="18" charset="0"/>
                <a:ea typeface="Cambria" panose="02040503050406030204" pitchFamily="18" charset="0"/>
                <a:cs typeface="Arial" panose="020B0604020202020204" pitchFamily="34" charset="0"/>
              </a:rPr>
              <a:t> Minh </a:t>
            </a:r>
            <a:r>
              <a:rPr lang="en-US" sz="2500" dirty="0" err="1">
                <a:solidFill>
                  <a:srgbClr val="233E32"/>
                </a:solidFill>
                <a:latin typeface="Cambria" panose="02040503050406030204" pitchFamily="18" charset="0"/>
                <a:ea typeface="Cambria" panose="02040503050406030204" pitchFamily="18" charset="0"/>
                <a:cs typeface="Arial" panose="020B0604020202020204" pitchFamily="34" charset="0"/>
              </a:rPr>
              <a:t>Trí</a:t>
            </a:r>
            <a:r>
              <a:rPr lang="en-US" sz="2500" dirty="0">
                <a:solidFill>
                  <a:srgbClr val="233E32"/>
                </a:solidFill>
                <a:latin typeface="Cambria" panose="02040503050406030204" pitchFamily="18" charset="0"/>
                <a:ea typeface="Cambria" panose="02040503050406030204" pitchFamily="18" charset="0"/>
                <a:cs typeface="Arial" panose="020B0604020202020204" pitchFamily="34" charset="0"/>
              </a:rPr>
              <a:t> - 21200363</a:t>
            </a:r>
          </a:p>
          <a:p>
            <a:pPr algn="ctr">
              <a:lnSpc>
                <a:spcPts val="4850"/>
              </a:lnSpc>
            </a:pPr>
            <a:r>
              <a:rPr lang="en-US" sz="2500" dirty="0" err="1">
                <a:solidFill>
                  <a:srgbClr val="233E32"/>
                </a:solidFill>
                <a:latin typeface="Cambria" panose="02040503050406030204" pitchFamily="18" charset="0"/>
                <a:ea typeface="Cambria" panose="02040503050406030204" pitchFamily="18" charset="0"/>
                <a:cs typeface="Arial" panose="020B0604020202020204" pitchFamily="34" charset="0"/>
              </a:rPr>
              <a:t>Giảng</a:t>
            </a:r>
            <a:r>
              <a:rPr lang="en-US" sz="2500" dirty="0">
                <a:solidFill>
                  <a:srgbClr val="233E32"/>
                </a:solidFill>
                <a:latin typeface="Cambria" panose="02040503050406030204" pitchFamily="18" charset="0"/>
                <a:ea typeface="Cambria" panose="02040503050406030204" pitchFamily="18" charset="0"/>
                <a:cs typeface="Arial" panose="020B0604020202020204" pitchFamily="34" charset="0"/>
              </a:rPr>
              <a:t> </a:t>
            </a:r>
            <a:r>
              <a:rPr lang="en-US" sz="2500" dirty="0" err="1">
                <a:solidFill>
                  <a:srgbClr val="233E32"/>
                </a:solidFill>
                <a:latin typeface="Cambria" panose="02040503050406030204" pitchFamily="18" charset="0"/>
                <a:ea typeface="Cambria" panose="02040503050406030204" pitchFamily="18" charset="0"/>
                <a:cs typeface="Arial" panose="020B0604020202020204" pitchFamily="34" charset="0"/>
              </a:rPr>
              <a:t>viên</a:t>
            </a:r>
            <a:r>
              <a:rPr lang="en-US" sz="2500" dirty="0">
                <a:solidFill>
                  <a:srgbClr val="233E32"/>
                </a:solidFill>
                <a:latin typeface="Cambria" panose="02040503050406030204" pitchFamily="18" charset="0"/>
                <a:ea typeface="Cambria" panose="02040503050406030204" pitchFamily="18" charset="0"/>
                <a:cs typeface="Arial" panose="020B0604020202020204" pitchFamily="34" charset="0"/>
              </a:rPr>
              <a:t> </a:t>
            </a:r>
            <a:r>
              <a:rPr lang="en-US" sz="2500" dirty="0" err="1">
                <a:solidFill>
                  <a:srgbClr val="233E32"/>
                </a:solidFill>
                <a:latin typeface="Cambria" panose="02040503050406030204" pitchFamily="18" charset="0"/>
                <a:ea typeface="Cambria" panose="02040503050406030204" pitchFamily="18" charset="0"/>
                <a:cs typeface="Arial" panose="020B0604020202020204" pitchFamily="34" charset="0"/>
              </a:rPr>
              <a:t>hướng</a:t>
            </a:r>
            <a:r>
              <a:rPr lang="en-US" sz="2500" dirty="0">
                <a:solidFill>
                  <a:srgbClr val="233E32"/>
                </a:solidFill>
                <a:latin typeface="Cambria" panose="02040503050406030204" pitchFamily="18" charset="0"/>
                <a:ea typeface="Cambria" panose="02040503050406030204" pitchFamily="18" charset="0"/>
                <a:cs typeface="Arial" panose="020B0604020202020204" pitchFamily="34" charset="0"/>
              </a:rPr>
              <a:t> </a:t>
            </a:r>
            <a:r>
              <a:rPr lang="en-US" sz="2500" dirty="0" err="1">
                <a:solidFill>
                  <a:srgbClr val="233E32"/>
                </a:solidFill>
                <a:latin typeface="Cambria" panose="02040503050406030204" pitchFamily="18" charset="0"/>
                <a:ea typeface="Cambria" panose="02040503050406030204" pitchFamily="18" charset="0"/>
                <a:cs typeface="Arial" panose="020B0604020202020204" pitchFamily="34" charset="0"/>
              </a:rPr>
              <a:t>dẫn</a:t>
            </a:r>
            <a:r>
              <a:rPr lang="en-US" sz="2500" dirty="0">
                <a:solidFill>
                  <a:srgbClr val="233E32"/>
                </a:solidFill>
                <a:latin typeface="Cambria" panose="02040503050406030204" pitchFamily="18" charset="0"/>
                <a:ea typeface="Cambria" panose="02040503050406030204" pitchFamily="18" charset="0"/>
                <a:cs typeface="Arial" panose="020B0604020202020204" pitchFamily="34" charset="0"/>
              </a:rPr>
              <a:t>: </a:t>
            </a:r>
            <a:r>
              <a:rPr lang="en-US" sz="2500" dirty="0" err="1">
                <a:solidFill>
                  <a:srgbClr val="233E32"/>
                </a:solidFill>
                <a:latin typeface="Cambria" panose="02040503050406030204" pitchFamily="18" charset="0"/>
                <a:ea typeface="Cambria" panose="02040503050406030204" pitchFamily="18" charset="0"/>
                <a:cs typeface="Arial" panose="020B0604020202020204" pitchFamily="34" charset="0"/>
              </a:rPr>
              <a:t>Th.S</a:t>
            </a:r>
            <a:r>
              <a:rPr lang="en-US" sz="2500" dirty="0">
                <a:solidFill>
                  <a:srgbClr val="233E32"/>
                </a:solidFill>
                <a:latin typeface="Cambria" panose="02040503050406030204" pitchFamily="18" charset="0"/>
                <a:ea typeface="Cambria" panose="02040503050406030204" pitchFamily="18" charset="0"/>
                <a:cs typeface="Arial" panose="020B0604020202020204" pitchFamily="34" charset="0"/>
              </a:rPr>
              <a:t> </a:t>
            </a:r>
            <a:r>
              <a:rPr lang="en-US" sz="2500" dirty="0" err="1">
                <a:solidFill>
                  <a:srgbClr val="233E32"/>
                </a:solidFill>
                <a:latin typeface="Cambria" panose="02040503050406030204" pitchFamily="18" charset="0"/>
                <a:ea typeface="Cambria" panose="02040503050406030204" pitchFamily="18" charset="0"/>
                <a:cs typeface="Arial" panose="020B0604020202020204" pitchFamily="34" charset="0"/>
              </a:rPr>
              <a:t>Nguyễn</a:t>
            </a:r>
            <a:r>
              <a:rPr lang="en-US" sz="2500" dirty="0">
                <a:solidFill>
                  <a:srgbClr val="233E32"/>
                </a:solidFill>
                <a:latin typeface="Cambria" panose="02040503050406030204" pitchFamily="18" charset="0"/>
                <a:ea typeface="Cambria" panose="02040503050406030204" pitchFamily="18" charset="0"/>
                <a:cs typeface="Arial" panose="020B0604020202020204" pitchFamily="34" charset="0"/>
              </a:rPr>
              <a:t> Quốc Khoa</a:t>
            </a:r>
            <a:endParaRPr lang="en-US" sz="2500" dirty="0">
              <a:latin typeface="Cambria" panose="02040503050406030204" pitchFamily="18" charset="0"/>
              <a:ea typeface="Cambria" panose="02040503050406030204" pitchFamily="18" charset="0"/>
              <a:cs typeface="Arial" panose="020B0604020202020204" pitchFamily="34" charset="0"/>
            </a:endParaRPr>
          </a:p>
        </p:txBody>
      </p:sp>
      <p:sp>
        <p:nvSpPr>
          <p:cNvPr id="10" name="TextBox 9">
            <a:extLst>
              <a:ext uri="{FF2B5EF4-FFF2-40B4-BE49-F238E27FC236}">
                <a16:creationId xmlns:a16="http://schemas.microsoft.com/office/drawing/2014/main" id="{4118442E-FE6E-7ED9-83C0-CC8AB9E46EF9}"/>
              </a:ext>
            </a:extLst>
          </p:cNvPr>
          <p:cNvSpPr txBox="1"/>
          <p:nvPr/>
        </p:nvSpPr>
        <p:spPr>
          <a:xfrm>
            <a:off x="8302733" y="7463358"/>
            <a:ext cx="3993776" cy="369332"/>
          </a:xfrm>
          <a:prstGeom prst="rect">
            <a:avLst/>
          </a:prstGeom>
          <a:noFill/>
        </p:spPr>
        <p:txBody>
          <a:bodyPr wrap="square">
            <a:spAutoFit/>
          </a:bodyPr>
          <a:lstStyle/>
          <a:p>
            <a:r>
              <a:rPr lang="en-US" dirty="0">
                <a:latin typeface="Cambria" panose="02040503050406030204" pitchFamily="18" charset="0"/>
                <a:ea typeface="Cambria" panose="02040503050406030204" pitchFamily="18" charset="0"/>
              </a:rPr>
              <a:t>TP. </a:t>
            </a:r>
            <a:r>
              <a:rPr lang="en-US" dirty="0" err="1">
                <a:latin typeface="Cambria" panose="02040503050406030204" pitchFamily="18" charset="0"/>
                <a:ea typeface="Cambria" panose="02040503050406030204" pitchFamily="18" charset="0"/>
              </a:rPr>
              <a:t>Hồ</a:t>
            </a:r>
            <a:r>
              <a:rPr lang="en-US" dirty="0">
                <a:latin typeface="Cambria" panose="02040503050406030204" pitchFamily="18" charset="0"/>
                <a:ea typeface="Cambria" panose="02040503050406030204" pitchFamily="18" charset="0"/>
              </a:rPr>
              <a:t> Chí Minh, </a:t>
            </a:r>
            <a:r>
              <a:rPr lang="en-US" dirty="0" err="1">
                <a:latin typeface="Cambria" panose="02040503050406030204" pitchFamily="18" charset="0"/>
                <a:ea typeface="Cambria" panose="02040503050406030204" pitchFamily="18" charset="0"/>
              </a:rPr>
              <a:t>Tháng</a:t>
            </a:r>
            <a:r>
              <a:rPr lang="en-US" dirty="0">
                <a:latin typeface="Cambria" panose="02040503050406030204" pitchFamily="18" charset="0"/>
                <a:ea typeface="Cambria" panose="02040503050406030204" pitchFamily="18" charset="0"/>
              </a:rPr>
              <a:t> 8 </a:t>
            </a:r>
            <a:r>
              <a:rPr lang="en-US" dirty="0" err="1">
                <a:latin typeface="Cambria" panose="02040503050406030204" pitchFamily="18" charset="0"/>
                <a:ea typeface="Cambria" panose="02040503050406030204" pitchFamily="18" charset="0"/>
              </a:rPr>
              <a:t>năm</a:t>
            </a:r>
            <a:r>
              <a:rPr lang="en-US" dirty="0">
                <a:latin typeface="Cambria" panose="02040503050406030204" pitchFamily="18" charset="0"/>
                <a:ea typeface="Cambria" panose="02040503050406030204" pitchFamily="18" charset="0"/>
              </a:rPr>
              <a:t> 2025</a:t>
            </a:r>
          </a:p>
        </p:txBody>
      </p:sp>
      <p:pic>
        <p:nvPicPr>
          <p:cNvPr id="1026" name="Picture 2">
            <a:extLst>
              <a:ext uri="{FF2B5EF4-FFF2-40B4-BE49-F238E27FC236}">
                <a16:creationId xmlns:a16="http://schemas.microsoft.com/office/drawing/2014/main" id="{939FB87D-3662-A957-7824-9EB67887C4B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73208" y="-312261"/>
            <a:ext cx="2611599" cy="261159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cxnSp>
        <p:nvCxnSpPr>
          <p:cNvPr id="304" name="Google Shape;304;p35"/>
          <p:cNvCxnSpPr>
            <a:cxnSpLocks/>
            <a:stCxn id="305" idx="1"/>
          </p:cNvCxnSpPr>
          <p:nvPr/>
        </p:nvCxnSpPr>
        <p:spPr>
          <a:xfrm rot="10800000">
            <a:off x="-93160" y="5319819"/>
            <a:ext cx="10087680" cy="0"/>
          </a:xfrm>
          <a:prstGeom prst="straightConnector1">
            <a:avLst/>
          </a:prstGeom>
          <a:noFill/>
          <a:ln w="19050" cap="flat" cmpd="sng">
            <a:solidFill>
              <a:schemeClr val="dk1"/>
            </a:solidFill>
            <a:prstDash val="solid"/>
            <a:round/>
            <a:headEnd type="none" w="med" len="med"/>
            <a:tailEnd type="none" w="med" len="med"/>
          </a:ln>
        </p:spPr>
      </p:cxnSp>
      <p:cxnSp>
        <p:nvCxnSpPr>
          <p:cNvPr id="306" name="Google Shape;306;p35"/>
          <p:cNvCxnSpPr>
            <a:stCxn id="307" idx="3"/>
          </p:cNvCxnSpPr>
          <p:nvPr/>
        </p:nvCxnSpPr>
        <p:spPr>
          <a:xfrm>
            <a:off x="2056440" y="2624763"/>
            <a:ext cx="12815520" cy="0"/>
          </a:xfrm>
          <a:prstGeom prst="straightConnector1">
            <a:avLst/>
          </a:prstGeom>
          <a:noFill/>
          <a:ln w="19050" cap="flat" cmpd="sng">
            <a:solidFill>
              <a:schemeClr val="dk1"/>
            </a:solidFill>
            <a:prstDash val="solid"/>
            <a:round/>
            <a:headEnd type="none" w="med" len="med"/>
            <a:tailEnd type="none" w="med" len="med"/>
          </a:ln>
        </p:spPr>
      </p:cxnSp>
      <p:sp>
        <p:nvSpPr>
          <p:cNvPr id="308" name="Google Shape;308;p35"/>
          <p:cNvSpPr txBox="1">
            <a:spLocks noGrp="1"/>
          </p:cNvSpPr>
          <p:nvPr>
            <p:ph type="title"/>
          </p:nvPr>
        </p:nvSpPr>
        <p:spPr>
          <a:xfrm>
            <a:off x="907575" y="620431"/>
            <a:ext cx="12326400" cy="916320"/>
          </a:xfrm>
          <a:prstGeom prst="rect">
            <a:avLst/>
          </a:prstGeom>
        </p:spPr>
        <p:txBody>
          <a:bodyPr spcFirstLastPara="1" wrap="square" lIns="146280" tIns="146280" rIns="146280" bIns="146280" anchor="t" anchorCtr="0">
            <a:noAutofit/>
          </a:bodyPr>
          <a:lstStyle/>
          <a:p>
            <a:pPr algn="l"/>
            <a:r>
              <a:rPr lang="en-US" sz="5120" b="1" dirty="0" err="1"/>
              <a:t>Mục</a:t>
            </a:r>
            <a:r>
              <a:rPr lang="en-US" sz="5120" b="1" dirty="0"/>
              <a:t> </a:t>
            </a:r>
            <a:r>
              <a:rPr lang="en-US" sz="5120" b="1" dirty="0" err="1"/>
              <a:t>lục</a:t>
            </a:r>
            <a:endParaRPr sz="5120" b="1" dirty="0"/>
          </a:p>
        </p:txBody>
      </p:sp>
      <p:sp>
        <p:nvSpPr>
          <p:cNvPr id="319" name="Google Shape;319;p35"/>
          <p:cNvSpPr txBox="1">
            <a:spLocks noGrp="1"/>
          </p:cNvSpPr>
          <p:nvPr>
            <p:ph type="subTitle" idx="1"/>
          </p:nvPr>
        </p:nvSpPr>
        <p:spPr>
          <a:xfrm>
            <a:off x="939720" y="2736481"/>
            <a:ext cx="3688800" cy="1226560"/>
          </a:xfrm>
          <a:prstGeom prst="rect">
            <a:avLst/>
          </a:prstGeom>
        </p:spPr>
        <p:txBody>
          <a:bodyPr spcFirstLastPara="1" wrap="square" lIns="146280" tIns="146280" rIns="146280" bIns="146280" anchor="b" anchorCtr="0">
            <a:noAutofit/>
          </a:bodyPr>
          <a:lstStyle/>
          <a:p>
            <a:pPr marL="0" indent="0"/>
            <a:r>
              <a:rPr lang="en-US" sz="3200" dirty="0" err="1">
                <a:latin typeface="+mn-lt"/>
              </a:rPr>
              <a:t>Tổng</a:t>
            </a:r>
            <a:r>
              <a:rPr lang="en-US" sz="3200" dirty="0">
                <a:latin typeface="+mn-lt"/>
              </a:rPr>
              <a:t> </a:t>
            </a:r>
            <a:r>
              <a:rPr lang="en-US" sz="3200" dirty="0" err="1">
                <a:latin typeface="+mn-lt"/>
              </a:rPr>
              <a:t>quan</a:t>
            </a:r>
            <a:endParaRPr sz="3200" dirty="0">
              <a:latin typeface="+mn-lt"/>
            </a:endParaRPr>
          </a:p>
        </p:txBody>
      </p:sp>
      <p:sp>
        <p:nvSpPr>
          <p:cNvPr id="320" name="Google Shape;320;p35"/>
          <p:cNvSpPr txBox="1">
            <a:spLocks noGrp="1"/>
          </p:cNvSpPr>
          <p:nvPr>
            <p:ph type="subTitle" idx="2"/>
          </p:nvPr>
        </p:nvSpPr>
        <p:spPr>
          <a:xfrm>
            <a:off x="8267320" y="3765309"/>
            <a:ext cx="3688800" cy="616320"/>
          </a:xfrm>
          <a:prstGeom prst="rect">
            <a:avLst/>
          </a:prstGeom>
        </p:spPr>
        <p:txBody>
          <a:bodyPr spcFirstLastPara="1" wrap="square" lIns="146280" tIns="146280" rIns="146280" bIns="146280" anchor="b" anchorCtr="0">
            <a:noAutofit/>
          </a:bodyPr>
          <a:lstStyle/>
          <a:p>
            <a:pPr marL="0" indent="0" algn="ctr"/>
            <a:r>
              <a:rPr lang="en" sz="3200" dirty="0">
                <a:latin typeface="+mn-lt"/>
              </a:rPr>
              <a:t>Quá trình huấn luyện</a:t>
            </a:r>
            <a:endParaRPr sz="3200" dirty="0">
              <a:latin typeface="+mn-lt"/>
            </a:endParaRPr>
          </a:p>
        </p:txBody>
      </p:sp>
      <p:sp>
        <p:nvSpPr>
          <p:cNvPr id="321" name="Google Shape;321;p35"/>
          <p:cNvSpPr txBox="1">
            <a:spLocks noGrp="1"/>
          </p:cNvSpPr>
          <p:nvPr>
            <p:ph type="subTitle" idx="3"/>
          </p:nvPr>
        </p:nvSpPr>
        <p:spPr>
          <a:xfrm>
            <a:off x="4385960" y="6292235"/>
            <a:ext cx="3688800" cy="774336"/>
          </a:xfrm>
          <a:prstGeom prst="rect">
            <a:avLst/>
          </a:prstGeom>
        </p:spPr>
        <p:txBody>
          <a:bodyPr spcFirstLastPara="1" wrap="square" lIns="146280" tIns="146280" rIns="146280" bIns="146280" anchor="b" anchorCtr="0">
            <a:noAutofit/>
          </a:bodyPr>
          <a:lstStyle/>
          <a:p>
            <a:pPr marL="0" indent="0" algn="ctr"/>
            <a:r>
              <a:rPr lang="en-US" sz="3200" dirty="0" err="1">
                <a:latin typeface="+mn-lt"/>
              </a:rPr>
              <a:t>Kết</a:t>
            </a:r>
            <a:r>
              <a:rPr lang="en-US" sz="3200" dirty="0">
                <a:latin typeface="+mn-lt"/>
              </a:rPr>
              <a:t> </a:t>
            </a:r>
            <a:r>
              <a:rPr lang="en-US" sz="3200" dirty="0" err="1">
                <a:latin typeface="+mn-lt"/>
              </a:rPr>
              <a:t>luận</a:t>
            </a:r>
            <a:r>
              <a:rPr lang="en-US" sz="3200" dirty="0">
                <a:latin typeface="+mn-lt"/>
              </a:rPr>
              <a:t> </a:t>
            </a:r>
            <a:r>
              <a:rPr lang="en-US" sz="3200" dirty="0" err="1">
                <a:latin typeface="+mn-lt"/>
              </a:rPr>
              <a:t>và</a:t>
            </a:r>
            <a:r>
              <a:rPr lang="en-US" sz="3200" dirty="0">
                <a:latin typeface="+mn-lt"/>
              </a:rPr>
              <a:t> </a:t>
            </a:r>
            <a:r>
              <a:rPr lang="en-US" sz="3200" dirty="0" err="1">
                <a:latin typeface="+mn-lt"/>
              </a:rPr>
              <a:t>đề</a:t>
            </a:r>
            <a:r>
              <a:rPr lang="en-US" sz="3200" dirty="0">
                <a:latin typeface="+mn-lt"/>
              </a:rPr>
              <a:t> </a:t>
            </a:r>
            <a:r>
              <a:rPr lang="en-US" sz="3200" dirty="0" err="1">
                <a:latin typeface="+mn-lt"/>
              </a:rPr>
              <a:t>xuất</a:t>
            </a:r>
            <a:r>
              <a:rPr lang="en-US" sz="3200" dirty="0">
                <a:latin typeface="+mn-lt"/>
              </a:rPr>
              <a:t> </a:t>
            </a:r>
            <a:r>
              <a:rPr lang="en-US" sz="3200" dirty="0" err="1">
                <a:latin typeface="+mn-lt"/>
              </a:rPr>
              <a:t>hướng</a:t>
            </a:r>
            <a:r>
              <a:rPr lang="en-US" sz="3200" dirty="0">
                <a:latin typeface="+mn-lt"/>
              </a:rPr>
              <a:t> </a:t>
            </a:r>
            <a:r>
              <a:rPr lang="en-US" sz="3200" dirty="0" err="1">
                <a:latin typeface="+mn-lt"/>
              </a:rPr>
              <a:t>phát</a:t>
            </a:r>
            <a:r>
              <a:rPr lang="en-US" sz="3200" dirty="0">
                <a:latin typeface="+mn-lt"/>
              </a:rPr>
              <a:t> </a:t>
            </a:r>
            <a:r>
              <a:rPr lang="en-US" sz="3200" dirty="0" err="1">
                <a:latin typeface="+mn-lt"/>
              </a:rPr>
              <a:t>triển</a:t>
            </a:r>
            <a:endParaRPr sz="3200" dirty="0">
              <a:latin typeface="+mn-lt"/>
            </a:endParaRPr>
          </a:p>
        </p:txBody>
      </p:sp>
      <p:sp>
        <p:nvSpPr>
          <p:cNvPr id="324" name="Google Shape;324;p35"/>
          <p:cNvSpPr txBox="1">
            <a:spLocks noGrp="1"/>
          </p:cNvSpPr>
          <p:nvPr>
            <p:ph type="subTitle" idx="4"/>
          </p:nvPr>
        </p:nvSpPr>
        <p:spPr>
          <a:xfrm>
            <a:off x="4530560" y="3755196"/>
            <a:ext cx="3688800" cy="616320"/>
          </a:xfrm>
          <a:prstGeom prst="rect">
            <a:avLst/>
          </a:prstGeom>
        </p:spPr>
        <p:txBody>
          <a:bodyPr spcFirstLastPara="1" wrap="square" lIns="146280" tIns="146280" rIns="146280" bIns="146280" anchor="b" anchorCtr="0">
            <a:noAutofit/>
          </a:bodyPr>
          <a:lstStyle/>
          <a:p>
            <a:pPr marL="0" indent="0"/>
            <a:r>
              <a:rPr lang="en" sz="3200" dirty="0">
                <a:latin typeface="+mn-lt"/>
              </a:rPr>
              <a:t>Các thành phần trong hệ thống</a:t>
            </a:r>
            <a:endParaRPr sz="3200" dirty="0">
              <a:latin typeface="+mn-lt"/>
            </a:endParaRPr>
          </a:p>
        </p:txBody>
      </p:sp>
      <p:sp>
        <p:nvSpPr>
          <p:cNvPr id="307" name="Google Shape;307;p35"/>
          <p:cNvSpPr txBox="1">
            <a:spLocks noGrp="1"/>
          </p:cNvSpPr>
          <p:nvPr>
            <p:ph type="title" idx="5"/>
          </p:nvPr>
        </p:nvSpPr>
        <p:spPr>
          <a:xfrm>
            <a:off x="1471320" y="2332203"/>
            <a:ext cx="585120" cy="585120"/>
          </a:xfrm>
          <a:prstGeom prst="rect">
            <a:avLst/>
          </a:prstGeom>
        </p:spPr>
        <p:txBody>
          <a:bodyPr spcFirstLastPara="1" wrap="square" lIns="146280" tIns="146280" rIns="146280" bIns="146280" anchor="ctr" anchorCtr="0">
            <a:noAutofit/>
          </a:bodyPr>
          <a:lstStyle/>
          <a:p>
            <a:r>
              <a:rPr lang="en" sz="2880" b="1" dirty="0">
                <a:latin typeface="+mn-lt"/>
              </a:rPr>
              <a:t>1</a:t>
            </a:r>
            <a:endParaRPr sz="2880" b="1" dirty="0">
              <a:latin typeface="+mn-lt"/>
            </a:endParaRPr>
          </a:p>
        </p:txBody>
      </p:sp>
      <p:sp>
        <p:nvSpPr>
          <p:cNvPr id="313" name="Google Shape;313;p35"/>
          <p:cNvSpPr txBox="1">
            <a:spLocks noGrp="1"/>
          </p:cNvSpPr>
          <p:nvPr>
            <p:ph type="title" idx="6"/>
          </p:nvPr>
        </p:nvSpPr>
        <p:spPr>
          <a:xfrm>
            <a:off x="5789840" y="5027259"/>
            <a:ext cx="585120" cy="585120"/>
          </a:xfrm>
          <a:prstGeom prst="rect">
            <a:avLst/>
          </a:prstGeom>
        </p:spPr>
        <p:txBody>
          <a:bodyPr spcFirstLastPara="1" wrap="square" lIns="146280" tIns="146280" rIns="146280" bIns="146280" anchor="ctr" anchorCtr="0">
            <a:noAutofit/>
          </a:bodyPr>
          <a:lstStyle/>
          <a:p>
            <a:r>
              <a:rPr lang="en" sz="2880" b="1" dirty="0">
                <a:latin typeface="+mn-lt"/>
              </a:rPr>
              <a:t>5</a:t>
            </a:r>
            <a:endParaRPr sz="2880" b="1" dirty="0">
              <a:latin typeface="+mn-lt"/>
            </a:endParaRPr>
          </a:p>
        </p:txBody>
      </p:sp>
      <p:sp>
        <p:nvSpPr>
          <p:cNvPr id="314" name="Google Shape;314;p35"/>
          <p:cNvSpPr txBox="1">
            <a:spLocks noGrp="1"/>
          </p:cNvSpPr>
          <p:nvPr>
            <p:ph type="title" idx="7"/>
          </p:nvPr>
        </p:nvSpPr>
        <p:spPr>
          <a:xfrm>
            <a:off x="1646680" y="5027259"/>
            <a:ext cx="585120" cy="585120"/>
          </a:xfrm>
          <a:prstGeom prst="rect">
            <a:avLst/>
          </a:prstGeom>
        </p:spPr>
        <p:txBody>
          <a:bodyPr spcFirstLastPara="1" wrap="square" lIns="146280" tIns="146280" rIns="146280" bIns="146280" anchor="ctr" anchorCtr="0">
            <a:noAutofit/>
          </a:bodyPr>
          <a:lstStyle/>
          <a:p>
            <a:r>
              <a:rPr lang="en" sz="2880" b="1" dirty="0">
                <a:latin typeface="+mn-lt"/>
              </a:rPr>
              <a:t>4</a:t>
            </a:r>
            <a:endParaRPr sz="2880" b="1" dirty="0">
              <a:latin typeface="+mn-lt"/>
            </a:endParaRPr>
          </a:p>
        </p:txBody>
      </p:sp>
      <p:sp>
        <p:nvSpPr>
          <p:cNvPr id="315" name="Google Shape;315;p35"/>
          <p:cNvSpPr txBox="1">
            <a:spLocks noGrp="1"/>
          </p:cNvSpPr>
          <p:nvPr>
            <p:ph type="title" idx="8"/>
          </p:nvPr>
        </p:nvSpPr>
        <p:spPr>
          <a:xfrm>
            <a:off x="5645240" y="2332203"/>
            <a:ext cx="585120" cy="585120"/>
          </a:xfrm>
          <a:prstGeom prst="rect">
            <a:avLst/>
          </a:prstGeom>
        </p:spPr>
        <p:txBody>
          <a:bodyPr spcFirstLastPara="1" wrap="square" lIns="146280" tIns="146280" rIns="146280" bIns="146280" anchor="ctr" anchorCtr="0">
            <a:noAutofit/>
          </a:bodyPr>
          <a:lstStyle/>
          <a:p>
            <a:r>
              <a:rPr lang="en" sz="2880" b="1" dirty="0">
                <a:latin typeface="+mn-lt"/>
              </a:rPr>
              <a:t>2</a:t>
            </a:r>
            <a:endParaRPr sz="2880" b="1" dirty="0">
              <a:latin typeface="+mn-lt"/>
            </a:endParaRPr>
          </a:p>
        </p:txBody>
      </p:sp>
      <p:sp>
        <p:nvSpPr>
          <p:cNvPr id="305" name="Google Shape;305;p35"/>
          <p:cNvSpPr txBox="1">
            <a:spLocks noGrp="1"/>
          </p:cNvSpPr>
          <p:nvPr>
            <p:ph type="title" idx="14"/>
          </p:nvPr>
        </p:nvSpPr>
        <p:spPr>
          <a:xfrm>
            <a:off x="9994520" y="5027259"/>
            <a:ext cx="585120" cy="585120"/>
          </a:xfrm>
          <a:prstGeom prst="rect">
            <a:avLst/>
          </a:prstGeom>
        </p:spPr>
        <p:txBody>
          <a:bodyPr spcFirstLastPara="1" wrap="square" lIns="146280" tIns="146280" rIns="146280" bIns="146280" anchor="ctr" anchorCtr="0">
            <a:noAutofit/>
          </a:bodyPr>
          <a:lstStyle/>
          <a:p>
            <a:r>
              <a:rPr lang="en" sz="2880" b="1" dirty="0">
                <a:latin typeface="+mn-lt"/>
              </a:rPr>
              <a:t>6</a:t>
            </a:r>
            <a:endParaRPr sz="2880" b="1" dirty="0">
              <a:latin typeface="+mn-lt"/>
            </a:endParaRPr>
          </a:p>
        </p:txBody>
      </p:sp>
      <p:sp>
        <p:nvSpPr>
          <p:cNvPr id="318" name="Google Shape;318;p35"/>
          <p:cNvSpPr txBox="1">
            <a:spLocks noGrp="1"/>
          </p:cNvSpPr>
          <p:nvPr>
            <p:ph type="title" idx="15"/>
          </p:nvPr>
        </p:nvSpPr>
        <p:spPr>
          <a:xfrm>
            <a:off x="9819160" y="2332203"/>
            <a:ext cx="585120" cy="585120"/>
          </a:xfrm>
          <a:prstGeom prst="rect">
            <a:avLst/>
          </a:prstGeom>
        </p:spPr>
        <p:txBody>
          <a:bodyPr spcFirstLastPara="1" wrap="square" lIns="146280" tIns="146280" rIns="146280" bIns="146280" anchor="ctr" anchorCtr="0">
            <a:noAutofit/>
          </a:bodyPr>
          <a:lstStyle/>
          <a:p>
            <a:r>
              <a:rPr lang="en" sz="2880" b="1" dirty="0">
                <a:latin typeface="+mn-lt"/>
              </a:rPr>
              <a:t>3</a:t>
            </a:r>
            <a:endParaRPr sz="2880" b="1" dirty="0">
              <a:latin typeface="+mn-lt"/>
            </a:endParaRPr>
          </a:p>
        </p:txBody>
      </p:sp>
      <p:sp>
        <p:nvSpPr>
          <p:cNvPr id="16" name="Google Shape;320;p35">
            <a:extLst>
              <a:ext uri="{FF2B5EF4-FFF2-40B4-BE49-F238E27FC236}">
                <a16:creationId xmlns:a16="http://schemas.microsoft.com/office/drawing/2014/main" id="{4FC8DECC-C4EA-CA54-6CA0-FFF85B410E43}"/>
              </a:ext>
            </a:extLst>
          </p:cNvPr>
          <p:cNvSpPr txBox="1">
            <a:spLocks/>
          </p:cNvSpPr>
          <p:nvPr/>
        </p:nvSpPr>
        <p:spPr>
          <a:xfrm>
            <a:off x="1080192" y="6362561"/>
            <a:ext cx="2303216" cy="711083"/>
          </a:xfrm>
          <a:prstGeom prst="rect">
            <a:avLst/>
          </a:prstGeom>
          <a:noFill/>
          <a:ln>
            <a:noFill/>
          </a:ln>
        </p:spPr>
        <p:txBody>
          <a:bodyPr spcFirstLastPara="1" wrap="square" lIns="146280" tIns="146280" rIns="146280" bIns="146280"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Figtree Black"/>
              <a:buNone/>
              <a:defRPr sz="1800" b="0" i="0" u="none" strike="noStrike" cap="none">
                <a:solidFill>
                  <a:schemeClr val="dk1"/>
                </a:solidFill>
                <a:latin typeface="Figtree Black"/>
                <a:ea typeface="Figtree Black"/>
                <a:cs typeface="Figtree Black"/>
                <a:sym typeface="Figtree Black"/>
              </a:defRPr>
            </a:lvl1pPr>
            <a:lvl2pPr marL="914400" marR="0" lvl="1" indent="-317500" algn="ctr" rtl="0">
              <a:lnSpc>
                <a:spcPct val="115000"/>
              </a:lnSpc>
              <a:spcBef>
                <a:spcPts val="0"/>
              </a:spcBef>
              <a:spcAft>
                <a:spcPts val="0"/>
              </a:spcAft>
              <a:buClr>
                <a:schemeClr val="dk1"/>
              </a:buClr>
              <a:buSzPts val="2400"/>
              <a:buFont typeface="Figtree Black"/>
              <a:buNone/>
              <a:defRPr sz="2400" b="0" i="0" u="none" strike="noStrike" cap="none">
                <a:solidFill>
                  <a:schemeClr val="dk1"/>
                </a:solidFill>
                <a:latin typeface="Figtree Black"/>
                <a:ea typeface="Figtree Black"/>
                <a:cs typeface="Figtree Black"/>
                <a:sym typeface="Figtree Black"/>
              </a:defRPr>
            </a:lvl2pPr>
            <a:lvl3pPr marL="1371600" marR="0" lvl="2" indent="-317500" algn="ctr" rtl="0">
              <a:lnSpc>
                <a:spcPct val="115000"/>
              </a:lnSpc>
              <a:spcBef>
                <a:spcPts val="0"/>
              </a:spcBef>
              <a:spcAft>
                <a:spcPts val="0"/>
              </a:spcAft>
              <a:buClr>
                <a:schemeClr val="dk1"/>
              </a:buClr>
              <a:buSzPts val="2400"/>
              <a:buFont typeface="Figtree Black"/>
              <a:buNone/>
              <a:defRPr sz="2400" b="0" i="0" u="none" strike="noStrike" cap="none">
                <a:solidFill>
                  <a:schemeClr val="dk1"/>
                </a:solidFill>
                <a:latin typeface="Figtree Black"/>
                <a:ea typeface="Figtree Black"/>
                <a:cs typeface="Figtree Black"/>
                <a:sym typeface="Figtree Black"/>
              </a:defRPr>
            </a:lvl3pPr>
            <a:lvl4pPr marL="1828800" marR="0" lvl="3" indent="-317500" algn="ctr" rtl="0">
              <a:lnSpc>
                <a:spcPct val="115000"/>
              </a:lnSpc>
              <a:spcBef>
                <a:spcPts val="0"/>
              </a:spcBef>
              <a:spcAft>
                <a:spcPts val="0"/>
              </a:spcAft>
              <a:buClr>
                <a:schemeClr val="dk1"/>
              </a:buClr>
              <a:buSzPts val="2400"/>
              <a:buFont typeface="Figtree Black"/>
              <a:buNone/>
              <a:defRPr sz="2400" b="0" i="0" u="none" strike="noStrike" cap="none">
                <a:solidFill>
                  <a:schemeClr val="dk1"/>
                </a:solidFill>
                <a:latin typeface="Figtree Black"/>
                <a:ea typeface="Figtree Black"/>
                <a:cs typeface="Figtree Black"/>
                <a:sym typeface="Figtree Black"/>
              </a:defRPr>
            </a:lvl4pPr>
            <a:lvl5pPr marL="2286000" marR="0" lvl="4" indent="-317500" algn="ctr" rtl="0">
              <a:lnSpc>
                <a:spcPct val="115000"/>
              </a:lnSpc>
              <a:spcBef>
                <a:spcPts val="0"/>
              </a:spcBef>
              <a:spcAft>
                <a:spcPts val="0"/>
              </a:spcAft>
              <a:buClr>
                <a:schemeClr val="dk1"/>
              </a:buClr>
              <a:buSzPts val="2400"/>
              <a:buFont typeface="Figtree Black"/>
              <a:buNone/>
              <a:defRPr sz="2400" b="0" i="0" u="none" strike="noStrike" cap="none">
                <a:solidFill>
                  <a:schemeClr val="dk1"/>
                </a:solidFill>
                <a:latin typeface="Figtree Black"/>
                <a:ea typeface="Figtree Black"/>
                <a:cs typeface="Figtree Black"/>
                <a:sym typeface="Figtree Black"/>
              </a:defRPr>
            </a:lvl5pPr>
            <a:lvl6pPr marL="2743200" marR="0" lvl="5" indent="-317500" algn="ctr" rtl="0">
              <a:lnSpc>
                <a:spcPct val="115000"/>
              </a:lnSpc>
              <a:spcBef>
                <a:spcPts val="0"/>
              </a:spcBef>
              <a:spcAft>
                <a:spcPts val="0"/>
              </a:spcAft>
              <a:buClr>
                <a:schemeClr val="dk1"/>
              </a:buClr>
              <a:buSzPts val="2400"/>
              <a:buFont typeface="Figtree Black"/>
              <a:buNone/>
              <a:defRPr sz="2400" b="0" i="0" u="none" strike="noStrike" cap="none">
                <a:solidFill>
                  <a:schemeClr val="dk1"/>
                </a:solidFill>
                <a:latin typeface="Figtree Black"/>
                <a:ea typeface="Figtree Black"/>
                <a:cs typeface="Figtree Black"/>
                <a:sym typeface="Figtree Black"/>
              </a:defRPr>
            </a:lvl6pPr>
            <a:lvl7pPr marL="3200400" marR="0" lvl="6" indent="-317500" algn="ctr" rtl="0">
              <a:lnSpc>
                <a:spcPct val="115000"/>
              </a:lnSpc>
              <a:spcBef>
                <a:spcPts val="0"/>
              </a:spcBef>
              <a:spcAft>
                <a:spcPts val="0"/>
              </a:spcAft>
              <a:buClr>
                <a:schemeClr val="dk1"/>
              </a:buClr>
              <a:buSzPts val="2400"/>
              <a:buFont typeface="Figtree Black"/>
              <a:buNone/>
              <a:defRPr sz="2400" b="0" i="0" u="none" strike="noStrike" cap="none">
                <a:solidFill>
                  <a:schemeClr val="dk1"/>
                </a:solidFill>
                <a:latin typeface="Figtree Black"/>
                <a:ea typeface="Figtree Black"/>
                <a:cs typeface="Figtree Black"/>
                <a:sym typeface="Figtree Black"/>
              </a:defRPr>
            </a:lvl7pPr>
            <a:lvl8pPr marL="3657600" marR="0" lvl="7" indent="-317500" algn="ctr" rtl="0">
              <a:lnSpc>
                <a:spcPct val="115000"/>
              </a:lnSpc>
              <a:spcBef>
                <a:spcPts val="0"/>
              </a:spcBef>
              <a:spcAft>
                <a:spcPts val="0"/>
              </a:spcAft>
              <a:buClr>
                <a:schemeClr val="dk1"/>
              </a:buClr>
              <a:buSzPts val="2400"/>
              <a:buFont typeface="Figtree Black"/>
              <a:buNone/>
              <a:defRPr sz="2400" b="0" i="0" u="none" strike="noStrike" cap="none">
                <a:solidFill>
                  <a:schemeClr val="dk1"/>
                </a:solidFill>
                <a:latin typeface="Figtree Black"/>
                <a:ea typeface="Figtree Black"/>
                <a:cs typeface="Figtree Black"/>
                <a:sym typeface="Figtree Black"/>
              </a:defRPr>
            </a:lvl8pPr>
            <a:lvl9pPr marL="4114800" marR="0" lvl="8" indent="-317500" algn="ctr" rtl="0">
              <a:lnSpc>
                <a:spcPct val="115000"/>
              </a:lnSpc>
              <a:spcBef>
                <a:spcPts val="0"/>
              </a:spcBef>
              <a:spcAft>
                <a:spcPts val="0"/>
              </a:spcAft>
              <a:buClr>
                <a:schemeClr val="dk1"/>
              </a:buClr>
              <a:buSzPts val="2400"/>
              <a:buFont typeface="Figtree Black"/>
              <a:buNone/>
              <a:defRPr sz="2400" b="0" i="0" u="none" strike="noStrike" cap="none">
                <a:solidFill>
                  <a:schemeClr val="dk1"/>
                </a:solidFill>
                <a:latin typeface="Figtree Black"/>
                <a:ea typeface="Figtree Black"/>
                <a:cs typeface="Figtree Black"/>
                <a:sym typeface="Figtree Black"/>
              </a:defRPr>
            </a:lvl9pPr>
          </a:lstStyle>
          <a:p>
            <a:pPr marL="0" indent="0"/>
            <a:r>
              <a:rPr lang="en-US" sz="3200" dirty="0" err="1">
                <a:latin typeface="+mn-lt"/>
              </a:rPr>
              <a:t>Đánh</a:t>
            </a:r>
            <a:r>
              <a:rPr lang="en-US" sz="3200" dirty="0">
                <a:latin typeface="+mn-lt"/>
              </a:rPr>
              <a:t> </a:t>
            </a:r>
            <a:r>
              <a:rPr lang="en-US" sz="3200" dirty="0" err="1">
                <a:latin typeface="+mn-lt"/>
              </a:rPr>
              <a:t>giá</a:t>
            </a:r>
            <a:r>
              <a:rPr lang="en-US" sz="3200" dirty="0">
                <a:latin typeface="+mn-lt"/>
              </a:rPr>
              <a:t> </a:t>
            </a:r>
            <a:r>
              <a:rPr lang="en-US" sz="3200" dirty="0" err="1">
                <a:latin typeface="+mn-lt"/>
              </a:rPr>
              <a:t>mô</a:t>
            </a:r>
            <a:r>
              <a:rPr lang="en-US" sz="3200" dirty="0">
                <a:latin typeface="+mn-lt"/>
              </a:rPr>
              <a:t> </a:t>
            </a:r>
            <a:r>
              <a:rPr lang="en-US" sz="3200" dirty="0" err="1">
                <a:latin typeface="+mn-lt"/>
              </a:rPr>
              <a:t>hình</a:t>
            </a:r>
            <a:endParaRPr lang="vi-VN" sz="3200" dirty="0">
              <a:latin typeface="+mn-lt"/>
            </a:endParaRPr>
          </a:p>
        </p:txBody>
      </p:sp>
      <p:sp>
        <p:nvSpPr>
          <p:cNvPr id="17" name="Google Shape;320;p35">
            <a:extLst>
              <a:ext uri="{FF2B5EF4-FFF2-40B4-BE49-F238E27FC236}">
                <a16:creationId xmlns:a16="http://schemas.microsoft.com/office/drawing/2014/main" id="{DA6BFA8A-13C2-DE7A-03EB-16DEE3D7DD6B}"/>
              </a:ext>
            </a:extLst>
          </p:cNvPr>
          <p:cNvSpPr txBox="1">
            <a:spLocks/>
          </p:cNvSpPr>
          <p:nvPr/>
        </p:nvSpPr>
        <p:spPr>
          <a:xfrm>
            <a:off x="9231628" y="5862905"/>
            <a:ext cx="2010113" cy="585120"/>
          </a:xfrm>
          <a:prstGeom prst="rect">
            <a:avLst/>
          </a:prstGeom>
          <a:noFill/>
          <a:ln>
            <a:noFill/>
          </a:ln>
        </p:spPr>
        <p:txBody>
          <a:bodyPr spcFirstLastPara="1" wrap="square" lIns="146280" tIns="146280" rIns="146280" bIns="146280"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Figtree Black"/>
              <a:buNone/>
              <a:defRPr sz="1800" b="0" i="0" u="none" strike="noStrike" cap="none">
                <a:solidFill>
                  <a:schemeClr val="dk1"/>
                </a:solidFill>
                <a:latin typeface="Figtree Black"/>
                <a:ea typeface="Figtree Black"/>
                <a:cs typeface="Figtree Black"/>
                <a:sym typeface="Figtree Black"/>
              </a:defRPr>
            </a:lvl1pPr>
            <a:lvl2pPr marL="914400" marR="0" lvl="1" indent="-317500" algn="ctr" rtl="0">
              <a:lnSpc>
                <a:spcPct val="115000"/>
              </a:lnSpc>
              <a:spcBef>
                <a:spcPts val="0"/>
              </a:spcBef>
              <a:spcAft>
                <a:spcPts val="0"/>
              </a:spcAft>
              <a:buClr>
                <a:schemeClr val="dk1"/>
              </a:buClr>
              <a:buSzPts val="2400"/>
              <a:buFont typeface="Figtree Black"/>
              <a:buNone/>
              <a:defRPr sz="2400" b="0" i="0" u="none" strike="noStrike" cap="none">
                <a:solidFill>
                  <a:schemeClr val="dk1"/>
                </a:solidFill>
                <a:latin typeface="Figtree Black"/>
                <a:ea typeface="Figtree Black"/>
                <a:cs typeface="Figtree Black"/>
                <a:sym typeface="Figtree Black"/>
              </a:defRPr>
            </a:lvl2pPr>
            <a:lvl3pPr marL="1371600" marR="0" lvl="2" indent="-317500" algn="ctr" rtl="0">
              <a:lnSpc>
                <a:spcPct val="115000"/>
              </a:lnSpc>
              <a:spcBef>
                <a:spcPts val="0"/>
              </a:spcBef>
              <a:spcAft>
                <a:spcPts val="0"/>
              </a:spcAft>
              <a:buClr>
                <a:schemeClr val="dk1"/>
              </a:buClr>
              <a:buSzPts val="2400"/>
              <a:buFont typeface="Figtree Black"/>
              <a:buNone/>
              <a:defRPr sz="2400" b="0" i="0" u="none" strike="noStrike" cap="none">
                <a:solidFill>
                  <a:schemeClr val="dk1"/>
                </a:solidFill>
                <a:latin typeface="Figtree Black"/>
                <a:ea typeface="Figtree Black"/>
                <a:cs typeface="Figtree Black"/>
                <a:sym typeface="Figtree Black"/>
              </a:defRPr>
            </a:lvl3pPr>
            <a:lvl4pPr marL="1828800" marR="0" lvl="3" indent="-317500" algn="ctr" rtl="0">
              <a:lnSpc>
                <a:spcPct val="115000"/>
              </a:lnSpc>
              <a:spcBef>
                <a:spcPts val="0"/>
              </a:spcBef>
              <a:spcAft>
                <a:spcPts val="0"/>
              </a:spcAft>
              <a:buClr>
                <a:schemeClr val="dk1"/>
              </a:buClr>
              <a:buSzPts val="2400"/>
              <a:buFont typeface="Figtree Black"/>
              <a:buNone/>
              <a:defRPr sz="2400" b="0" i="0" u="none" strike="noStrike" cap="none">
                <a:solidFill>
                  <a:schemeClr val="dk1"/>
                </a:solidFill>
                <a:latin typeface="Figtree Black"/>
                <a:ea typeface="Figtree Black"/>
                <a:cs typeface="Figtree Black"/>
                <a:sym typeface="Figtree Black"/>
              </a:defRPr>
            </a:lvl4pPr>
            <a:lvl5pPr marL="2286000" marR="0" lvl="4" indent="-317500" algn="ctr" rtl="0">
              <a:lnSpc>
                <a:spcPct val="115000"/>
              </a:lnSpc>
              <a:spcBef>
                <a:spcPts val="0"/>
              </a:spcBef>
              <a:spcAft>
                <a:spcPts val="0"/>
              </a:spcAft>
              <a:buClr>
                <a:schemeClr val="dk1"/>
              </a:buClr>
              <a:buSzPts val="2400"/>
              <a:buFont typeface="Figtree Black"/>
              <a:buNone/>
              <a:defRPr sz="2400" b="0" i="0" u="none" strike="noStrike" cap="none">
                <a:solidFill>
                  <a:schemeClr val="dk1"/>
                </a:solidFill>
                <a:latin typeface="Figtree Black"/>
                <a:ea typeface="Figtree Black"/>
                <a:cs typeface="Figtree Black"/>
                <a:sym typeface="Figtree Black"/>
              </a:defRPr>
            </a:lvl5pPr>
            <a:lvl6pPr marL="2743200" marR="0" lvl="5" indent="-317500" algn="ctr" rtl="0">
              <a:lnSpc>
                <a:spcPct val="115000"/>
              </a:lnSpc>
              <a:spcBef>
                <a:spcPts val="0"/>
              </a:spcBef>
              <a:spcAft>
                <a:spcPts val="0"/>
              </a:spcAft>
              <a:buClr>
                <a:schemeClr val="dk1"/>
              </a:buClr>
              <a:buSzPts val="2400"/>
              <a:buFont typeface="Figtree Black"/>
              <a:buNone/>
              <a:defRPr sz="2400" b="0" i="0" u="none" strike="noStrike" cap="none">
                <a:solidFill>
                  <a:schemeClr val="dk1"/>
                </a:solidFill>
                <a:latin typeface="Figtree Black"/>
                <a:ea typeface="Figtree Black"/>
                <a:cs typeface="Figtree Black"/>
                <a:sym typeface="Figtree Black"/>
              </a:defRPr>
            </a:lvl6pPr>
            <a:lvl7pPr marL="3200400" marR="0" lvl="6" indent="-317500" algn="ctr" rtl="0">
              <a:lnSpc>
                <a:spcPct val="115000"/>
              </a:lnSpc>
              <a:spcBef>
                <a:spcPts val="0"/>
              </a:spcBef>
              <a:spcAft>
                <a:spcPts val="0"/>
              </a:spcAft>
              <a:buClr>
                <a:schemeClr val="dk1"/>
              </a:buClr>
              <a:buSzPts val="2400"/>
              <a:buFont typeface="Figtree Black"/>
              <a:buNone/>
              <a:defRPr sz="2400" b="0" i="0" u="none" strike="noStrike" cap="none">
                <a:solidFill>
                  <a:schemeClr val="dk1"/>
                </a:solidFill>
                <a:latin typeface="Figtree Black"/>
                <a:ea typeface="Figtree Black"/>
                <a:cs typeface="Figtree Black"/>
                <a:sym typeface="Figtree Black"/>
              </a:defRPr>
            </a:lvl7pPr>
            <a:lvl8pPr marL="3657600" marR="0" lvl="7" indent="-317500" algn="ctr" rtl="0">
              <a:lnSpc>
                <a:spcPct val="115000"/>
              </a:lnSpc>
              <a:spcBef>
                <a:spcPts val="0"/>
              </a:spcBef>
              <a:spcAft>
                <a:spcPts val="0"/>
              </a:spcAft>
              <a:buClr>
                <a:schemeClr val="dk1"/>
              </a:buClr>
              <a:buSzPts val="2400"/>
              <a:buFont typeface="Figtree Black"/>
              <a:buNone/>
              <a:defRPr sz="2400" b="0" i="0" u="none" strike="noStrike" cap="none">
                <a:solidFill>
                  <a:schemeClr val="dk1"/>
                </a:solidFill>
                <a:latin typeface="Figtree Black"/>
                <a:ea typeface="Figtree Black"/>
                <a:cs typeface="Figtree Black"/>
                <a:sym typeface="Figtree Black"/>
              </a:defRPr>
            </a:lvl8pPr>
            <a:lvl9pPr marL="4114800" marR="0" lvl="8" indent="-317500" algn="ctr" rtl="0">
              <a:lnSpc>
                <a:spcPct val="115000"/>
              </a:lnSpc>
              <a:spcBef>
                <a:spcPts val="0"/>
              </a:spcBef>
              <a:spcAft>
                <a:spcPts val="0"/>
              </a:spcAft>
              <a:buClr>
                <a:schemeClr val="dk1"/>
              </a:buClr>
              <a:buSzPts val="2400"/>
              <a:buFont typeface="Figtree Black"/>
              <a:buNone/>
              <a:defRPr sz="2400" b="0" i="0" u="none" strike="noStrike" cap="none">
                <a:solidFill>
                  <a:schemeClr val="dk1"/>
                </a:solidFill>
                <a:latin typeface="Figtree Black"/>
                <a:ea typeface="Figtree Black"/>
                <a:cs typeface="Figtree Black"/>
                <a:sym typeface="Figtree Black"/>
              </a:defRPr>
            </a:lvl9pPr>
          </a:lstStyle>
          <a:p>
            <a:pPr marL="0" indent="0" algn="ctr"/>
            <a:r>
              <a:rPr lang="en-US" sz="3200" dirty="0">
                <a:latin typeface="+mn-lt"/>
              </a:rPr>
              <a:t>Demo</a:t>
            </a:r>
            <a:endParaRPr lang="vi-VN" sz="3200" dirty="0">
              <a:latin typeface="+mn-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3554313" y="121192"/>
            <a:ext cx="8166497" cy="620078"/>
          </a:xfrm>
          <a:prstGeom prst="rect">
            <a:avLst/>
          </a:prstGeom>
          <a:noFill/>
          <a:ln/>
        </p:spPr>
        <p:txBody>
          <a:bodyPr wrap="none" lIns="0" tIns="0" rIns="0" bIns="0" rtlCol="0" anchor="t"/>
          <a:lstStyle/>
          <a:p>
            <a:pPr marL="0" indent="0" algn="l">
              <a:lnSpc>
                <a:spcPts val="4850"/>
              </a:lnSpc>
              <a:buNone/>
            </a:pPr>
            <a:r>
              <a:rPr lang="en-US" sz="3900" b="1" dirty="0">
                <a:solidFill>
                  <a:srgbClr val="233E32"/>
                </a:solidFill>
                <a:latin typeface="+mj-lt"/>
                <a:ea typeface="Alice" pitchFamily="34" charset="-122"/>
              </a:rPr>
              <a:t>1. </a:t>
            </a:r>
            <a:r>
              <a:rPr lang="en-US" sz="3900" b="1" dirty="0" err="1">
                <a:solidFill>
                  <a:srgbClr val="233E32"/>
                </a:solidFill>
                <a:latin typeface="+mj-lt"/>
                <a:ea typeface="Alice" pitchFamily="34" charset="-122"/>
              </a:rPr>
              <a:t>Tổng</a:t>
            </a:r>
            <a:r>
              <a:rPr lang="en-US" sz="3900" b="1" dirty="0">
                <a:solidFill>
                  <a:srgbClr val="233E32"/>
                </a:solidFill>
                <a:latin typeface="+mj-lt"/>
                <a:ea typeface="Alice" pitchFamily="34" charset="-122"/>
              </a:rPr>
              <a:t> </a:t>
            </a:r>
            <a:r>
              <a:rPr lang="en-US" sz="3900" b="1" dirty="0" err="1">
                <a:solidFill>
                  <a:srgbClr val="233E32"/>
                </a:solidFill>
                <a:latin typeface="+mj-lt"/>
                <a:ea typeface="Alice" pitchFamily="34" charset="-122"/>
              </a:rPr>
              <a:t>quan</a:t>
            </a:r>
            <a:r>
              <a:rPr lang="en-US" sz="3900" b="1" dirty="0">
                <a:solidFill>
                  <a:srgbClr val="233E32"/>
                </a:solidFill>
                <a:latin typeface="+mj-lt"/>
                <a:ea typeface="Alice" pitchFamily="34" charset="-122"/>
              </a:rPr>
              <a:t> </a:t>
            </a:r>
            <a:r>
              <a:rPr lang="en-US" sz="3900" b="1" dirty="0" err="1">
                <a:solidFill>
                  <a:srgbClr val="233E32"/>
                </a:solidFill>
                <a:latin typeface="+mj-lt"/>
                <a:ea typeface="Alice" pitchFamily="34" charset="-122"/>
              </a:rPr>
              <a:t>và</a:t>
            </a:r>
            <a:r>
              <a:rPr lang="en-US" sz="3900" b="1" dirty="0">
                <a:solidFill>
                  <a:srgbClr val="233E32"/>
                </a:solidFill>
                <a:latin typeface="+mj-lt"/>
                <a:ea typeface="Alice" pitchFamily="34" charset="-122"/>
              </a:rPr>
              <a:t> </a:t>
            </a:r>
            <a:r>
              <a:rPr lang="en-US" sz="3900" b="1" dirty="0" err="1">
                <a:solidFill>
                  <a:srgbClr val="233E32"/>
                </a:solidFill>
                <a:latin typeface="+mj-lt"/>
                <a:ea typeface="Alice" pitchFamily="34" charset="-122"/>
              </a:rPr>
              <a:t>mục</a:t>
            </a:r>
            <a:r>
              <a:rPr lang="en-US" sz="3900" b="1" dirty="0">
                <a:solidFill>
                  <a:srgbClr val="233E32"/>
                </a:solidFill>
                <a:latin typeface="+mj-lt"/>
                <a:ea typeface="Alice" pitchFamily="34" charset="-122"/>
              </a:rPr>
              <a:t> </a:t>
            </a:r>
            <a:r>
              <a:rPr lang="en-US" sz="3900" b="1" dirty="0" err="1">
                <a:solidFill>
                  <a:srgbClr val="233E32"/>
                </a:solidFill>
                <a:latin typeface="+mj-lt"/>
                <a:ea typeface="Alice" pitchFamily="34" charset="-122"/>
              </a:rPr>
              <a:t>tiêu</a:t>
            </a:r>
            <a:r>
              <a:rPr lang="en-US" sz="3900" b="1" dirty="0">
                <a:solidFill>
                  <a:srgbClr val="233E32"/>
                </a:solidFill>
                <a:latin typeface="+mj-lt"/>
                <a:ea typeface="Alice" pitchFamily="34" charset="-122"/>
              </a:rPr>
              <a:t> </a:t>
            </a:r>
            <a:r>
              <a:rPr lang="en-US" sz="3900" b="1" dirty="0" err="1">
                <a:solidFill>
                  <a:srgbClr val="233E32"/>
                </a:solidFill>
                <a:latin typeface="+mj-lt"/>
                <a:ea typeface="Alice" pitchFamily="34" charset="-122"/>
              </a:rPr>
              <a:t>của</a:t>
            </a:r>
            <a:r>
              <a:rPr lang="en-US" sz="3900" b="1" dirty="0">
                <a:solidFill>
                  <a:srgbClr val="233E32"/>
                </a:solidFill>
                <a:latin typeface="+mj-lt"/>
                <a:ea typeface="Alice" pitchFamily="34" charset="-122"/>
              </a:rPr>
              <a:t> </a:t>
            </a:r>
            <a:r>
              <a:rPr lang="en-US" sz="3900" b="1" dirty="0" err="1">
                <a:solidFill>
                  <a:srgbClr val="233E32"/>
                </a:solidFill>
                <a:latin typeface="+mj-lt"/>
                <a:ea typeface="Alice" pitchFamily="34" charset="-122"/>
              </a:rPr>
              <a:t>hệ</a:t>
            </a:r>
            <a:r>
              <a:rPr lang="en-US" sz="3900" b="1" dirty="0">
                <a:solidFill>
                  <a:srgbClr val="233E32"/>
                </a:solidFill>
                <a:latin typeface="+mj-lt"/>
                <a:ea typeface="Alice" pitchFamily="34" charset="-122"/>
              </a:rPr>
              <a:t> </a:t>
            </a:r>
            <a:r>
              <a:rPr lang="en-US" sz="3900" b="1" dirty="0" err="1">
                <a:solidFill>
                  <a:srgbClr val="233E32"/>
                </a:solidFill>
                <a:latin typeface="+mj-lt"/>
                <a:ea typeface="Alice" pitchFamily="34" charset="-122"/>
              </a:rPr>
              <a:t>thống</a:t>
            </a:r>
            <a:endParaRPr lang="en-US" sz="3900" b="1" dirty="0">
              <a:latin typeface="+mj-lt"/>
            </a:endParaRPr>
          </a:p>
        </p:txBody>
      </p:sp>
      <p:sp>
        <p:nvSpPr>
          <p:cNvPr id="3" name="Shape 1"/>
          <p:cNvSpPr/>
          <p:nvPr/>
        </p:nvSpPr>
        <p:spPr>
          <a:xfrm>
            <a:off x="793790" y="1146789"/>
            <a:ext cx="446484" cy="446484"/>
          </a:xfrm>
          <a:prstGeom prst="roundRect">
            <a:avLst>
              <a:gd name="adj" fmla="val 6668"/>
            </a:avLst>
          </a:prstGeom>
          <a:solidFill>
            <a:srgbClr val="F0EDE6"/>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868204" y="1183996"/>
            <a:ext cx="297656" cy="372070"/>
          </a:xfrm>
          <a:prstGeom prst="rect">
            <a:avLst/>
          </a:prstGeom>
        </p:spPr>
      </p:pic>
      <p:sp>
        <p:nvSpPr>
          <p:cNvPr id="5" name="Text 2"/>
          <p:cNvSpPr/>
          <p:nvPr/>
        </p:nvSpPr>
        <p:spPr>
          <a:xfrm>
            <a:off x="1438632" y="1215012"/>
            <a:ext cx="2506266" cy="310158"/>
          </a:xfrm>
          <a:prstGeom prst="rect">
            <a:avLst/>
          </a:prstGeom>
          <a:noFill/>
          <a:ln/>
        </p:spPr>
        <p:txBody>
          <a:bodyPr wrap="none" lIns="0" tIns="0" rIns="0" bIns="0" rtlCol="0" anchor="t"/>
          <a:lstStyle/>
          <a:p>
            <a:pPr marL="0" indent="0" algn="l">
              <a:lnSpc>
                <a:spcPts val="2400"/>
              </a:lnSpc>
              <a:buNone/>
            </a:pPr>
            <a:r>
              <a:rPr lang="en-US" sz="1950" dirty="0">
                <a:solidFill>
                  <a:srgbClr val="2C2821"/>
                </a:solidFill>
                <a:latin typeface="Alice" pitchFamily="34" charset="0"/>
                <a:ea typeface="Alice" pitchFamily="34" charset="-122"/>
                <a:cs typeface="Alice" pitchFamily="34" charset="-120"/>
              </a:rPr>
              <a:t>Đơn Giản và Hiệu Quả</a:t>
            </a:r>
            <a:endParaRPr lang="en-US" sz="1950" dirty="0"/>
          </a:p>
        </p:txBody>
      </p:sp>
      <p:sp>
        <p:nvSpPr>
          <p:cNvPr id="6" name="Text 3"/>
          <p:cNvSpPr/>
          <p:nvPr/>
        </p:nvSpPr>
        <p:spPr>
          <a:xfrm>
            <a:off x="1438632" y="1644232"/>
            <a:ext cx="3537347" cy="1270159"/>
          </a:xfrm>
          <a:prstGeom prst="rect">
            <a:avLst/>
          </a:prstGeom>
          <a:noFill/>
          <a:ln/>
        </p:spPr>
        <p:txBody>
          <a:bodyPr wrap="square" lIns="0" tIns="0" rIns="0" bIns="0" rtlCol="0" anchor="t"/>
          <a:lstStyle/>
          <a:p>
            <a:pPr marL="0" indent="0" algn="just">
              <a:lnSpc>
                <a:spcPts val="2500"/>
              </a:lnSpc>
              <a:buNone/>
            </a:pPr>
            <a:r>
              <a:rPr lang="en-US" sz="1550" dirty="0">
                <a:solidFill>
                  <a:srgbClr val="2C2821"/>
                </a:solidFill>
                <a:latin typeface="Lora" pitchFamily="34" charset="0"/>
                <a:ea typeface="Lora" pitchFamily="34" charset="-122"/>
                <a:cs typeface="Lora" pitchFamily="34" charset="-120"/>
              </a:rPr>
              <a:t>Xây dựng một hệ thống dễ triển khai, dễ sử dụng nhưng vẫn đảm bảo độ chính xác cao trong việc nhận diện biển số xe máy.</a:t>
            </a:r>
            <a:endParaRPr lang="en-US" sz="1550" dirty="0"/>
          </a:p>
        </p:txBody>
      </p:sp>
      <p:sp>
        <p:nvSpPr>
          <p:cNvPr id="7" name="Shape 4"/>
          <p:cNvSpPr/>
          <p:nvPr/>
        </p:nvSpPr>
        <p:spPr>
          <a:xfrm>
            <a:off x="5223986" y="1146789"/>
            <a:ext cx="446484" cy="446484"/>
          </a:xfrm>
          <a:prstGeom prst="roundRect">
            <a:avLst>
              <a:gd name="adj" fmla="val 6668"/>
            </a:avLst>
          </a:prstGeom>
          <a:solidFill>
            <a:srgbClr val="F0EDE6"/>
          </a:solidFill>
          <a:ln/>
        </p:spPr>
        <p:txBody>
          <a:bodyPr/>
          <a:lstStyle/>
          <a:p>
            <a:endParaRPr lang="en-US"/>
          </a:p>
        </p:txBody>
      </p:sp>
      <p:pic>
        <p:nvPicPr>
          <p:cNvPr id="8" name="Image 1" descr="preencoded.png"/>
          <p:cNvPicPr>
            <a:picLocks noChangeAspect="1"/>
          </p:cNvPicPr>
          <p:nvPr/>
        </p:nvPicPr>
        <p:blipFill>
          <a:blip r:embed="rId3"/>
          <a:stretch>
            <a:fillRect/>
          </a:stretch>
        </p:blipFill>
        <p:spPr>
          <a:xfrm>
            <a:off x="5298400" y="1183996"/>
            <a:ext cx="297656" cy="372070"/>
          </a:xfrm>
          <a:prstGeom prst="rect">
            <a:avLst/>
          </a:prstGeom>
        </p:spPr>
      </p:pic>
      <p:sp>
        <p:nvSpPr>
          <p:cNvPr id="9" name="Text 5"/>
          <p:cNvSpPr/>
          <p:nvPr/>
        </p:nvSpPr>
        <p:spPr>
          <a:xfrm>
            <a:off x="5868829" y="1215012"/>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2C2821"/>
                </a:solidFill>
                <a:latin typeface="Alice" pitchFamily="34" charset="0"/>
                <a:ea typeface="Alice" pitchFamily="34" charset="-122"/>
                <a:cs typeface="Alice" pitchFamily="34" charset="-120"/>
              </a:rPr>
              <a:t>Chi Phí Thấp</a:t>
            </a:r>
            <a:endParaRPr lang="en-US" sz="1950" dirty="0"/>
          </a:p>
        </p:txBody>
      </p:sp>
      <p:sp>
        <p:nvSpPr>
          <p:cNvPr id="10" name="Text 6"/>
          <p:cNvSpPr/>
          <p:nvPr/>
        </p:nvSpPr>
        <p:spPr>
          <a:xfrm>
            <a:off x="5868829" y="1644232"/>
            <a:ext cx="3537466" cy="952619"/>
          </a:xfrm>
          <a:prstGeom prst="rect">
            <a:avLst/>
          </a:prstGeom>
          <a:noFill/>
          <a:ln/>
        </p:spPr>
        <p:txBody>
          <a:bodyPr wrap="square" lIns="0" tIns="0" rIns="0" bIns="0" rtlCol="0" anchor="t"/>
          <a:lstStyle/>
          <a:p>
            <a:pPr marL="0" indent="0" algn="just">
              <a:lnSpc>
                <a:spcPts val="2500"/>
              </a:lnSpc>
              <a:buNone/>
            </a:pPr>
            <a:r>
              <a:rPr lang="en-US" sz="1550" dirty="0">
                <a:solidFill>
                  <a:srgbClr val="2C2821"/>
                </a:solidFill>
                <a:latin typeface="Lora" pitchFamily="34" charset="0"/>
                <a:ea typeface="Lora" pitchFamily="34" charset="-122"/>
                <a:cs typeface="Lora" pitchFamily="34" charset="-120"/>
              </a:rPr>
              <a:t>Tối ưu hóa chi phí phần cứng và phần mềm, phù hợp với nhiều đối tượng người dùng và ứng dụng khác nhau.</a:t>
            </a:r>
            <a:endParaRPr lang="en-US" sz="1550" dirty="0"/>
          </a:p>
        </p:txBody>
      </p:sp>
      <p:sp>
        <p:nvSpPr>
          <p:cNvPr id="11" name="Shape 7"/>
          <p:cNvSpPr/>
          <p:nvPr/>
        </p:nvSpPr>
        <p:spPr>
          <a:xfrm>
            <a:off x="9654302" y="1146789"/>
            <a:ext cx="446484" cy="446484"/>
          </a:xfrm>
          <a:prstGeom prst="roundRect">
            <a:avLst>
              <a:gd name="adj" fmla="val 6668"/>
            </a:avLst>
          </a:prstGeom>
          <a:solidFill>
            <a:srgbClr val="F0EDE6"/>
          </a:solidFill>
          <a:ln/>
        </p:spPr>
        <p:txBody>
          <a:bodyPr/>
          <a:lstStyle/>
          <a:p>
            <a:endParaRPr lang="en-US"/>
          </a:p>
        </p:txBody>
      </p:sp>
      <p:pic>
        <p:nvPicPr>
          <p:cNvPr id="12" name="Image 2" descr="preencoded.png"/>
          <p:cNvPicPr>
            <a:picLocks noChangeAspect="1"/>
          </p:cNvPicPr>
          <p:nvPr/>
        </p:nvPicPr>
        <p:blipFill>
          <a:blip r:embed="rId3"/>
          <a:stretch>
            <a:fillRect/>
          </a:stretch>
        </p:blipFill>
        <p:spPr>
          <a:xfrm>
            <a:off x="9728716" y="1183996"/>
            <a:ext cx="297656" cy="372070"/>
          </a:xfrm>
          <a:prstGeom prst="rect">
            <a:avLst/>
          </a:prstGeom>
        </p:spPr>
      </p:pic>
      <p:sp>
        <p:nvSpPr>
          <p:cNvPr id="13" name="Text 8"/>
          <p:cNvSpPr/>
          <p:nvPr/>
        </p:nvSpPr>
        <p:spPr>
          <a:xfrm>
            <a:off x="10299144" y="1215012"/>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2C2821"/>
                </a:solidFill>
                <a:latin typeface="Alice" pitchFamily="34" charset="0"/>
                <a:ea typeface="Alice" pitchFamily="34" charset="-122"/>
                <a:cs typeface="Alice" pitchFamily="34" charset="-120"/>
              </a:rPr>
              <a:t>Ứng Dụng Thực Tế</a:t>
            </a:r>
            <a:endParaRPr lang="en-US" sz="1950" dirty="0"/>
          </a:p>
        </p:txBody>
      </p:sp>
      <p:sp>
        <p:nvSpPr>
          <p:cNvPr id="14" name="Text 9"/>
          <p:cNvSpPr/>
          <p:nvPr/>
        </p:nvSpPr>
        <p:spPr>
          <a:xfrm>
            <a:off x="10299144" y="1644232"/>
            <a:ext cx="3537466" cy="952619"/>
          </a:xfrm>
          <a:prstGeom prst="rect">
            <a:avLst/>
          </a:prstGeom>
          <a:noFill/>
          <a:ln/>
        </p:spPr>
        <p:txBody>
          <a:bodyPr wrap="square" lIns="0" tIns="0" rIns="0" bIns="0" rtlCol="0" anchor="t"/>
          <a:lstStyle/>
          <a:p>
            <a:pPr marL="0" indent="0" algn="just">
              <a:lnSpc>
                <a:spcPts val="2500"/>
              </a:lnSpc>
              <a:buNone/>
            </a:pPr>
            <a:r>
              <a:rPr lang="en-US" sz="1550" dirty="0">
                <a:solidFill>
                  <a:srgbClr val="2C2821"/>
                </a:solidFill>
                <a:latin typeface="Lora" pitchFamily="34" charset="0"/>
                <a:ea typeface="Lora" pitchFamily="34" charset="-122"/>
                <a:cs typeface="Lora" pitchFamily="34" charset="-120"/>
              </a:rPr>
              <a:t>Hệ thống có khả năng hoạt động tốt trong các điều kiện thực tế như bãi giữ xe, cổng cơ quan, khu dân cư, v.v.</a:t>
            </a:r>
            <a:endParaRPr lang="en-US" sz="1550" dirty="0"/>
          </a:p>
        </p:txBody>
      </p:sp>
      <p:pic>
        <p:nvPicPr>
          <p:cNvPr id="20" name="Picture 19">
            <a:extLst>
              <a:ext uri="{FF2B5EF4-FFF2-40B4-BE49-F238E27FC236}">
                <a16:creationId xmlns:a16="http://schemas.microsoft.com/office/drawing/2014/main" id="{42372738-5796-39AD-6264-9626AA9ABF42}"/>
              </a:ext>
            </a:extLst>
          </p:cNvPr>
          <p:cNvPicPr>
            <a:picLocks noChangeAspect="1"/>
          </p:cNvPicPr>
          <p:nvPr/>
        </p:nvPicPr>
        <p:blipFill>
          <a:blip r:embed="rId4"/>
          <a:stretch>
            <a:fillRect/>
          </a:stretch>
        </p:blipFill>
        <p:spPr>
          <a:xfrm>
            <a:off x="1165860" y="3405808"/>
            <a:ext cx="12747270" cy="408252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name="Slide 4">
    <p:spTree>
      <p:nvGrpSpPr>
        <p:cNvPr id="1" name=""/>
        <p:cNvGrpSpPr/>
        <p:nvPr/>
      </p:nvGrpSpPr>
      <p:grpSpPr>
        <a:xfrm>
          <a:off x="0" y="0"/>
          <a:ext cx="0" cy="0"/>
          <a:chOff x="0" y="0"/>
          <a:chExt cx="0" cy="0"/>
        </a:xfrm>
      </p:grpSpPr>
      <p:sp>
        <p:nvSpPr>
          <p:cNvPr id="2" name="Text 0"/>
          <p:cNvSpPr/>
          <p:nvPr/>
        </p:nvSpPr>
        <p:spPr>
          <a:xfrm>
            <a:off x="1659494" y="1928191"/>
            <a:ext cx="3770471" cy="584359"/>
          </a:xfrm>
          <a:prstGeom prst="rect">
            <a:avLst/>
          </a:prstGeom>
          <a:noFill/>
          <a:ln/>
        </p:spPr>
        <p:txBody>
          <a:bodyPr wrap="none" lIns="0" tIns="0" rIns="0" bIns="0" rtlCol="0" anchor="t"/>
          <a:lstStyle/>
          <a:p>
            <a:pPr marL="0" indent="0" algn="just">
              <a:lnSpc>
                <a:spcPts val="4600"/>
              </a:lnSpc>
              <a:buNone/>
            </a:pPr>
            <a:r>
              <a:rPr lang="en-US" sz="2800" dirty="0" err="1">
                <a:solidFill>
                  <a:srgbClr val="233E32"/>
                </a:solidFill>
                <a:latin typeface="Alice" pitchFamily="34" charset="0"/>
                <a:ea typeface="Alice" pitchFamily="34" charset="-122"/>
                <a:cs typeface="Alice" pitchFamily="34" charset="-120"/>
              </a:rPr>
              <a:t>Thiết</a:t>
            </a:r>
            <a:r>
              <a:rPr lang="en-US" sz="2800" dirty="0">
                <a:solidFill>
                  <a:srgbClr val="233E32"/>
                </a:solidFill>
                <a:latin typeface="Alice" pitchFamily="34" charset="0"/>
                <a:ea typeface="Alice" pitchFamily="34" charset="-122"/>
                <a:cs typeface="Alice" pitchFamily="34" charset="-120"/>
              </a:rPr>
              <a:t> </a:t>
            </a:r>
            <a:r>
              <a:rPr lang="en-US" sz="2800" dirty="0" err="1">
                <a:solidFill>
                  <a:srgbClr val="233E32"/>
                </a:solidFill>
                <a:latin typeface="Alice" pitchFamily="34" charset="0"/>
                <a:ea typeface="Alice" pitchFamily="34" charset="-122"/>
                <a:cs typeface="Alice" pitchFamily="34" charset="-120"/>
              </a:rPr>
              <a:t>bị</a:t>
            </a:r>
            <a:r>
              <a:rPr lang="en-US" sz="2800" dirty="0">
                <a:solidFill>
                  <a:srgbClr val="233E32"/>
                </a:solidFill>
                <a:latin typeface="Alice" pitchFamily="34" charset="0"/>
                <a:ea typeface="Alice" pitchFamily="34" charset="-122"/>
                <a:cs typeface="Alice" pitchFamily="34" charset="-120"/>
              </a:rPr>
              <a:t> ESP32-CAM</a:t>
            </a:r>
            <a:endParaRPr lang="en-US" sz="2800" dirty="0"/>
          </a:p>
        </p:txBody>
      </p:sp>
      <p:sp>
        <p:nvSpPr>
          <p:cNvPr id="3" name="Text 1"/>
          <p:cNvSpPr/>
          <p:nvPr/>
        </p:nvSpPr>
        <p:spPr>
          <a:xfrm>
            <a:off x="1487724" y="2640233"/>
            <a:ext cx="3770471" cy="292298"/>
          </a:xfrm>
          <a:prstGeom prst="rect">
            <a:avLst/>
          </a:prstGeom>
          <a:noFill/>
          <a:ln/>
        </p:spPr>
        <p:txBody>
          <a:bodyPr wrap="none" lIns="0" tIns="0" rIns="0" bIns="0" rtlCol="0" anchor="t"/>
          <a:lstStyle/>
          <a:p>
            <a:pPr marL="0" indent="0" algn="just">
              <a:lnSpc>
                <a:spcPts val="2300"/>
              </a:lnSpc>
              <a:buNone/>
            </a:pPr>
            <a:r>
              <a:rPr lang="en-US" sz="1800" dirty="0">
                <a:solidFill>
                  <a:srgbClr val="233E32"/>
                </a:solidFill>
                <a:latin typeface="Alice" pitchFamily="34" charset="0"/>
                <a:ea typeface="Alice" pitchFamily="34" charset="-122"/>
                <a:cs typeface="Alice" pitchFamily="34" charset="-120"/>
              </a:rPr>
              <a:t>Thu Nhận Hình Ảnh Thời Gian Thực</a:t>
            </a:r>
            <a:endParaRPr lang="en-US" sz="1800" dirty="0"/>
          </a:p>
        </p:txBody>
      </p:sp>
      <p:sp>
        <p:nvSpPr>
          <p:cNvPr id="4" name="Text 2"/>
          <p:cNvSpPr/>
          <p:nvPr/>
        </p:nvSpPr>
        <p:spPr>
          <a:xfrm>
            <a:off x="680901" y="3508654"/>
            <a:ext cx="6339007" cy="598408"/>
          </a:xfrm>
          <a:prstGeom prst="rect">
            <a:avLst/>
          </a:prstGeom>
          <a:noFill/>
          <a:ln/>
        </p:spPr>
        <p:txBody>
          <a:bodyPr wrap="square" lIns="0" tIns="0" rIns="0" bIns="0" rtlCol="0" anchor="t"/>
          <a:lstStyle/>
          <a:p>
            <a:pPr marL="0" indent="0" algn="just">
              <a:lnSpc>
                <a:spcPts val="2350"/>
              </a:lnSpc>
              <a:buNone/>
            </a:pPr>
            <a:endParaRPr lang="en-US" sz="1450" dirty="0"/>
          </a:p>
        </p:txBody>
      </p:sp>
      <p:sp>
        <p:nvSpPr>
          <p:cNvPr id="5" name="Text 3"/>
          <p:cNvSpPr/>
          <p:nvPr/>
        </p:nvSpPr>
        <p:spPr>
          <a:xfrm>
            <a:off x="680900" y="3292663"/>
            <a:ext cx="6339007" cy="897612"/>
          </a:xfrm>
          <a:prstGeom prst="rect">
            <a:avLst/>
          </a:prstGeom>
          <a:noFill/>
          <a:ln/>
        </p:spPr>
        <p:txBody>
          <a:bodyPr wrap="square" lIns="0" tIns="0" rIns="0" bIns="0" rtlCol="0" anchor="t"/>
          <a:lstStyle/>
          <a:p>
            <a:pPr marL="0" indent="0" algn="just">
              <a:lnSpc>
                <a:spcPts val="2350"/>
              </a:lnSpc>
              <a:buNone/>
            </a:pPr>
            <a:r>
              <a:rPr lang="en-US" sz="1450" dirty="0" err="1">
                <a:solidFill>
                  <a:srgbClr val="2C2821"/>
                </a:solidFill>
                <a:latin typeface="Lora" pitchFamily="34" charset="0"/>
                <a:ea typeface="Lora" pitchFamily="34" charset="-122"/>
                <a:cs typeface="Lora" pitchFamily="34" charset="-120"/>
              </a:rPr>
              <a:t>Với</a:t>
            </a:r>
            <a:r>
              <a:rPr lang="en-US" sz="1450" dirty="0">
                <a:solidFill>
                  <a:srgbClr val="2C2821"/>
                </a:solidFill>
                <a:latin typeface="Lora" pitchFamily="34" charset="0"/>
                <a:ea typeface="Lora" pitchFamily="34" charset="-122"/>
                <a:cs typeface="Lora" pitchFamily="34" charset="-120"/>
              </a:rPr>
              <a:t> </a:t>
            </a:r>
            <a:r>
              <a:rPr lang="en-US" sz="1450" dirty="0" err="1">
                <a:solidFill>
                  <a:srgbClr val="2C2821"/>
                </a:solidFill>
                <a:latin typeface="Lora" pitchFamily="34" charset="0"/>
                <a:ea typeface="Lora" pitchFamily="34" charset="-122"/>
                <a:cs typeface="Lora" pitchFamily="34" charset="-120"/>
              </a:rPr>
              <a:t>giá</a:t>
            </a:r>
            <a:r>
              <a:rPr lang="en-US" sz="1450" dirty="0">
                <a:solidFill>
                  <a:srgbClr val="2C2821"/>
                </a:solidFill>
                <a:latin typeface="Lora" pitchFamily="34" charset="0"/>
                <a:ea typeface="Lora" pitchFamily="34" charset="-122"/>
                <a:cs typeface="Lora" pitchFamily="34" charset="-120"/>
              </a:rPr>
              <a:t> </a:t>
            </a:r>
            <a:r>
              <a:rPr lang="en-US" sz="1450" dirty="0" err="1">
                <a:solidFill>
                  <a:srgbClr val="2C2821"/>
                </a:solidFill>
                <a:latin typeface="Lora" pitchFamily="34" charset="0"/>
                <a:ea typeface="Lora" pitchFamily="34" charset="-122"/>
                <a:cs typeface="Lora" pitchFamily="34" charset="-120"/>
              </a:rPr>
              <a:t>thành</a:t>
            </a:r>
            <a:r>
              <a:rPr lang="en-US" sz="1450" dirty="0">
                <a:solidFill>
                  <a:srgbClr val="2C2821"/>
                </a:solidFill>
                <a:latin typeface="Lora" pitchFamily="34" charset="0"/>
                <a:ea typeface="Lora" pitchFamily="34" charset="-122"/>
                <a:cs typeface="Lora" pitchFamily="34" charset="-120"/>
              </a:rPr>
              <a:t> </a:t>
            </a:r>
            <a:r>
              <a:rPr lang="en-US" sz="1450" dirty="0" err="1">
                <a:solidFill>
                  <a:srgbClr val="2C2821"/>
                </a:solidFill>
                <a:latin typeface="Lora" pitchFamily="34" charset="0"/>
                <a:ea typeface="Lora" pitchFamily="34" charset="-122"/>
                <a:cs typeface="Lora" pitchFamily="34" charset="-120"/>
              </a:rPr>
              <a:t>rẻ</a:t>
            </a:r>
            <a:r>
              <a:rPr lang="en-US" sz="1450" dirty="0">
                <a:solidFill>
                  <a:srgbClr val="2C2821"/>
                </a:solidFill>
                <a:latin typeface="Lora" pitchFamily="34" charset="0"/>
                <a:ea typeface="Lora" pitchFamily="34" charset="-122"/>
                <a:cs typeface="Lora" pitchFamily="34" charset="-120"/>
              </a:rPr>
              <a:t>, </a:t>
            </a:r>
            <a:r>
              <a:rPr lang="en-US" sz="1450" dirty="0" err="1">
                <a:solidFill>
                  <a:srgbClr val="2C2821"/>
                </a:solidFill>
                <a:latin typeface="Lora" pitchFamily="34" charset="0"/>
                <a:ea typeface="Lora" pitchFamily="34" charset="-122"/>
                <a:cs typeface="Lora" pitchFamily="34" charset="-120"/>
              </a:rPr>
              <a:t>thiết</a:t>
            </a:r>
            <a:r>
              <a:rPr lang="en-US" sz="1450" dirty="0">
                <a:solidFill>
                  <a:srgbClr val="2C2821"/>
                </a:solidFill>
                <a:latin typeface="Lora" pitchFamily="34" charset="0"/>
                <a:ea typeface="Lora" pitchFamily="34" charset="-122"/>
                <a:cs typeface="Lora" pitchFamily="34" charset="-120"/>
              </a:rPr>
              <a:t> </a:t>
            </a:r>
            <a:r>
              <a:rPr lang="en-US" sz="1450" dirty="0" err="1">
                <a:solidFill>
                  <a:srgbClr val="2C2821"/>
                </a:solidFill>
                <a:latin typeface="Lora" pitchFamily="34" charset="0"/>
                <a:ea typeface="Lora" pitchFamily="34" charset="-122"/>
                <a:cs typeface="Lora" pitchFamily="34" charset="-120"/>
              </a:rPr>
              <a:t>bị</a:t>
            </a:r>
            <a:r>
              <a:rPr lang="en-US" sz="1450" dirty="0">
                <a:solidFill>
                  <a:srgbClr val="2C2821"/>
                </a:solidFill>
                <a:latin typeface="Lora" pitchFamily="34" charset="0"/>
                <a:ea typeface="Lora" pitchFamily="34" charset="-122"/>
                <a:cs typeface="Lora" pitchFamily="34" charset="-120"/>
              </a:rPr>
              <a:t> </a:t>
            </a:r>
            <a:r>
              <a:rPr lang="en-US" sz="1450" dirty="0" err="1">
                <a:solidFill>
                  <a:srgbClr val="2C2821"/>
                </a:solidFill>
                <a:latin typeface="Lora" pitchFamily="34" charset="0"/>
                <a:ea typeface="Lora" pitchFamily="34" charset="-122"/>
                <a:cs typeface="Lora" pitchFamily="34" charset="-120"/>
              </a:rPr>
              <a:t>này</a:t>
            </a:r>
            <a:r>
              <a:rPr lang="en-US" sz="1450" dirty="0">
                <a:solidFill>
                  <a:srgbClr val="2C2821"/>
                </a:solidFill>
                <a:latin typeface="Lora" pitchFamily="34" charset="0"/>
                <a:ea typeface="Lora" pitchFamily="34" charset="-122"/>
                <a:cs typeface="Lora" pitchFamily="34" charset="-120"/>
              </a:rPr>
              <a:t> </a:t>
            </a:r>
            <a:r>
              <a:rPr lang="en-US" sz="1450" dirty="0" err="1">
                <a:solidFill>
                  <a:srgbClr val="2C2821"/>
                </a:solidFill>
                <a:latin typeface="Lora" pitchFamily="34" charset="0"/>
                <a:ea typeface="Lora" pitchFamily="34" charset="-122"/>
                <a:cs typeface="Lora" pitchFamily="34" charset="-120"/>
              </a:rPr>
              <a:t>cung</a:t>
            </a:r>
            <a:r>
              <a:rPr lang="en-US" sz="1450" dirty="0">
                <a:solidFill>
                  <a:srgbClr val="2C2821"/>
                </a:solidFill>
                <a:latin typeface="Lora" pitchFamily="34" charset="0"/>
                <a:ea typeface="Lora" pitchFamily="34" charset="-122"/>
                <a:cs typeface="Lora" pitchFamily="34" charset="-120"/>
              </a:rPr>
              <a:t> </a:t>
            </a:r>
            <a:r>
              <a:rPr lang="en-US" sz="1450" dirty="0" err="1">
                <a:solidFill>
                  <a:srgbClr val="2C2821"/>
                </a:solidFill>
                <a:latin typeface="Lora" pitchFamily="34" charset="0"/>
                <a:ea typeface="Lora" pitchFamily="34" charset="-122"/>
                <a:cs typeface="Lora" pitchFamily="34" charset="-120"/>
              </a:rPr>
              <a:t>cấp</a:t>
            </a:r>
            <a:r>
              <a:rPr lang="en-US" sz="1450" dirty="0">
                <a:solidFill>
                  <a:srgbClr val="2C2821"/>
                </a:solidFill>
                <a:latin typeface="Lora" pitchFamily="34" charset="0"/>
                <a:ea typeface="Lora" pitchFamily="34" charset="-122"/>
                <a:cs typeface="Lora" pitchFamily="34" charset="-120"/>
              </a:rPr>
              <a:t> </a:t>
            </a:r>
            <a:r>
              <a:rPr lang="en-US" sz="1450" dirty="0" err="1">
                <a:solidFill>
                  <a:srgbClr val="2C2821"/>
                </a:solidFill>
                <a:latin typeface="Lora" pitchFamily="34" charset="0"/>
                <a:ea typeface="Lora" pitchFamily="34" charset="-122"/>
                <a:cs typeface="Lora" pitchFamily="34" charset="-120"/>
              </a:rPr>
              <a:t>tính</a:t>
            </a:r>
            <a:r>
              <a:rPr lang="en-US" sz="1450" dirty="0">
                <a:solidFill>
                  <a:srgbClr val="2C2821"/>
                </a:solidFill>
                <a:latin typeface="Lora" pitchFamily="34" charset="0"/>
                <a:ea typeface="Lora" pitchFamily="34" charset="-122"/>
                <a:cs typeface="Lora" pitchFamily="34" charset="-120"/>
              </a:rPr>
              <a:t> </a:t>
            </a:r>
            <a:r>
              <a:rPr lang="en-US" sz="1450" dirty="0" err="1">
                <a:solidFill>
                  <a:srgbClr val="2C2821"/>
                </a:solidFill>
                <a:latin typeface="Lora" pitchFamily="34" charset="0"/>
                <a:ea typeface="Lora" pitchFamily="34" charset="-122"/>
                <a:cs typeface="Lora" pitchFamily="34" charset="-120"/>
              </a:rPr>
              <a:t>năng</a:t>
            </a:r>
            <a:r>
              <a:rPr lang="en-US" sz="1450" dirty="0">
                <a:solidFill>
                  <a:srgbClr val="2C2821"/>
                </a:solidFill>
                <a:latin typeface="Lora" pitchFamily="34" charset="0"/>
                <a:ea typeface="Lora" pitchFamily="34" charset="-122"/>
                <a:cs typeface="Lora" pitchFamily="34" charset="-120"/>
              </a:rPr>
              <a:t> </a:t>
            </a:r>
            <a:r>
              <a:rPr lang="en-US" sz="1450" dirty="0" err="1">
                <a:solidFill>
                  <a:srgbClr val="2C2821"/>
                </a:solidFill>
                <a:latin typeface="Lora" pitchFamily="34" charset="0"/>
                <a:ea typeface="Lora" pitchFamily="34" charset="-122"/>
                <a:cs typeface="Lora" pitchFamily="34" charset="-120"/>
              </a:rPr>
              <a:t>kết</a:t>
            </a:r>
            <a:r>
              <a:rPr lang="en-US" sz="1450" dirty="0">
                <a:solidFill>
                  <a:srgbClr val="2C2821"/>
                </a:solidFill>
                <a:latin typeface="Lora" pitchFamily="34" charset="0"/>
                <a:ea typeface="Lora" pitchFamily="34" charset="-122"/>
                <a:cs typeface="Lora" pitchFamily="34" charset="-120"/>
              </a:rPr>
              <a:t> </a:t>
            </a:r>
            <a:r>
              <a:rPr lang="en-US" sz="1450" dirty="0" err="1">
                <a:solidFill>
                  <a:srgbClr val="2C2821"/>
                </a:solidFill>
                <a:latin typeface="Lora" pitchFamily="34" charset="0"/>
                <a:ea typeface="Lora" pitchFamily="34" charset="-122"/>
                <a:cs typeface="Lora" pitchFamily="34" charset="-120"/>
              </a:rPr>
              <a:t>nối</a:t>
            </a:r>
            <a:r>
              <a:rPr lang="en-US" sz="1450" dirty="0">
                <a:solidFill>
                  <a:srgbClr val="2C2821"/>
                </a:solidFill>
                <a:latin typeface="Lora" pitchFamily="34" charset="0"/>
                <a:ea typeface="Lora" pitchFamily="34" charset="-122"/>
                <a:cs typeface="Lora" pitchFamily="34" charset="-120"/>
              </a:rPr>
              <a:t> </a:t>
            </a:r>
            <a:r>
              <a:rPr lang="en-US" sz="1450" dirty="0" err="1">
                <a:solidFill>
                  <a:srgbClr val="2C2821"/>
                </a:solidFill>
                <a:latin typeface="Lora" pitchFamily="34" charset="0"/>
                <a:ea typeface="Lora" pitchFamily="34" charset="-122"/>
                <a:cs typeface="Lora" pitchFamily="34" charset="-120"/>
              </a:rPr>
              <a:t>với</a:t>
            </a:r>
            <a:r>
              <a:rPr lang="en-US" sz="1450" dirty="0">
                <a:solidFill>
                  <a:srgbClr val="2C2821"/>
                </a:solidFill>
                <a:latin typeface="Lora" pitchFamily="34" charset="0"/>
                <a:ea typeface="Lora" pitchFamily="34" charset="-122"/>
                <a:cs typeface="Lora" pitchFamily="34" charset="-120"/>
              </a:rPr>
              <a:t> </a:t>
            </a:r>
            <a:r>
              <a:rPr lang="en-US" sz="1450" dirty="0" err="1">
                <a:solidFill>
                  <a:srgbClr val="2C2821"/>
                </a:solidFill>
                <a:latin typeface="Lora" pitchFamily="34" charset="0"/>
                <a:ea typeface="Lora" pitchFamily="34" charset="-122"/>
                <a:cs typeface="Lora" pitchFamily="34" charset="-120"/>
              </a:rPr>
              <a:t>wifi</a:t>
            </a:r>
            <a:r>
              <a:rPr lang="en-US" sz="1450" dirty="0">
                <a:solidFill>
                  <a:srgbClr val="2C2821"/>
                </a:solidFill>
                <a:latin typeface="Lora" pitchFamily="34" charset="0"/>
                <a:ea typeface="Lora" pitchFamily="34" charset="-122"/>
                <a:cs typeface="Lora" pitchFamily="34" charset="-120"/>
              </a:rPr>
              <a:t> </a:t>
            </a:r>
            <a:r>
              <a:rPr lang="en-US" sz="1450" dirty="0" err="1">
                <a:solidFill>
                  <a:srgbClr val="2C2821"/>
                </a:solidFill>
                <a:latin typeface="Lora" pitchFamily="34" charset="0"/>
                <a:ea typeface="Lora" pitchFamily="34" charset="-122"/>
                <a:cs typeface="Lora" pitchFamily="34" charset="-120"/>
              </a:rPr>
              <a:t>và</a:t>
            </a:r>
            <a:r>
              <a:rPr lang="en-US" sz="1450" dirty="0">
                <a:solidFill>
                  <a:srgbClr val="2C2821"/>
                </a:solidFill>
                <a:latin typeface="Lora" pitchFamily="34" charset="0"/>
                <a:ea typeface="Lora" pitchFamily="34" charset="-122"/>
                <a:cs typeface="Lora" pitchFamily="34" charset="-120"/>
              </a:rPr>
              <a:t> Bluetooth, </a:t>
            </a:r>
            <a:r>
              <a:rPr lang="en-US" sz="1450" dirty="0" err="1">
                <a:solidFill>
                  <a:srgbClr val="2C2821"/>
                </a:solidFill>
                <a:latin typeface="Lora" pitchFamily="34" charset="0"/>
                <a:ea typeface="Lora" pitchFamily="34" charset="-122"/>
                <a:cs typeface="Lora" pitchFamily="34" charset="-120"/>
              </a:rPr>
              <a:t>giúp</a:t>
            </a:r>
            <a:r>
              <a:rPr lang="en-US" sz="1450" dirty="0">
                <a:solidFill>
                  <a:srgbClr val="2C2821"/>
                </a:solidFill>
                <a:latin typeface="Lora" pitchFamily="34" charset="0"/>
                <a:ea typeface="Lora" pitchFamily="34" charset="-122"/>
                <a:cs typeface="Lora" pitchFamily="34" charset="-120"/>
              </a:rPr>
              <a:t> </a:t>
            </a:r>
            <a:r>
              <a:rPr lang="en-US" sz="1450" dirty="0" err="1">
                <a:solidFill>
                  <a:srgbClr val="2C2821"/>
                </a:solidFill>
                <a:latin typeface="Lora" pitchFamily="34" charset="0"/>
                <a:ea typeface="Lora" pitchFamily="34" charset="-122"/>
                <a:cs typeface="Lora" pitchFamily="34" charset="-120"/>
              </a:rPr>
              <a:t>việc</a:t>
            </a:r>
            <a:r>
              <a:rPr lang="en-US" sz="1450" dirty="0">
                <a:solidFill>
                  <a:srgbClr val="2C2821"/>
                </a:solidFill>
                <a:latin typeface="Lora" pitchFamily="34" charset="0"/>
                <a:ea typeface="Lora" pitchFamily="34" charset="-122"/>
                <a:cs typeface="Lora" pitchFamily="34" charset="-120"/>
              </a:rPr>
              <a:t> </a:t>
            </a:r>
            <a:r>
              <a:rPr lang="en-US" sz="1450" dirty="0" err="1">
                <a:solidFill>
                  <a:srgbClr val="2C2821"/>
                </a:solidFill>
                <a:latin typeface="Lora" pitchFamily="34" charset="0"/>
                <a:ea typeface="Lora" pitchFamily="34" charset="-122"/>
                <a:cs typeface="Lora" pitchFamily="34" charset="-120"/>
              </a:rPr>
              <a:t>truyền</a:t>
            </a:r>
            <a:r>
              <a:rPr lang="en-US" sz="1450" dirty="0">
                <a:solidFill>
                  <a:srgbClr val="2C2821"/>
                </a:solidFill>
                <a:latin typeface="Lora" pitchFamily="34" charset="0"/>
                <a:ea typeface="Lora" pitchFamily="34" charset="-122"/>
                <a:cs typeface="Lora" pitchFamily="34" charset="-120"/>
              </a:rPr>
              <a:t> </a:t>
            </a:r>
            <a:r>
              <a:rPr lang="en-US" sz="1450" dirty="0" err="1">
                <a:solidFill>
                  <a:srgbClr val="2C2821"/>
                </a:solidFill>
                <a:latin typeface="Lora" pitchFamily="34" charset="0"/>
                <a:ea typeface="Lora" pitchFamily="34" charset="-122"/>
                <a:cs typeface="Lora" pitchFamily="34" charset="-120"/>
              </a:rPr>
              <a:t>hình</a:t>
            </a:r>
            <a:r>
              <a:rPr lang="en-US" sz="1450" dirty="0">
                <a:solidFill>
                  <a:srgbClr val="2C2821"/>
                </a:solidFill>
                <a:latin typeface="Lora" pitchFamily="34" charset="0"/>
                <a:ea typeface="Lora" pitchFamily="34" charset="-122"/>
                <a:cs typeface="Lora" pitchFamily="34" charset="-120"/>
              </a:rPr>
              <a:t> </a:t>
            </a:r>
            <a:r>
              <a:rPr lang="en-US" sz="1450" dirty="0" err="1">
                <a:solidFill>
                  <a:srgbClr val="2C2821"/>
                </a:solidFill>
                <a:latin typeface="Lora" pitchFamily="34" charset="0"/>
                <a:ea typeface="Lora" pitchFamily="34" charset="-122"/>
                <a:cs typeface="Lora" pitchFamily="34" charset="-120"/>
              </a:rPr>
              <a:t>ảnh</a:t>
            </a:r>
            <a:r>
              <a:rPr lang="en-US" sz="1450" dirty="0">
                <a:solidFill>
                  <a:srgbClr val="2C2821"/>
                </a:solidFill>
                <a:latin typeface="Lora" pitchFamily="34" charset="0"/>
                <a:ea typeface="Lora" pitchFamily="34" charset="-122"/>
                <a:cs typeface="Lora" pitchFamily="34" charset="-120"/>
              </a:rPr>
              <a:t> </a:t>
            </a:r>
            <a:r>
              <a:rPr lang="en-US" sz="1450" dirty="0" err="1">
                <a:solidFill>
                  <a:srgbClr val="2C2821"/>
                </a:solidFill>
                <a:latin typeface="Lora" pitchFamily="34" charset="0"/>
                <a:ea typeface="Lora" pitchFamily="34" charset="-122"/>
                <a:cs typeface="Lora" pitchFamily="34" charset="-120"/>
              </a:rPr>
              <a:t>dễ</a:t>
            </a:r>
            <a:r>
              <a:rPr lang="en-US" sz="1450" dirty="0">
                <a:solidFill>
                  <a:srgbClr val="2C2821"/>
                </a:solidFill>
                <a:latin typeface="Lora" pitchFamily="34" charset="0"/>
                <a:ea typeface="Lora" pitchFamily="34" charset="-122"/>
                <a:cs typeface="Lora" pitchFamily="34" charset="-120"/>
              </a:rPr>
              <a:t> </a:t>
            </a:r>
            <a:r>
              <a:rPr lang="en-US" sz="1450" dirty="0" err="1">
                <a:solidFill>
                  <a:srgbClr val="2C2821"/>
                </a:solidFill>
                <a:latin typeface="Lora" pitchFamily="34" charset="0"/>
                <a:ea typeface="Lora" pitchFamily="34" charset="-122"/>
                <a:cs typeface="Lora" pitchFamily="34" charset="-120"/>
              </a:rPr>
              <a:t>dàng</a:t>
            </a:r>
            <a:r>
              <a:rPr lang="en-US" sz="1450" dirty="0">
                <a:solidFill>
                  <a:srgbClr val="2C2821"/>
                </a:solidFill>
                <a:latin typeface="Lora" pitchFamily="34" charset="0"/>
                <a:ea typeface="Lora" pitchFamily="34" charset="-122"/>
                <a:cs typeface="Lora" pitchFamily="34" charset="-120"/>
              </a:rPr>
              <a:t> </a:t>
            </a:r>
            <a:r>
              <a:rPr lang="en-US" sz="1450" dirty="0" err="1">
                <a:solidFill>
                  <a:srgbClr val="2C2821"/>
                </a:solidFill>
                <a:latin typeface="Lora" pitchFamily="34" charset="0"/>
                <a:ea typeface="Lora" pitchFamily="34" charset="-122"/>
                <a:cs typeface="Lora" pitchFamily="34" charset="-120"/>
              </a:rPr>
              <a:t>hơn</a:t>
            </a:r>
            <a:r>
              <a:rPr lang="en-US" sz="1450" dirty="0">
                <a:solidFill>
                  <a:srgbClr val="2C2821"/>
                </a:solidFill>
                <a:latin typeface="Lora" pitchFamily="34" charset="0"/>
                <a:ea typeface="Lora" pitchFamily="34" charset="-122"/>
                <a:cs typeface="Lora" pitchFamily="34" charset="-120"/>
              </a:rPr>
              <a:t>.</a:t>
            </a:r>
          </a:p>
          <a:p>
            <a:pPr marL="0" indent="0" algn="just">
              <a:lnSpc>
                <a:spcPts val="2350"/>
              </a:lnSpc>
              <a:buNone/>
            </a:pPr>
            <a:endParaRPr lang="en-US" sz="1450" dirty="0">
              <a:solidFill>
                <a:srgbClr val="2C2821"/>
              </a:solidFill>
              <a:latin typeface="Lora" pitchFamily="34" charset="0"/>
            </a:endParaRPr>
          </a:p>
          <a:p>
            <a:pPr algn="just">
              <a:lnSpc>
                <a:spcPts val="2350"/>
              </a:lnSpc>
            </a:pPr>
            <a:r>
              <a:rPr lang="en-US" sz="1450" dirty="0" err="1">
                <a:solidFill>
                  <a:srgbClr val="2C2821"/>
                </a:solidFill>
                <a:latin typeface="Lora" pitchFamily="34" charset="0"/>
              </a:rPr>
              <a:t>Hình</a:t>
            </a:r>
            <a:r>
              <a:rPr lang="en-US" sz="1450" dirty="0">
                <a:solidFill>
                  <a:srgbClr val="2C2821"/>
                </a:solidFill>
                <a:latin typeface="Lora" pitchFamily="34" charset="0"/>
              </a:rPr>
              <a:t> </a:t>
            </a:r>
            <a:r>
              <a:rPr lang="en-US" sz="1450" dirty="0" err="1">
                <a:solidFill>
                  <a:srgbClr val="2C2821"/>
                </a:solidFill>
                <a:latin typeface="Lora" pitchFamily="34" charset="0"/>
              </a:rPr>
              <a:t>ảnh</a:t>
            </a:r>
            <a:r>
              <a:rPr lang="en-US" sz="1450" dirty="0">
                <a:solidFill>
                  <a:srgbClr val="2C2821"/>
                </a:solidFill>
                <a:latin typeface="Lora" pitchFamily="34" charset="0"/>
              </a:rPr>
              <a:t> </a:t>
            </a:r>
            <a:r>
              <a:rPr lang="en-US" sz="1450" dirty="0" err="1">
                <a:solidFill>
                  <a:srgbClr val="2C2821"/>
                </a:solidFill>
                <a:latin typeface="Lora" pitchFamily="34" charset="0"/>
              </a:rPr>
              <a:t>sẽ</a:t>
            </a:r>
            <a:r>
              <a:rPr lang="en-US" sz="1450" dirty="0">
                <a:solidFill>
                  <a:srgbClr val="2C2821"/>
                </a:solidFill>
                <a:latin typeface="Lora" pitchFamily="34" charset="0"/>
              </a:rPr>
              <a:t> </a:t>
            </a:r>
            <a:r>
              <a:rPr lang="en-US" sz="1450" dirty="0" err="1">
                <a:solidFill>
                  <a:srgbClr val="2C2821"/>
                </a:solidFill>
                <a:latin typeface="Lora" pitchFamily="34" charset="0"/>
              </a:rPr>
              <a:t>được</a:t>
            </a:r>
            <a:r>
              <a:rPr lang="en-US" sz="1450" dirty="0">
                <a:solidFill>
                  <a:srgbClr val="2C2821"/>
                </a:solidFill>
                <a:latin typeface="Lora" pitchFamily="34" charset="0"/>
              </a:rPr>
              <a:t> </a:t>
            </a:r>
            <a:r>
              <a:rPr lang="en-US" sz="1450" dirty="0" err="1">
                <a:solidFill>
                  <a:srgbClr val="2C2821"/>
                </a:solidFill>
                <a:latin typeface="Lora" pitchFamily="34" charset="0"/>
              </a:rPr>
              <a:t>truyền</a:t>
            </a:r>
            <a:r>
              <a:rPr lang="en-US" sz="1450" dirty="0">
                <a:solidFill>
                  <a:srgbClr val="2C2821"/>
                </a:solidFill>
                <a:latin typeface="Lora" pitchFamily="34" charset="0"/>
              </a:rPr>
              <a:t> </a:t>
            </a:r>
            <a:r>
              <a:rPr lang="en-US" sz="1450" dirty="0" err="1">
                <a:solidFill>
                  <a:srgbClr val="2C2821"/>
                </a:solidFill>
                <a:latin typeface="Lora" pitchFamily="34" charset="0"/>
              </a:rPr>
              <a:t>thông</a:t>
            </a:r>
            <a:r>
              <a:rPr lang="en-US" sz="1450" dirty="0">
                <a:solidFill>
                  <a:srgbClr val="2C2821"/>
                </a:solidFill>
                <a:latin typeface="Lora" pitchFamily="34" charset="0"/>
              </a:rPr>
              <a:t> qua </a:t>
            </a:r>
            <a:r>
              <a:rPr lang="en-US" sz="1450" dirty="0" err="1">
                <a:solidFill>
                  <a:srgbClr val="2C2821"/>
                </a:solidFill>
                <a:latin typeface="Lora" pitchFamily="34" charset="0"/>
              </a:rPr>
              <a:t>địa</a:t>
            </a:r>
            <a:r>
              <a:rPr lang="en-US" sz="1450" dirty="0">
                <a:solidFill>
                  <a:srgbClr val="2C2821"/>
                </a:solidFill>
                <a:latin typeface="Lora" pitchFamily="34" charset="0"/>
              </a:rPr>
              <a:t> </a:t>
            </a:r>
            <a:r>
              <a:rPr lang="en-US" sz="1450" dirty="0" err="1">
                <a:solidFill>
                  <a:srgbClr val="2C2821"/>
                </a:solidFill>
                <a:latin typeface="Lora" pitchFamily="34" charset="0"/>
              </a:rPr>
              <a:t>chỉ</a:t>
            </a:r>
            <a:r>
              <a:rPr lang="en-US" sz="1450" dirty="0">
                <a:solidFill>
                  <a:srgbClr val="2C2821"/>
                </a:solidFill>
                <a:latin typeface="Lora" pitchFamily="34" charset="0"/>
              </a:rPr>
              <a:t> IP, </a:t>
            </a:r>
            <a:r>
              <a:rPr lang="en-US" sz="1450" dirty="0" err="1">
                <a:solidFill>
                  <a:srgbClr val="2C2821"/>
                </a:solidFill>
                <a:latin typeface="Lora" pitchFamily="34" charset="0"/>
              </a:rPr>
              <a:t>theo</a:t>
            </a:r>
            <a:r>
              <a:rPr lang="en-US" sz="1450" dirty="0">
                <a:solidFill>
                  <a:srgbClr val="2C2821"/>
                </a:solidFill>
                <a:latin typeface="Lora" pitchFamily="34" charset="0"/>
              </a:rPr>
              <a:t> </a:t>
            </a:r>
            <a:r>
              <a:rPr lang="en-US" sz="1450" dirty="0" err="1">
                <a:solidFill>
                  <a:srgbClr val="2C2821"/>
                </a:solidFill>
                <a:latin typeface="Lora" pitchFamily="34" charset="0"/>
              </a:rPr>
              <a:t>định</a:t>
            </a:r>
            <a:r>
              <a:rPr lang="en-US" sz="1450" dirty="0">
                <a:solidFill>
                  <a:srgbClr val="2C2821"/>
                </a:solidFill>
                <a:latin typeface="Lora" pitchFamily="34" charset="0"/>
              </a:rPr>
              <a:t> </a:t>
            </a:r>
            <a:r>
              <a:rPr lang="en-US" sz="1450" dirty="0" err="1">
                <a:solidFill>
                  <a:srgbClr val="2C2821"/>
                </a:solidFill>
                <a:latin typeface="Lora" pitchFamily="34" charset="0"/>
              </a:rPr>
              <a:t>dạng</a:t>
            </a:r>
            <a:r>
              <a:rPr lang="en-US" sz="1450" dirty="0">
                <a:solidFill>
                  <a:srgbClr val="2C2821"/>
                </a:solidFill>
                <a:latin typeface="Lora" pitchFamily="34" charset="0"/>
              </a:rPr>
              <a:t> </a:t>
            </a:r>
            <a:r>
              <a:rPr lang="vi-VN" sz="1450" dirty="0">
                <a:solidFill>
                  <a:srgbClr val="2C2821"/>
                </a:solidFill>
                <a:latin typeface="Lora" pitchFamily="34" charset="0"/>
              </a:rPr>
              <a:t>Motion JPEG (MJPEG) </a:t>
            </a:r>
            <a:r>
              <a:rPr lang="en-US" sz="1450" dirty="0">
                <a:solidFill>
                  <a:srgbClr val="2C2821"/>
                </a:solidFill>
                <a:latin typeface="Lora" pitchFamily="34" charset="0"/>
              </a:rPr>
              <a:t> </a:t>
            </a:r>
            <a:r>
              <a:rPr lang="en-US" sz="1450" dirty="0" err="1">
                <a:solidFill>
                  <a:srgbClr val="2C2821"/>
                </a:solidFill>
                <a:latin typeface="Lora" pitchFamily="34" charset="0"/>
              </a:rPr>
              <a:t>đây</a:t>
            </a:r>
            <a:r>
              <a:rPr lang="en-US" sz="1450" dirty="0">
                <a:solidFill>
                  <a:srgbClr val="2C2821"/>
                </a:solidFill>
                <a:latin typeface="Lora" pitchFamily="34" charset="0"/>
              </a:rPr>
              <a:t> </a:t>
            </a:r>
            <a:r>
              <a:rPr lang="en-US" sz="1450" dirty="0" err="1">
                <a:solidFill>
                  <a:srgbClr val="2C2821"/>
                </a:solidFill>
                <a:latin typeface="Lora" pitchFamily="34" charset="0"/>
              </a:rPr>
              <a:t>là</a:t>
            </a:r>
            <a:r>
              <a:rPr lang="en-US" sz="1450" dirty="0">
                <a:solidFill>
                  <a:srgbClr val="2C2821"/>
                </a:solidFill>
                <a:latin typeface="Lora" pitchFamily="34" charset="0"/>
              </a:rPr>
              <a:t> </a:t>
            </a:r>
            <a:r>
              <a:rPr lang="en-US" sz="1450" dirty="0" err="1">
                <a:solidFill>
                  <a:srgbClr val="2C2821"/>
                </a:solidFill>
                <a:latin typeface="Lora" pitchFamily="34" charset="0"/>
              </a:rPr>
              <a:t>định</a:t>
            </a:r>
            <a:r>
              <a:rPr lang="en-US" sz="1450" dirty="0">
                <a:solidFill>
                  <a:srgbClr val="2C2821"/>
                </a:solidFill>
                <a:latin typeface="Lora" pitchFamily="34" charset="0"/>
              </a:rPr>
              <a:t> </a:t>
            </a:r>
            <a:r>
              <a:rPr lang="en-US" sz="1450" dirty="0" err="1">
                <a:solidFill>
                  <a:srgbClr val="2C2821"/>
                </a:solidFill>
                <a:latin typeface="Lora" pitchFamily="34" charset="0"/>
              </a:rPr>
              <a:t>dạng</a:t>
            </a:r>
            <a:r>
              <a:rPr lang="vi-VN" sz="1450" dirty="0">
                <a:solidFill>
                  <a:srgbClr val="2C2821"/>
                </a:solidFill>
                <a:latin typeface="Lora" pitchFamily="34" charset="0"/>
              </a:rPr>
              <a:t> video trong đó mỗi khung hình được nén riêng lẻ bằng chuẩn JPEG – giống như một loạt các ảnh JPEG được chiếu liên tiếp.</a:t>
            </a:r>
            <a:r>
              <a:rPr lang="en-US" sz="1450" dirty="0">
                <a:solidFill>
                  <a:srgbClr val="2C2821"/>
                </a:solidFill>
                <a:latin typeface="Lora" pitchFamily="34" charset="0"/>
              </a:rPr>
              <a:t> </a:t>
            </a:r>
            <a:r>
              <a:rPr lang="en-US" sz="1450" dirty="0" err="1">
                <a:solidFill>
                  <a:srgbClr val="2C2821"/>
                </a:solidFill>
                <a:latin typeface="Lora" pitchFamily="34" charset="0"/>
              </a:rPr>
              <a:t>Việc</a:t>
            </a:r>
            <a:r>
              <a:rPr lang="en-US" sz="1450" dirty="0">
                <a:solidFill>
                  <a:srgbClr val="2C2821"/>
                </a:solidFill>
                <a:latin typeface="Lora" pitchFamily="34" charset="0"/>
              </a:rPr>
              <a:t> </a:t>
            </a:r>
            <a:r>
              <a:rPr lang="en-US" sz="1450" dirty="0" err="1">
                <a:solidFill>
                  <a:srgbClr val="2C2821"/>
                </a:solidFill>
                <a:latin typeface="Lora" pitchFamily="34" charset="0"/>
              </a:rPr>
              <a:t>này</a:t>
            </a:r>
            <a:r>
              <a:rPr lang="en-US" sz="1450" dirty="0">
                <a:solidFill>
                  <a:srgbClr val="2C2821"/>
                </a:solidFill>
                <a:latin typeface="Lora" pitchFamily="34" charset="0"/>
              </a:rPr>
              <a:t> </a:t>
            </a:r>
            <a:r>
              <a:rPr lang="en-US" sz="1450" dirty="0" err="1">
                <a:solidFill>
                  <a:srgbClr val="2C2821"/>
                </a:solidFill>
                <a:latin typeface="Lora" pitchFamily="34" charset="0"/>
              </a:rPr>
              <a:t>giúp</a:t>
            </a:r>
            <a:r>
              <a:rPr lang="en-US" sz="1450" dirty="0">
                <a:solidFill>
                  <a:srgbClr val="2C2821"/>
                </a:solidFill>
                <a:latin typeface="Lora" pitchFamily="34" charset="0"/>
              </a:rPr>
              <a:t> camera </a:t>
            </a:r>
            <a:r>
              <a:rPr lang="en-US" sz="1450" dirty="0" err="1">
                <a:solidFill>
                  <a:srgbClr val="2C2821"/>
                </a:solidFill>
                <a:latin typeface="Lora" pitchFamily="34" charset="0"/>
              </a:rPr>
              <a:t>dễ</a:t>
            </a:r>
            <a:r>
              <a:rPr lang="en-US" sz="1450" dirty="0">
                <a:solidFill>
                  <a:srgbClr val="2C2821"/>
                </a:solidFill>
                <a:latin typeface="Lora" pitchFamily="34" charset="0"/>
              </a:rPr>
              <a:t> </a:t>
            </a:r>
            <a:r>
              <a:rPr lang="en-US" sz="1450" dirty="0" err="1">
                <a:solidFill>
                  <a:srgbClr val="2C2821"/>
                </a:solidFill>
                <a:latin typeface="Lora" pitchFamily="34" charset="0"/>
              </a:rPr>
              <a:t>dàng</a:t>
            </a:r>
            <a:r>
              <a:rPr lang="en-US" sz="1450" dirty="0">
                <a:solidFill>
                  <a:srgbClr val="2C2821"/>
                </a:solidFill>
                <a:latin typeface="Lora" pitchFamily="34" charset="0"/>
              </a:rPr>
              <a:t> </a:t>
            </a:r>
            <a:r>
              <a:rPr lang="en-US" sz="1450" dirty="0" err="1">
                <a:solidFill>
                  <a:srgbClr val="2C2821"/>
                </a:solidFill>
                <a:latin typeface="Lora" pitchFamily="34" charset="0"/>
              </a:rPr>
              <a:t>bắt</a:t>
            </a:r>
            <a:r>
              <a:rPr lang="en-US" sz="1450" dirty="0">
                <a:solidFill>
                  <a:srgbClr val="2C2821"/>
                </a:solidFill>
                <a:latin typeface="Lora" pitchFamily="34" charset="0"/>
              </a:rPr>
              <a:t> </a:t>
            </a:r>
            <a:r>
              <a:rPr lang="en-US" sz="1450" dirty="0" err="1">
                <a:solidFill>
                  <a:srgbClr val="2C2821"/>
                </a:solidFill>
                <a:latin typeface="Lora" pitchFamily="34" charset="0"/>
              </a:rPr>
              <a:t>được</a:t>
            </a:r>
            <a:r>
              <a:rPr lang="en-US" sz="1450" dirty="0">
                <a:solidFill>
                  <a:srgbClr val="2C2821"/>
                </a:solidFill>
                <a:latin typeface="Lora" pitchFamily="34" charset="0"/>
              </a:rPr>
              <a:t> </a:t>
            </a:r>
            <a:r>
              <a:rPr lang="en-US" sz="1450" dirty="0" err="1">
                <a:solidFill>
                  <a:srgbClr val="2C2821"/>
                </a:solidFill>
                <a:latin typeface="Lora" pitchFamily="34" charset="0"/>
              </a:rPr>
              <a:t>các</a:t>
            </a:r>
            <a:r>
              <a:rPr lang="en-US" sz="1450" dirty="0">
                <a:solidFill>
                  <a:srgbClr val="2C2821"/>
                </a:solidFill>
                <a:latin typeface="Lora" pitchFamily="34" charset="0"/>
              </a:rPr>
              <a:t> </a:t>
            </a:r>
            <a:r>
              <a:rPr lang="en-US" sz="1450" dirty="0" err="1">
                <a:solidFill>
                  <a:srgbClr val="2C2821"/>
                </a:solidFill>
                <a:latin typeface="Lora" pitchFamily="34" charset="0"/>
              </a:rPr>
              <a:t>khung</a:t>
            </a:r>
            <a:r>
              <a:rPr lang="en-US" sz="1450" dirty="0">
                <a:solidFill>
                  <a:srgbClr val="2C2821"/>
                </a:solidFill>
                <a:latin typeface="Lora" pitchFamily="34" charset="0"/>
              </a:rPr>
              <a:t> </a:t>
            </a:r>
            <a:r>
              <a:rPr lang="en-US" sz="1450" dirty="0" err="1">
                <a:solidFill>
                  <a:srgbClr val="2C2821"/>
                </a:solidFill>
                <a:latin typeface="Lora" pitchFamily="34" charset="0"/>
              </a:rPr>
              <a:t>biển</a:t>
            </a:r>
            <a:r>
              <a:rPr lang="en-US" sz="1450" dirty="0">
                <a:solidFill>
                  <a:srgbClr val="2C2821"/>
                </a:solidFill>
                <a:latin typeface="Lora" pitchFamily="34" charset="0"/>
              </a:rPr>
              <a:t> </a:t>
            </a:r>
            <a:r>
              <a:rPr lang="en-US" sz="1450" dirty="0" err="1">
                <a:solidFill>
                  <a:srgbClr val="2C2821"/>
                </a:solidFill>
                <a:latin typeface="Lora" pitchFamily="34" charset="0"/>
              </a:rPr>
              <a:t>số</a:t>
            </a:r>
            <a:r>
              <a:rPr lang="en-US" sz="1450" dirty="0">
                <a:solidFill>
                  <a:srgbClr val="2C2821"/>
                </a:solidFill>
                <a:latin typeface="Lora" pitchFamily="34" charset="0"/>
              </a:rPr>
              <a:t> </a:t>
            </a:r>
            <a:r>
              <a:rPr lang="en-US" sz="1450" dirty="0" err="1">
                <a:solidFill>
                  <a:srgbClr val="2C2821"/>
                </a:solidFill>
                <a:latin typeface="Lora" pitchFamily="34" charset="0"/>
              </a:rPr>
              <a:t>và</a:t>
            </a:r>
            <a:r>
              <a:rPr lang="en-US" sz="1450" dirty="0">
                <a:solidFill>
                  <a:srgbClr val="2C2821"/>
                </a:solidFill>
                <a:latin typeface="Lora" pitchFamily="34" charset="0"/>
              </a:rPr>
              <a:t> </a:t>
            </a:r>
            <a:r>
              <a:rPr lang="en-US" sz="1450" dirty="0" err="1">
                <a:solidFill>
                  <a:srgbClr val="2C2821"/>
                </a:solidFill>
                <a:latin typeface="Lora" pitchFamily="34" charset="0"/>
              </a:rPr>
              <a:t>ký</a:t>
            </a:r>
            <a:r>
              <a:rPr lang="en-US" sz="1450" dirty="0">
                <a:solidFill>
                  <a:srgbClr val="2C2821"/>
                </a:solidFill>
                <a:latin typeface="Lora" pitchFamily="34" charset="0"/>
              </a:rPr>
              <a:t> </a:t>
            </a:r>
            <a:r>
              <a:rPr lang="en-US" sz="1450" dirty="0" err="1">
                <a:solidFill>
                  <a:srgbClr val="2C2821"/>
                </a:solidFill>
                <a:latin typeface="Lora" pitchFamily="34" charset="0"/>
              </a:rPr>
              <a:t>tự</a:t>
            </a:r>
            <a:r>
              <a:rPr lang="en-US" sz="1450" dirty="0">
                <a:solidFill>
                  <a:srgbClr val="2C2821"/>
                </a:solidFill>
                <a:latin typeface="Lora" pitchFamily="34" charset="0"/>
              </a:rPr>
              <a:t>.</a:t>
            </a:r>
          </a:p>
        </p:txBody>
      </p:sp>
      <p:pic>
        <p:nvPicPr>
          <p:cNvPr id="1026" name="Picture 2" descr="Cách sử dụng ESP32-CAM - 3 dự án mẫu cho người mới - IoT Zone">
            <a:extLst>
              <a:ext uri="{FF2B5EF4-FFF2-40B4-BE49-F238E27FC236}">
                <a16:creationId xmlns:a16="http://schemas.microsoft.com/office/drawing/2014/main" id="{C8FC2983-485E-4ECD-4C4E-2C419BD8F8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49671" y="1506808"/>
            <a:ext cx="7095022" cy="600647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3C834DB5-E1D7-73A2-87C7-B01A3F6EE88C}"/>
              </a:ext>
            </a:extLst>
          </p:cNvPr>
          <p:cNvPicPr>
            <a:picLocks noChangeAspect="1"/>
          </p:cNvPicPr>
          <p:nvPr/>
        </p:nvPicPr>
        <p:blipFill>
          <a:blip r:embed="rId4"/>
          <a:stretch>
            <a:fillRect/>
          </a:stretch>
        </p:blipFill>
        <p:spPr>
          <a:xfrm>
            <a:off x="11010425" y="6966657"/>
            <a:ext cx="3534268" cy="1190791"/>
          </a:xfrm>
          <a:prstGeom prst="rect">
            <a:avLst/>
          </a:prstGeom>
        </p:spPr>
      </p:pic>
      <p:sp>
        <p:nvSpPr>
          <p:cNvPr id="10" name="TextBox 9">
            <a:extLst>
              <a:ext uri="{FF2B5EF4-FFF2-40B4-BE49-F238E27FC236}">
                <a16:creationId xmlns:a16="http://schemas.microsoft.com/office/drawing/2014/main" id="{76F0D9D9-56D3-49C2-C779-9CAA1A541662}"/>
              </a:ext>
            </a:extLst>
          </p:cNvPr>
          <p:cNvSpPr txBox="1"/>
          <p:nvPr/>
        </p:nvSpPr>
        <p:spPr>
          <a:xfrm>
            <a:off x="287058" y="515145"/>
            <a:ext cx="8113475" cy="694998"/>
          </a:xfrm>
          <a:prstGeom prst="rect">
            <a:avLst/>
          </a:prstGeom>
          <a:noFill/>
        </p:spPr>
        <p:txBody>
          <a:bodyPr wrap="square">
            <a:spAutoFit/>
          </a:bodyPr>
          <a:lstStyle/>
          <a:p>
            <a:pPr marL="0" indent="0" algn="just">
              <a:lnSpc>
                <a:spcPts val="4850"/>
              </a:lnSpc>
              <a:buNone/>
            </a:pPr>
            <a:r>
              <a:rPr lang="en-US" sz="4000" b="1" dirty="0">
                <a:solidFill>
                  <a:srgbClr val="233E32"/>
                </a:solidFill>
                <a:latin typeface="Alice" pitchFamily="34" charset="0"/>
                <a:ea typeface="Alice" pitchFamily="34" charset="-122"/>
              </a:rPr>
              <a:t>2. Các </a:t>
            </a:r>
            <a:r>
              <a:rPr lang="en-US" sz="4000" b="1" dirty="0" err="1">
                <a:solidFill>
                  <a:srgbClr val="233E32"/>
                </a:solidFill>
                <a:latin typeface="Alice" pitchFamily="34" charset="0"/>
                <a:ea typeface="Alice" pitchFamily="34" charset="-122"/>
              </a:rPr>
              <a:t>thành</a:t>
            </a:r>
            <a:r>
              <a:rPr lang="en-US" sz="4000" b="1" dirty="0">
                <a:solidFill>
                  <a:srgbClr val="233E32"/>
                </a:solidFill>
                <a:latin typeface="Alice" pitchFamily="34" charset="0"/>
                <a:ea typeface="Alice" pitchFamily="34" charset="-122"/>
              </a:rPr>
              <a:t> </a:t>
            </a:r>
            <a:r>
              <a:rPr lang="en-US" sz="4000" b="1" dirty="0" err="1">
                <a:solidFill>
                  <a:srgbClr val="233E32"/>
                </a:solidFill>
                <a:latin typeface="Alice" pitchFamily="34" charset="0"/>
                <a:ea typeface="Alice" pitchFamily="34" charset="-122"/>
              </a:rPr>
              <a:t>phần</a:t>
            </a:r>
            <a:r>
              <a:rPr lang="en-US" sz="4000" b="1" dirty="0">
                <a:solidFill>
                  <a:srgbClr val="233E32"/>
                </a:solidFill>
                <a:latin typeface="Alice" pitchFamily="34" charset="0"/>
                <a:ea typeface="Alice" pitchFamily="34" charset="-122"/>
              </a:rPr>
              <a:t> </a:t>
            </a:r>
            <a:r>
              <a:rPr lang="en-US" sz="4000" b="1" dirty="0" err="1">
                <a:solidFill>
                  <a:srgbClr val="233E32"/>
                </a:solidFill>
                <a:latin typeface="Alice" pitchFamily="34" charset="0"/>
                <a:ea typeface="Alice" pitchFamily="34" charset="-122"/>
              </a:rPr>
              <a:t>trong</a:t>
            </a:r>
            <a:r>
              <a:rPr lang="en-US" sz="4000" b="1" dirty="0">
                <a:solidFill>
                  <a:srgbClr val="233E32"/>
                </a:solidFill>
                <a:latin typeface="Alice" pitchFamily="34" charset="0"/>
                <a:ea typeface="Alice" pitchFamily="34" charset="-122"/>
              </a:rPr>
              <a:t> </a:t>
            </a:r>
            <a:r>
              <a:rPr lang="en-US" sz="4000" b="1" dirty="0" err="1">
                <a:solidFill>
                  <a:srgbClr val="233E32"/>
                </a:solidFill>
                <a:latin typeface="Alice" pitchFamily="34" charset="0"/>
                <a:ea typeface="Alice" pitchFamily="34" charset="-122"/>
              </a:rPr>
              <a:t>hệ</a:t>
            </a:r>
            <a:r>
              <a:rPr lang="en-US" sz="4000" b="1" dirty="0">
                <a:solidFill>
                  <a:srgbClr val="233E32"/>
                </a:solidFill>
                <a:latin typeface="Alice" pitchFamily="34" charset="0"/>
                <a:ea typeface="Alice" pitchFamily="34" charset="-122"/>
              </a:rPr>
              <a:t> </a:t>
            </a:r>
            <a:r>
              <a:rPr lang="en-US" sz="4000" b="1" dirty="0" err="1">
                <a:solidFill>
                  <a:srgbClr val="233E32"/>
                </a:solidFill>
                <a:latin typeface="Alice" pitchFamily="34" charset="0"/>
                <a:ea typeface="Alice" pitchFamily="34" charset="-122"/>
              </a:rPr>
              <a:t>thống</a:t>
            </a:r>
            <a:endParaRPr lang="en-US" sz="4000"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2138083" y="217289"/>
            <a:ext cx="6602492" cy="620078"/>
          </a:xfrm>
          <a:prstGeom prst="rect">
            <a:avLst/>
          </a:prstGeom>
          <a:noFill/>
          <a:ln/>
        </p:spPr>
        <p:txBody>
          <a:bodyPr wrap="none" lIns="0" tIns="0" rIns="0" bIns="0" rtlCol="0" anchor="t"/>
          <a:lstStyle/>
          <a:p>
            <a:pPr marL="0" indent="0" algn="l">
              <a:lnSpc>
                <a:spcPts val="4850"/>
              </a:lnSpc>
              <a:buNone/>
            </a:pPr>
            <a:r>
              <a:rPr lang="en-US" sz="3900" dirty="0" err="1">
                <a:solidFill>
                  <a:srgbClr val="233E32"/>
                </a:solidFill>
                <a:latin typeface="Alice" pitchFamily="34" charset="0"/>
                <a:ea typeface="Alice" pitchFamily="34" charset="-122"/>
                <a:cs typeface="Alice" pitchFamily="34" charset="-120"/>
              </a:rPr>
              <a:t>Hệ</a:t>
            </a:r>
            <a:r>
              <a:rPr lang="en-US" sz="3900" dirty="0">
                <a:solidFill>
                  <a:srgbClr val="233E32"/>
                </a:solidFill>
                <a:latin typeface="Alice" pitchFamily="34" charset="0"/>
                <a:ea typeface="Alice" pitchFamily="34" charset="-122"/>
                <a:cs typeface="Alice" pitchFamily="34" charset="-120"/>
              </a:rPr>
              <a:t> </a:t>
            </a:r>
            <a:r>
              <a:rPr lang="en-US" sz="3900" dirty="0" err="1">
                <a:solidFill>
                  <a:srgbClr val="233E32"/>
                </a:solidFill>
                <a:latin typeface="Alice" pitchFamily="34" charset="0"/>
                <a:ea typeface="Alice" pitchFamily="34" charset="-122"/>
                <a:cs typeface="Alice" pitchFamily="34" charset="-120"/>
              </a:rPr>
              <a:t>thống</a:t>
            </a:r>
            <a:r>
              <a:rPr lang="en-US" sz="3900" dirty="0">
                <a:solidFill>
                  <a:srgbClr val="233E32"/>
                </a:solidFill>
                <a:latin typeface="Alice" pitchFamily="34" charset="0"/>
                <a:ea typeface="Alice" pitchFamily="34" charset="-122"/>
                <a:cs typeface="Alice" pitchFamily="34" charset="-120"/>
              </a:rPr>
              <a:t> website </a:t>
            </a:r>
            <a:r>
              <a:rPr lang="en-US" sz="3900" dirty="0" err="1">
                <a:solidFill>
                  <a:srgbClr val="233E32"/>
                </a:solidFill>
                <a:latin typeface="Alice" pitchFamily="34" charset="0"/>
                <a:ea typeface="Alice" pitchFamily="34" charset="-122"/>
                <a:cs typeface="Alice" pitchFamily="34" charset="-120"/>
              </a:rPr>
              <a:t>quản</a:t>
            </a:r>
            <a:r>
              <a:rPr lang="en-US" sz="3900" dirty="0">
                <a:solidFill>
                  <a:srgbClr val="233E32"/>
                </a:solidFill>
                <a:latin typeface="Alice" pitchFamily="34" charset="0"/>
                <a:ea typeface="Alice" pitchFamily="34" charset="-122"/>
                <a:cs typeface="Alice" pitchFamily="34" charset="-120"/>
              </a:rPr>
              <a:t> </a:t>
            </a:r>
            <a:r>
              <a:rPr lang="en-US" sz="3900" dirty="0" err="1">
                <a:solidFill>
                  <a:srgbClr val="233E32"/>
                </a:solidFill>
                <a:latin typeface="Alice" pitchFamily="34" charset="0"/>
                <a:ea typeface="Alice" pitchFamily="34" charset="-122"/>
                <a:cs typeface="Alice" pitchFamily="34" charset="-120"/>
              </a:rPr>
              <a:t>lý</a:t>
            </a:r>
            <a:r>
              <a:rPr lang="en-US" sz="3900" dirty="0">
                <a:solidFill>
                  <a:srgbClr val="233E32"/>
                </a:solidFill>
                <a:latin typeface="Alice" pitchFamily="34" charset="0"/>
                <a:ea typeface="Alice" pitchFamily="34" charset="-122"/>
                <a:cs typeface="Alice" pitchFamily="34" charset="-120"/>
              </a:rPr>
              <a:t> </a:t>
            </a:r>
            <a:r>
              <a:rPr lang="en-US" sz="3900" dirty="0" err="1">
                <a:solidFill>
                  <a:srgbClr val="233E32"/>
                </a:solidFill>
                <a:latin typeface="Alice" pitchFamily="34" charset="0"/>
                <a:ea typeface="Alice" pitchFamily="34" charset="-122"/>
                <a:cs typeface="Alice" pitchFamily="34" charset="-120"/>
              </a:rPr>
              <a:t>và</a:t>
            </a:r>
            <a:r>
              <a:rPr lang="en-US" sz="3900" dirty="0">
                <a:solidFill>
                  <a:srgbClr val="233E32"/>
                </a:solidFill>
                <a:latin typeface="Alice" pitchFamily="34" charset="0"/>
                <a:ea typeface="Alice" pitchFamily="34" charset="-122"/>
                <a:cs typeface="Alice" pitchFamily="34" charset="-120"/>
              </a:rPr>
              <a:t> </a:t>
            </a:r>
            <a:r>
              <a:rPr lang="en-US" sz="3900" dirty="0" err="1">
                <a:solidFill>
                  <a:srgbClr val="233E32"/>
                </a:solidFill>
                <a:latin typeface="Alice" pitchFamily="34" charset="0"/>
                <a:ea typeface="Alice" pitchFamily="34" charset="-122"/>
                <a:cs typeface="Alice" pitchFamily="34" charset="-120"/>
              </a:rPr>
              <a:t>cơ</a:t>
            </a:r>
            <a:r>
              <a:rPr lang="en-US" sz="3900" dirty="0">
                <a:solidFill>
                  <a:srgbClr val="233E32"/>
                </a:solidFill>
                <a:latin typeface="Alice" pitchFamily="34" charset="0"/>
                <a:ea typeface="Alice" pitchFamily="34" charset="-122"/>
                <a:cs typeface="Alice" pitchFamily="34" charset="-120"/>
              </a:rPr>
              <a:t> </a:t>
            </a:r>
            <a:r>
              <a:rPr lang="en-US" sz="3900" dirty="0" err="1">
                <a:solidFill>
                  <a:srgbClr val="233E32"/>
                </a:solidFill>
                <a:latin typeface="Alice" pitchFamily="34" charset="0"/>
                <a:ea typeface="Alice" pitchFamily="34" charset="-122"/>
                <a:cs typeface="Alice" pitchFamily="34" charset="-120"/>
              </a:rPr>
              <a:t>sở</a:t>
            </a:r>
            <a:r>
              <a:rPr lang="en-US" sz="3900" dirty="0">
                <a:solidFill>
                  <a:srgbClr val="233E32"/>
                </a:solidFill>
                <a:latin typeface="Alice" pitchFamily="34" charset="0"/>
                <a:ea typeface="Alice" pitchFamily="34" charset="-122"/>
                <a:cs typeface="Alice" pitchFamily="34" charset="-120"/>
              </a:rPr>
              <a:t> </a:t>
            </a:r>
            <a:r>
              <a:rPr lang="en-US" sz="3900" dirty="0" err="1">
                <a:solidFill>
                  <a:srgbClr val="233E32"/>
                </a:solidFill>
                <a:latin typeface="Alice" pitchFamily="34" charset="0"/>
                <a:ea typeface="Alice" pitchFamily="34" charset="-122"/>
                <a:cs typeface="Alice" pitchFamily="34" charset="-120"/>
              </a:rPr>
              <a:t>dữ</a:t>
            </a:r>
            <a:r>
              <a:rPr lang="en-US" sz="3900" dirty="0">
                <a:solidFill>
                  <a:srgbClr val="233E32"/>
                </a:solidFill>
                <a:latin typeface="Alice" pitchFamily="34" charset="0"/>
                <a:ea typeface="Alice" pitchFamily="34" charset="-122"/>
                <a:cs typeface="Alice" pitchFamily="34" charset="-120"/>
              </a:rPr>
              <a:t> </a:t>
            </a:r>
            <a:r>
              <a:rPr lang="en-US" sz="3900" dirty="0" err="1">
                <a:solidFill>
                  <a:srgbClr val="233E32"/>
                </a:solidFill>
                <a:latin typeface="Alice" pitchFamily="34" charset="0"/>
                <a:ea typeface="Alice" pitchFamily="34" charset="-122"/>
                <a:cs typeface="Alice" pitchFamily="34" charset="-120"/>
              </a:rPr>
              <a:t>liệu</a:t>
            </a:r>
            <a:r>
              <a:rPr lang="en-US" sz="3900" dirty="0">
                <a:solidFill>
                  <a:srgbClr val="233E32"/>
                </a:solidFill>
                <a:latin typeface="Alice" pitchFamily="34" charset="0"/>
                <a:ea typeface="Alice" pitchFamily="34" charset="-122"/>
                <a:cs typeface="Alice" pitchFamily="34" charset="-120"/>
              </a:rPr>
              <a:t> </a:t>
            </a:r>
            <a:r>
              <a:rPr lang="en-US" sz="3900" dirty="0" err="1">
                <a:solidFill>
                  <a:srgbClr val="233E32"/>
                </a:solidFill>
                <a:latin typeface="Alice" pitchFamily="34" charset="0"/>
                <a:ea typeface="Alice" pitchFamily="34" charset="-122"/>
                <a:cs typeface="Alice" pitchFamily="34" charset="-120"/>
              </a:rPr>
              <a:t>lưu</a:t>
            </a:r>
            <a:r>
              <a:rPr lang="en-US" sz="3900" dirty="0">
                <a:solidFill>
                  <a:srgbClr val="233E32"/>
                </a:solidFill>
                <a:latin typeface="Alice" pitchFamily="34" charset="0"/>
                <a:ea typeface="Alice" pitchFamily="34" charset="-122"/>
                <a:cs typeface="Alice" pitchFamily="34" charset="-120"/>
              </a:rPr>
              <a:t> </a:t>
            </a:r>
            <a:r>
              <a:rPr lang="en-US" sz="3900" dirty="0" err="1">
                <a:solidFill>
                  <a:srgbClr val="233E32"/>
                </a:solidFill>
                <a:latin typeface="Alice" pitchFamily="34" charset="0"/>
                <a:ea typeface="Alice" pitchFamily="34" charset="-122"/>
                <a:cs typeface="Alice" pitchFamily="34" charset="-120"/>
              </a:rPr>
              <a:t>trữ</a:t>
            </a:r>
            <a:r>
              <a:rPr lang="en-US" sz="3900" dirty="0">
                <a:solidFill>
                  <a:srgbClr val="233E32"/>
                </a:solidFill>
                <a:latin typeface="Alice" pitchFamily="34" charset="0"/>
                <a:ea typeface="Alice" pitchFamily="34" charset="-122"/>
                <a:cs typeface="Alice" pitchFamily="34" charset="-120"/>
              </a:rPr>
              <a:t> </a:t>
            </a:r>
            <a:endParaRPr lang="en-US" sz="3900" dirty="0"/>
          </a:p>
        </p:txBody>
      </p:sp>
      <p:pic>
        <p:nvPicPr>
          <p:cNvPr id="3" name="Picture 2">
            <a:extLst>
              <a:ext uri="{FF2B5EF4-FFF2-40B4-BE49-F238E27FC236}">
                <a16:creationId xmlns:a16="http://schemas.microsoft.com/office/drawing/2014/main" id="{05AF8302-28D0-5FCE-26A4-E70B98A4D151}"/>
              </a:ext>
            </a:extLst>
          </p:cNvPr>
          <p:cNvPicPr>
            <a:picLocks noChangeAspect="1"/>
          </p:cNvPicPr>
          <p:nvPr/>
        </p:nvPicPr>
        <p:blipFill>
          <a:blip r:embed="rId3"/>
          <a:stretch>
            <a:fillRect/>
          </a:stretch>
        </p:blipFill>
        <p:spPr>
          <a:xfrm>
            <a:off x="7662067" y="1203365"/>
            <a:ext cx="6754714" cy="6304088"/>
          </a:xfrm>
          <a:prstGeom prst="rect">
            <a:avLst/>
          </a:prstGeom>
        </p:spPr>
      </p:pic>
      <p:pic>
        <p:nvPicPr>
          <p:cNvPr id="4" name="Picture 3" descr="A screenshot of a login form&#10;&#10;AI-generated content may be incorrect.">
            <a:extLst>
              <a:ext uri="{FF2B5EF4-FFF2-40B4-BE49-F238E27FC236}">
                <a16:creationId xmlns:a16="http://schemas.microsoft.com/office/drawing/2014/main" id="{593E118A-8449-AD7F-D365-5BA903F88EAF}"/>
              </a:ext>
            </a:extLst>
          </p:cNvPr>
          <p:cNvPicPr>
            <a:picLocks noChangeAspect="1"/>
          </p:cNvPicPr>
          <p:nvPr/>
        </p:nvPicPr>
        <p:blipFill>
          <a:blip r:embed="rId4"/>
          <a:stretch>
            <a:fillRect/>
          </a:stretch>
        </p:blipFill>
        <p:spPr>
          <a:xfrm>
            <a:off x="159455" y="1177192"/>
            <a:ext cx="7394284" cy="6304088"/>
          </a:xfrm>
          <a:prstGeom prst="rect">
            <a:avLst/>
          </a:prstGeom>
        </p:spPr>
      </p:pic>
      <p:sp>
        <p:nvSpPr>
          <p:cNvPr id="8" name="TextBox 7">
            <a:extLst>
              <a:ext uri="{FF2B5EF4-FFF2-40B4-BE49-F238E27FC236}">
                <a16:creationId xmlns:a16="http://schemas.microsoft.com/office/drawing/2014/main" id="{35EA1258-E963-CC37-77F4-C799AE00CB42}"/>
              </a:ext>
            </a:extLst>
          </p:cNvPr>
          <p:cNvSpPr txBox="1"/>
          <p:nvPr/>
        </p:nvSpPr>
        <p:spPr>
          <a:xfrm>
            <a:off x="2138083" y="7540853"/>
            <a:ext cx="7315200" cy="382412"/>
          </a:xfrm>
          <a:prstGeom prst="rect">
            <a:avLst/>
          </a:prstGeom>
          <a:noFill/>
        </p:spPr>
        <p:txBody>
          <a:bodyPr wrap="square">
            <a:spAutoFit/>
          </a:bodyPr>
          <a:lstStyle/>
          <a:p>
            <a:pPr marL="0" indent="0" algn="just">
              <a:lnSpc>
                <a:spcPts val="2350"/>
              </a:lnSpc>
              <a:buNone/>
            </a:pPr>
            <a:r>
              <a:rPr lang="en-US" sz="1800" dirty="0">
                <a:solidFill>
                  <a:srgbClr val="2C2821"/>
                </a:solidFill>
                <a:latin typeface="Lora" pitchFamily="34" charset="0"/>
                <a:ea typeface="Lora" pitchFamily="34" charset="-122"/>
                <a:cs typeface="Lora" pitchFamily="34" charset="-120"/>
              </a:rPr>
              <a:t>Giao </a:t>
            </a:r>
            <a:r>
              <a:rPr lang="en-US" sz="1800" dirty="0" err="1">
                <a:solidFill>
                  <a:srgbClr val="2C2821"/>
                </a:solidFill>
                <a:latin typeface="Lora" pitchFamily="34" charset="0"/>
                <a:ea typeface="Lora" pitchFamily="34" charset="-122"/>
                <a:cs typeface="Lora" pitchFamily="34" charset="-120"/>
              </a:rPr>
              <a:t>diện</a:t>
            </a:r>
            <a:r>
              <a:rPr lang="en-US" sz="1800" dirty="0">
                <a:solidFill>
                  <a:srgbClr val="2C2821"/>
                </a:solidFill>
                <a:latin typeface="Lora" pitchFamily="34" charset="0"/>
                <a:ea typeface="Lora" pitchFamily="34" charset="-122"/>
                <a:cs typeface="Lora" pitchFamily="34" charset="-120"/>
              </a:rPr>
              <a:t> website </a:t>
            </a:r>
            <a:r>
              <a:rPr lang="en-US" sz="1800" dirty="0" err="1">
                <a:solidFill>
                  <a:srgbClr val="2C2821"/>
                </a:solidFill>
                <a:latin typeface="Lora" pitchFamily="34" charset="0"/>
                <a:ea typeface="Lora" pitchFamily="34" charset="-122"/>
                <a:cs typeface="Lora" pitchFamily="34" charset="-120"/>
              </a:rPr>
              <a:t>đăng</a:t>
            </a:r>
            <a:r>
              <a:rPr lang="en-US" sz="1800" dirty="0">
                <a:solidFill>
                  <a:srgbClr val="2C2821"/>
                </a:solidFill>
                <a:latin typeface="Lora" pitchFamily="34" charset="0"/>
                <a:ea typeface="Lora" pitchFamily="34" charset="-122"/>
                <a:cs typeface="Lora" pitchFamily="34" charset="-120"/>
              </a:rPr>
              <a:t> </a:t>
            </a:r>
            <a:r>
              <a:rPr lang="en-US" sz="1800" dirty="0" err="1">
                <a:solidFill>
                  <a:srgbClr val="2C2821"/>
                </a:solidFill>
                <a:latin typeface="Lora" pitchFamily="34" charset="0"/>
                <a:ea typeface="Lora" pitchFamily="34" charset="-122"/>
                <a:cs typeface="Lora" pitchFamily="34" charset="-120"/>
              </a:rPr>
              <a:t>nhập</a:t>
            </a:r>
            <a:endParaRPr lang="en-US" sz="1800" dirty="0">
              <a:solidFill>
                <a:srgbClr val="2C2821"/>
              </a:solidFill>
              <a:latin typeface="Lora" pitchFamily="34" charset="0"/>
              <a:ea typeface="Lora" pitchFamily="34" charset="-122"/>
              <a:cs typeface="Lora" pitchFamily="34" charset="-120"/>
            </a:endParaRPr>
          </a:p>
        </p:txBody>
      </p:sp>
      <p:sp>
        <p:nvSpPr>
          <p:cNvPr id="10" name="TextBox 9">
            <a:extLst>
              <a:ext uri="{FF2B5EF4-FFF2-40B4-BE49-F238E27FC236}">
                <a16:creationId xmlns:a16="http://schemas.microsoft.com/office/drawing/2014/main" id="{4BD8590C-B99F-EBC1-D571-AF65B86200E4}"/>
              </a:ext>
            </a:extLst>
          </p:cNvPr>
          <p:cNvSpPr txBox="1"/>
          <p:nvPr/>
        </p:nvSpPr>
        <p:spPr>
          <a:xfrm>
            <a:off x="9453283" y="7481280"/>
            <a:ext cx="7315200" cy="382412"/>
          </a:xfrm>
          <a:prstGeom prst="rect">
            <a:avLst/>
          </a:prstGeom>
          <a:noFill/>
        </p:spPr>
        <p:txBody>
          <a:bodyPr wrap="square">
            <a:spAutoFit/>
          </a:bodyPr>
          <a:lstStyle/>
          <a:p>
            <a:pPr marL="0" indent="0" algn="just">
              <a:lnSpc>
                <a:spcPts val="2350"/>
              </a:lnSpc>
              <a:buNone/>
            </a:pPr>
            <a:r>
              <a:rPr lang="en-US" sz="1800" dirty="0">
                <a:solidFill>
                  <a:srgbClr val="2C2821"/>
                </a:solidFill>
                <a:latin typeface="Lora" pitchFamily="34" charset="0"/>
                <a:ea typeface="Lora" pitchFamily="34" charset="-122"/>
                <a:cs typeface="Lora" pitchFamily="34" charset="-120"/>
              </a:rPr>
              <a:t>Các </a:t>
            </a:r>
            <a:r>
              <a:rPr lang="en-US" sz="1800" dirty="0" err="1">
                <a:solidFill>
                  <a:srgbClr val="2C2821"/>
                </a:solidFill>
                <a:latin typeface="Lora" pitchFamily="34" charset="0"/>
                <a:ea typeface="Lora" pitchFamily="34" charset="-122"/>
                <a:cs typeface="Lora" pitchFamily="34" charset="-120"/>
              </a:rPr>
              <a:t>đối</a:t>
            </a:r>
            <a:r>
              <a:rPr lang="en-US" sz="1800" dirty="0">
                <a:solidFill>
                  <a:srgbClr val="2C2821"/>
                </a:solidFill>
                <a:latin typeface="Lora" pitchFamily="34" charset="0"/>
                <a:ea typeface="Lora" pitchFamily="34" charset="-122"/>
                <a:cs typeface="Lora" pitchFamily="34" charset="-120"/>
              </a:rPr>
              <a:t> </a:t>
            </a:r>
            <a:r>
              <a:rPr lang="en-US" sz="1800" dirty="0" err="1">
                <a:solidFill>
                  <a:srgbClr val="2C2821"/>
                </a:solidFill>
                <a:latin typeface="Lora" pitchFamily="34" charset="0"/>
                <a:ea typeface="Lora" pitchFamily="34" charset="-122"/>
                <a:cs typeface="Lora" pitchFamily="34" charset="-120"/>
              </a:rPr>
              <a:t>tượng</a:t>
            </a:r>
            <a:r>
              <a:rPr lang="en-US" sz="1800" dirty="0">
                <a:solidFill>
                  <a:srgbClr val="2C2821"/>
                </a:solidFill>
                <a:latin typeface="Lora" pitchFamily="34" charset="0"/>
                <a:ea typeface="Lora" pitchFamily="34" charset="-122"/>
                <a:cs typeface="Lora" pitchFamily="34" charset="-120"/>
              </a:rPr>
              <a:t> </a:t>
            </a:r>
            <a:r>
              <a:rPr lang="en-US" sz="1800" dirty="0" err="1">
                <a:solidFill>
                  <a:srgbClr val="2C2821"/>
                </a:solidFill>
                <a:latin typeface="Lora" pitchFamily="34" charset="0"/>
                <a:ea typeface="Lora" pitchFamily="34" charset="-122"/>
                <a:cs typeface="Lora" pitchFamily="34" charset="-120"/>
              </a:rPr>
              <a:t>trong</a:t>
            </a:r>
            <a:r>
              <a:rPr lang="en-US" sz="1800" dirty="0">
                <a:solidFill>
                  <a:srgbClr val="2C2821"/>
                </a:solidFill>
                <a:latin typeface="Lora" pitchFamily="34" charset="0"/>
                <a:ea typeface="Lora" pitchFamily="34" charset="-122"/>
                <a:cs typeface="Lora" pitchFamily="34" charset="-120"/>
              </a:rPr>
              <a:t> </a:t>
            </a:r>
            <a:r>
              <a:rPr lang="en-US" sz="1800" dirty="0" err="1">
                <a:solidFill>
                  <a:srgbClr val="2C2821"/>
                </a:solidFill>
                <a:latin typeface="Lora" pitchFamily="34" charset="0"/>
                <a:ea typeface="Lora" pitchFamily="34" charset="-122"/>
                <a:cs typeface="Lora" pitchFamily="34" charset="-120"/>
              </a:rPr>
              <a:t>cơ</a:t>
            </a:r>
            <a:r>
              <a:rPr lang="en-US" sz="1800" dirty="0">
                <a:solidFill>
                  <a:srgbClr val="2C2821"/>
                </a:solidFill>
                <a:latin typeface="Lora" pitchFamily="34" charset="0"/>
                <a:ea typeface="Lora" pitchFamily="34" charset="-122"/>
                <a:cs typeface="Lora" pitchFamily="34" charset="-120"/>
              </a:rPr>
              <a:t> </a:t>
            </a:r>
            <a:r>
              <a:rPr lang="en-US" sz="1800" dirty="0" err="1">
                <a:solidFill>
                  <a:srgbClr val="2C2821"/>
                </a:solidFill>
                <a:latin typeface="Lora" pitchFamily="34" charset="0"/>
                <a:ea typeface="Lora" pitchFamily="34" charset="-122"/>
                <a:cs typeface="Lora" pitchFamily="34" charset="-120"/>
              </a:rPr>
              <a:t>sở</a:t>
            </a:r>
            <a:r>
              <a:rPr lang="en-US" sz="1800" dirty="0">
                <a:solidFill>
                  <a:srgbClr val="2C2821"/>
                </a:solidFill>
                <a:latin typeface="Lora" pitchFamily="34" charset="0"/>
                <a:ea typeface="Lora" pitchFamily="34" charset="-122"/>
                <a:cs typeface="Lora" pitchFamily="34" charset="-120"/>
              </a:rPr>
              <a:t> </a:t>
            </a:r>
            <a:r>
              <a:rPr lang="en-US" sz="1800" dirty="0" err="1">
                <a:solidFill>
                  <a:srgbClr val="2C2821"/>
                </a:solidFill>
                <a:latin typeface="Lora" pitchFamily="34" charset="0"/>
                <a:ea typeface="Lora" pitchFamily="34" charset="-122"/>
                <a:cs typeface="Lora" pitchFamily="34" charset="-120"/>
              </a:rPr>
              <a:t>dữ</a:t>
            </a:r>
            <a:r>
              <a:rPr lang="en-US" sz="1800" dirty="0">
                <a:solidFill>
                  <a:srgbClr val="2C2821"/>
                </a:solidFill>
                <a:latin typeface="Lora" pitchFamily="34" charset="0"/>
                <a:ea typeface="Lora" pitchFamily="34" charset="-122"/>
                <a:cs typeface="Lora" pitchFamily="34" charset="-120"/>
              </a:rPr>
              <a:t> </a:t>
            </a:r>
            <a:r>
              <a:rPr lang="en-US" sz="1800" dirty="0" err="1">
                <a:solidFill>
                  <a:srgbClr val="2C2821"/>
                </a:solidFill>
                <a:latin typeface="Lora" pitchFamily="34" charset="0"/>
                <a:ea typeface="Lora" pitchFamily="34" charset="-122"/>
                <a:cs typeface="Lora" pitchFamily="34" charset="-120"/>
              </a:rPr>
              <a:t>liệu</a:t>
            </a:r>
            <a:endParaRPr lang="en-US" sz="1800" dirty="0">
              <a:solidFill>
                <a:srgbClr val="2C2821"/>
              </a:solidFill>
              <a:latin typeface="Lora" pitchFamily="34" charset="0"/>
              <a:ea typeface="Lora" pitchFamily="34" charset="-122"/>
              <a:cs typeface="Lora" pitchFamily="34" charset="-12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B6D3A75-29A3-CE3D-B540-CCA845B336A7}"/>
              </a:ext>
            </a:extLst>
          </p:cNvPr>
          <p:cNvSpPr txBox="1"/>
          <p:nvPr/>
        </p:nvSpPr>
        <p:spPr>
          <a:xfrm>
            <a:off x="402628" y="314575"/>
            <a:ext cx="6509160" cy="513678"/>
          </a:xfrm>
          <a:prstGeom prst="rect">
            <a:avLst/>
          </a:prstGeom>
        </p:spPr>
        <p:txBody>
          <a:bodyPr vert="horz" lIns="91440" tIns="45720" rIns="91440" bIns="45720" rtlCol="0" anchor="b">
            <a:normAutofit fontScale="92500" lnSpcReduction="20000"/>
          </a:bodyPr>
          <a:lstStyle/>
          <a:p>
            <a:pPr marL="0" indent="0" defTabSz="1097280">
              <a:lnSpc>
                <a:spcPct val="90000"/>
              </a:lnSpc>
              <a:spcBef>
                <a:spcPct val="0"/>
              </a:spcBef>
              <a:spcAft>
                <a:spcPts val="600"/>
              </a:spcAft>
            </a:pPr>
            <a:r>
              <a:rPr lang="en-US" sz="3840" kern="1200" dirty="0">
                <a:latin typeface="Lora" pitchFamily="2" charset="0"/>
                <a:ea typeface="+mj-ea"/>
                <a:cs typeface="+mj-cs"/>
              </a:rPr>
              <a:t>3. </a:t>
            </a:r>
            <a:r>
              <a:rPr lang="en-US" sz="3840" kern="1200" dirty="0" err="1">
                <a:latin typeface="Lora" pitchFamily="2" charset="0"/>
                <a:ea typeface="+mj-ea"/>
                <a:cs typeface="+mj-cs"/>
              </a:rPr>
              <a:t>Quá</a:t>
            </a:r>
            <a:r>
              <a:rPr lang="en-US" sz="3840" kern="1200" dirty="0">
                <a:latin typeface="Lora" pitchFamily="2" charset="0"/>
                <a:ea typeface="+mj-ea"/>
                <a:cs typeface="+mj-cs"/>
              </a:rPr>
              <a:t> </a:t>
            </a:r>
            <a:r>
              <a:rPr lang="en-US" sz="3840" kern="1200" dirty="0" err="1">
                <a:latin typeface="Lora" pitchFamily="2" charset="0"/>
                <a:ea typeface="+mj-ea"/>
                <a:cs typeface="+mj-cs"/>
              </a:rPr>
              <a:t>trình</a:t>
            </a:r>
            <a:r>
              <a:rPr lang="en-US" sz="3840" kern="1200" dirty="0">
                <a:latin typeface="Lora" pitchFamily="2" charset="0"/>
                <a:ea typeface="+mj-ea"/>
                <a:cs typeface="+mj-cs"/>
              </a:rPr>
              <a:t> </a:t>
            </a:r>
            <a:r>
              <a:rPr lang="en-US" sz="3840" kern="1200" dirty="0" err="1">
                <a:latin typeface="Lora" pitchFamily="2" charset="0"/>
                <a:ea typeface="+mj-ea"/>
                <a:cs typeface="+mj-cs"/>
              </a:rPr>
              <a:t>huấn</a:t>
            </a:r>
            <a:r>
              <a:rPr lang="en-US" sz="3840" kern="1200" dirty="0">
                <a:latin typeface="Lora" pitchFamily="2" charset="0"/>
                <a:ea typeface="+mj-ea"/>
                <a:cs typeface="+mj-cs"/>
              </a:rPr>
              <a:t> </a:t>
            </a:r>
            <a:r>
              <a:rPr lang="en-US" sz="3840" kern="1200" dirty="0" err="1">
                <a:latin typeface="Lora" pitchFamily="2" charset="0"/>
                <a:ea typeface="+mj-ea"/>
                <a:cs typeface="+mj-cs"/>
              </a:rPr>
              <a:t>luyện</a:t>
            </a:r>
            <a:endParaRPr lang="en-US" sz="3840" kern="1200" dirty="0">
              <a:latin typeface="Lora" pitchFamily="2" charset="0"/>
              <a:ea typeface="+mj-ea"/>
              <a:cs typeface="+mj-cs"/>
            </a:endParaRPr>
          </a:p>
        </p:txBody>
      </p:sp>
      <p:pic>
        <p:nvPicPr>
          <p:cNvPr id="1036" name="Picture 12">
            <a:extLst>
              <a:ext uri="{FF2B5EF4-FFF2-40B4-BE49-F238E27FC236}">
                <a16:creationId xmlns:a16="http://schemas.microsoft.com/office/drawing/2014/main" id="{34664C60-DABA-2BCE-1880-1BC89BFAF33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750424" y="1437801"/>
            <a:ext cx="7406640" cy="5541222"/>
          </a:xfrm>
          <a:prstGeom prst="rect">
            <a:avLst/>
          </a:prstGeom>
          <a:solidFill>
            <a:srgbClr val="FFFFFF"/>
          </a:solidFill>
        </p:spPr>
      </p:pic>
      <p:sp>
        <p:nvSpPr>
          <p:cNvPr id="2" name="Slide Number Placeholder 1">
            <a:extLst>
              <a:ext uri="{FF2B5EF4-FFF2-40B4-BE49-F238E27FC236}">
                <a16:creationId xmlns:a16="http://schemas.microsoft.com/office/drawing/2014/main" id="{D3957F41-4234-0B04-4F3C-7ACEC2A3A41D}"/>
              </a:ext>
            </a:extLst>
          </p:cNvPr>
          <p:cNvSpPr>
            <a:spLocks noGrp="1"/>
          </p:cNvSpPr>
          <p:nvPr>
            <p:ph type="sldNum" sz="quarter" idx="12"/>
          </p:nvPr>
        </p:nvSpPr>
        <p:spPr>
          <a:xfrm>
            <a:off x="10332720" y="7627621"/>
            <a:ext cx="3291840" cy="438150"/>
          </a:xfrm>
        </p:spPr>
        <p:txBody>
          <a:bodyPr vert="horz" lIns="91440" tIns="45720" rIns="91440" bIns="45720" rtlCol="0" anchor="ctr">
            <a:normAutofit/>
          </a:bodyPr>
          <a:lstStyle/>
          <a:p>
            <a:pPr>
              <a:spcAft>
                <a:spcPts val="600"/>
              </a:spcAft>
            </a:pPr>
            <a:fld id="{48F63A3B-78C7-47BE-AE5E-E10140E04643}" type="slidenum">
              <a:rPr lang="en-US" smtClean="0">
                <a:latin typeface="Lora" pitchFamily="2" charset="0"/>
              </a:rPr>
              <a:pPr>
                <a:spcAft>
                  <a:spcPts val="600"/>
                </a:spcAft>
              </a:pPr>
              <a:t>6</a:t>
            </a:fld>
            <a:endParaRPr lang="en-US">
              <a:latin typeface="Lora" pitchFamily="2" charset="0"/>
            </a:endParaRPr>
          </a:p>
        </p:txBody>
      </p:sp>
      <p:sp>
        <p:nvSpPr>
          <p:cNvPr id="23" name="TextBox 22">
            <a:extLst>
              <a:ext uri="{FF2B5EF4-FFF2-40B4-BE49-F238E27FC236}">
                <a16:creationId xmlns:a16="http://schemas.microsoft.com/office/drawing/2014/main" id="{29687176-A6B3-FDC2-A296-E178458778CA}"/>
              </a:ext>
            </a:extLst>
          </p:cNvPr>
          <p:cNvSpPr txBox="1"/>
          <p:nvPr/>
        </p:nvSpPr>
        <p:spPr>
          <a:xfrm>
            <a:off x="402628" y="1672186"/>
            <a:ext cx="5943601" cy="5306837"/>
          </a:xfrm>
          <a:prstGeom prst="rect">
            <a:avLst/>
          </a:prstGeom>
          <a:noFill/>
        </p:spPr>
        <p:txBody>
          <a:bodyPr wrap="square">
            <a:spAutoFit/>
          </a:bodyPr>
          <a:lstStyle/>
          <a:p>
            <a:pPr algn="just">
              <a:lnSpc>
                <a:spcPts val="2350"/>
              </a:lnSpc>
            </a:pPr>
            <a:r>
              <a:rPr lang="vi-VN" dirty="0">
                <a:solidFill>
                  <a:srgbClr val="2C2821"/>
                </a:solidFill>
                <a:latin typeface="Lora" pitchFamily="34" charset="0"/>
                <a:ea typeface="Lora" pitchFamily="34" charset="-122"/>
                <a:cs typeface="Lora" pitchFamily="34" charset="-120"/>
              </a:rPr>
              <a:t>YOLOv5 là mô hình nhẹ, nhanh và dễ triển khai hơn so với các phiên bản mới như YOLOv7, YOLOv8. Đồng thời, nó cải thiện đáng kể độ chính xác so với các phiên bản cũ như YOLOv2, v3, v4. </a:t>
            </a:r>
            <a:endParaRPr lang="en-US" dirty="0">
              <a:solidFill>
                <a:srgbClr val="2C2821"/>
              </a:solidFill>
              <a:latin typeface="Lora" pitchFamily="34" charset="0"/>
              <a:ea typeface="Lora" pitchFamily="34" charset="-122"/>
              <a:cs typeface="Lora" pitchFamily="34" charset="-120"/>
            </a:endParaRPr>
          </a:p>
          <a:p>
            <a:pPr algn="just">
              <a:lnSpc>
                <a:spcPts val="2350"/>
              </a:lnSpc>
            </a:pPr>
            <a:endParaRPr lang="en-US" dirty="0">
              <a:solidFill>
                <a:srgbClr val="2C2821"/>
              </a:solidFill>
              <a:latin typeface="Lora" pitchFamily="34" charset="0"/>
              <a:ea typeface="Lora" pitchFamily="34" charset="-122"/>
              <a:cs typeface="Lora" pitchFamily="34" charset="-120"/>
            </a:endParaRPr>
          </a:p>
          <a:p>
            <a:pPr algn="just">
              <a:lnSpc>
                <a:spcPts val="2350"/>
              </a:lnSpc>
            </a:pPr>
            <a:r>
              <a:rPr lang="vi-VN" dirty="0">
                <a:solidFill>
                  <a:srgbClr val="2C2821"/>
                </a:solidFill>
                <a:latin typeface="Lora" pitchFamily="34" charset="0"/>
                <a:ea typeface="Lora" pitchFamily="34" charset="-122"/>
                <a:cs typeface="Lora" pitchFamily="34" charset="-120"/>
              </a:rPr>
              <a:t>Nhờ đó, YOLOv5 rất phù hợp cho các ứng dụng phát hiện vật thể trong điều kiện phần cứng hạn chế. YOLOv5 gồm 4 phiên bản: s, m, l, x – mỗi phiên bản đánh đổi giữa tốc độ, kích thước và độ chính xác. </a:t>
            </a:r>
            <a:endParaRPr lang="en-US" dirty="0">
              <a:solidFill>
                <a:srgbClr val="2C2821"/>
              </a:solidFill>
              <a:latin typeface="Lora" pitchFamily="34" charset="0"/>
              <a:ea typeface="Lora" pitchFamily="34" charset="-122"/>
              <a:cs typeface="Lora" pitchFamily="34" charset="-120"/>
            </a:endParaRPr>
          </a:p>
          <a:p>
            <a:pPr algn="just">
              <a:lnSpc>
                <a:spcPts val="2350"/>
              </a:lnSpc>
            </a:pPr>
            <a:endParaRPr lang="en-US" dirty="0">
              <a:solidFill>
                <a:srgbClr val="2C2821"/>
              </a:solidFill>
              <a:latin typeface="Lora" pitchFamily="34" charset="0"/>
              <a:ea typeface="Lora" pitchFamily="34" charset="-122"/>
              <a:cs typeface="Lora" pitchFamily="34" charset="-120"/>
            </a:endParaRPr>
          </a:p>
          <a:p>
            <a:pPr algn="just">
              <a:lnSpc>
                <a:spcPts val="2350"/>
              </a:lnSpc>
            </a:pPr>
            <a:r>
              <a:rPr lang="vi-VN" dirty="0">
                <a:solidFill>
                  <a:srgbClr val="2C2821"/>
                </a:solidFill>
                <a:latin typeface="Lora" pitchFamily="34" charset="0"/>
                <a:ea typeface="Lora" pitchFamily="34" charset="-122"/>
                <a:cs typeface="Lora" pitchFamily="34" charset="-120"/>
              </a:rPr>
              <a:t>Trong đó, YOLOv5m là lựa chọn cân bằng tốt nhất: Độ chính xác cao hơn YOLOv5s (+7.3 mAP) Tốc độ xử lý nhanh (2.7 ms) Kích thước vừa phải (41 MB) </a:t>
            </a:r>
            <a:endParaRPr lang="en-US" dirty="0">
              <a:solidFill>
                <a:srgbClr val="2C2821"/>
              </a:solidFill>
              <a:latin typeface="Lora" pitchFamily="34" charset="0"/>
              <a:ea typeface="Lora" pitchFamily="34" charset="-122"/>
              <a:cs typeface="Lora" pitchFamily="34" charset="-120"/>
            </a:endParaRPr>
          </a:p>
          <a:p>
            <a:pPr algn="just">
              <a:lnSpc>
                <a:spcPts val="2350"/>
              </a:lnSpc>
            </a:pPr>
            <a:endParaRPr lang="en-US" dirty="0">
              <a:solidFill>
                <a:srgbClr val="2C2821"/>
              </a:solidFill>
              <a:latin typeface="Lora" pitchFamily="34" charset="0"/>
              <a:ea typeface="Lora" pitchFamily="34" charset="-122"/>
              <a:cs typeface="Lora" pitchFamily="34" charset="-120"/>
            </a:endParaRPr>
          </a:p>
          <a:p>
            <a:pPr algn="just">
              <a:lnSpc>
                <a:spcPts val="2350"/>
              </a:lnSpc>
            </a:pPr>
            <a:r>
              <a:rPr lang="vi-VN" dirty="0">
                <a:solidFill>
                  <a:srgbClr val="2C2821"/>
                </a:solidFill>
                <a:latin typeface="Lora" pitchFamily="34" charset="0"/>
                <a:ea typeface="Lora" pitchFamily="34" charset="-122"/>
                <a:cs typeface="Lora" pitchFamily="34" charset="-120"/>
              </a:rPr>
              <a:t>=&gt; Kết luận: YOLOv5m là lựa chọn tối ưu cho hệ thống nhận diện biển số vì đảm bảo độ chính xác cao, xử lý thời gian thực, và dễ triển khai.</a:t>
            </a:r>
            <a:endParaRPr lang="en-US" sz="1800" dirty="0">
              <a:solidFill>
                <a:srgbClr val="2C2821"/>
              </a:solidFill>
              <a:latin typeface="Lora" pitchFamily="34" charset="0"/>
            </a:endParaRPr>
          </a:p>
        </p:txBody>
      </p:sp>
    </p:spTree>
    <p:extLst>
      <p:ext uri="{BB962C8B-B14F-4D97-AF65-F5344CB8AC3E}">
        <p14:creationId xmlns:p14="http://schemas.microsoft.com/office/powerpoint/2010/main" val="4275421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name="Slide 5">
    <p:spTree>
      <p:nvGrpSpPr>
        <p:cNvPr id="1" name=""/>
        <p:cNvGrpSpPr/>
        <p:nvPr/>
      </p:nvGrpSpPr>
      <p:grpSpPr>
        <a:xfrm>
          <a:off x="0" y="0"/>
          <a:ext cx="0" cy="0"/>
          <a:chOff x="0" y="0"/>
          <a:chExt cx="0" cy="0"/>
        </a:xfrm>
      </p:grpSpPr>
      <p:sp>
        <p:nvSpPr>
          <p:cNvPr id="2" name="Text 0"/>
          <p:cNvSpPr/>
          <p:nvPr/>
        </p:nvSpPr>
        <p:spPr>
          <a:xfrm>
            <a:off x="1893034" y="182069"/>
            <a:ext cx="10844332" cy="620078"/>
          </a:xfrm>
          <a:prstGeom prst="rect">
            <a:avLst/>
          </a:prstGeom>
          <a:noFill/>
          <a:ln/>
        </p:spPr>
        <p:txBody>
          <a:bodyPr wrap="none" lIns="0" tIns="0" rIns="0" bIns="0" rtlCol="0" anchor="t"/>
          <a:lstStyle/>
          <a:p>
            <a:pPr marL="0" indent="0" algn="l">
              <a:lnSpc>
                <a:spcPts val="4850"/>
              </a:lnSpc>
              <a:buNone/>
            </a:pPr>
            <a:r>
              <a:rPr lang="en-US" sz="3900" dirty="0">
                <a:solidFill>
                  <a:srgbClr val="233E32"/>
                </a:solidFill>
                <a:latin typeface="Alice" pitchFamily="34" charset="0"/>
                <a:ea typeface="Alice" pitchFamily="34" charset="-122"/>
                <a:cs typeface="Alice" pitchFamily="34" charset="-120"/>
              </a:rPr>
              <a:t>Quy </a:t>
            </a:r>
            <a:r>
              <a:rPr lang="en-US" sz="3900" dirty="0" err="1">
                <a:solidFill>
                  <a:srgbClr val="233E32"/>
                </a:solidFill>
                <a:latin typeface="Alice" pitchFamily="34" charset="0"/>
                <a:ea typeface="Alice" pitchFamily="34" charset="-122"/>
                <a:cs typeface="Alice" pitchFamily="34" charset="-120"/>
              </a:rPr>
              <a:t>trình</a:t>
            </a:r>
            <a:r>
              <a:rPr lang="en-US" sz="3900" dirty="0">
                <a:solidFill>
                  <a:srgbClr val="233E32"/>
                </a:solidFill>
                <a:latin typeface="Alice" pitchFamily="34" charset="0"/>
                <a:ea typeface="Alice" pitchFamily="34" charset="-122"/>
                <a:cs typeface="Alice" pitchFamily="34" charset="-120"/>
              </a:rPr>
              <a:t> </a:t>
            </a:r>
            <a:r>
              <a:rPr lang="en-US" sz="3900" dirty="0" err="1">
                <a:solidFill>
                  <a:srgbClr val="233E32"/>
                </a:solidFill>
                <a:latin typeface="Alice" pitchFamily="34" charset="0"/>
                <a:ea typeface="Alice" pitchFamily="34" charset="-122"/>
                <a:cs typeface="Alice" pitchFamily="34" charset="-120"/>
              </a:rPr>
              <a:t>xử</a:t>
            </a:r>
            <a:r>
              <a:rPr lang="en-US" sz="3900" dirty="0">
                <a:solidFill>
                  <a:srgbClr val="233E32"/>
                </a:solidFill>
                <a:latin typeface="Alice" pitchFamily="34" charset="0"/>
                <a:ea typeface="Alice" pitchFamily="34" charset="-122"/>
                <a:cs typeface="Alice" pitchFamily="34" charset="-120"/>
              </a:rPr>
              <a:t> </a:t>
            </a:r>
            <a:r>
              <a:rPr lang="en-US" sz="3900" dirty="0" err="1">
                <a:solidFill>
                  <a:srgbClr val="233E32"/>
                </a:solidFill>
                <a:latin typeface="Alice" pitchFamily="34" charset="0"/>
                <a:ea typeface="Alice" pitchFamily="34" charset="-122"/>
                <a:cs typeface="Alice" pitchFamily="34" charset="-120"/>
              </a:rPr>
              <a:t>lý</a:t>
            </a:r>
            <a:r>
              <a:rPr lang="en-US" sz="3900" dirty="0">
                <a:solidFill>
                  <a:srgbClr val="233E32"/>
                </a:solidFill>
                <a:latin typeface="Alice" pitchFamily="34" charset="0"/>
                <a:ea typeface="Alice" pitchFamily="34" charset="-122"/>
                <a:cs typeface="Alice" pitchFamily="34" charset="-120"/>
              </a:rPr>
              <a:t> </a:t>
            </a:r>
            <a:r>
              <a:rPr lang="en-US" sz="3900" dirty="0" err="1">
                <a:solidFill>
                  <a:srgbClr val="233E32"/>
                </a:solidFill>
                <a:latin typeface="Alice" pitchFamily="34" charset="0"/>
                <a:ea typeface="Alice" pitchFamily="34" charset="-122"/>
                <a:cs typeface="Alice" pitchFamily="34" charset="-120"/>
              </a:rPr>
              <a:t>hình</a:t>
            </a:r>
            <a:r>
              <a:rPr lang="en-US" sz="3900" dirty="0">
                <a:solidFill>
                  <a:srgbClr val="233E32"/>
                </a:solidFill>
                <a:latin typeface="Alice" pitchFamily="34" charset="0"/>
                <a:ea typeface="Alice" pitchFamily="34" charset="-122"/>
                <a:cs typeface="Alice" pitchFamily="34" charset="-120"/>
              </a:rPr>
              <a:t> </a:t>
            </a:r>
            <a:r>
              <a:rPr lang="en-US" sz="3900" dirty="0" err="1">
                <a:solidFill>
                  <a:srgbClr val="233E32"/>
                </a:solidFill>
                <a:latin typeface="Alice" pitchFamily="34" charset="0"/>
                <a:ea typeface="Alice" pitchFamily="34" charset="-122"/>
                <a:cs typeface="Alice" pitchFamily="34" charset="-120"/>
              </a:rPr>
              <a:t>ảnh</a:t>
            </a:r>
            <a:r>
              <a:rPr lang="en-US" sz="3900" dirty="0">
                <a:solidFill>
                  <a:srgbClr val="233E32"/>
                </a:solidFill>
                <a:latin typeface="Alice" pitchFamily="34" charset="0"/>
                <a:ea typeface="Alice" pitchFamily="34" charset="-122"/>
                <a:cs typeface="Alice" pitchFamily="34" charset="-120"/>
              </a:rPr>
              <a:t> </a:t>
            </a:r>
            <a:r>
              <a:rPr lang="en-US" sz="3900" dirty="0" err="1">
                <a:solidFill>
                  <a:srgbClr val="233E32"/>
                </a:solidFill>
                <a:latin typeface="Alice" pitchFamily="34" charset="0"/>
                <a:ea typeface="Alice" pitchFamily="34" charset="-122"/>
                <a:cs typeface="Alice" pitchFamily="34" charset="-120"/>
              </a:rPr>
              <a:t>và</a:t>
            </a:r>
            <a:r>
              <a:rPr lang="en-US" sz="3900" dirty="0">
                <a:solidFill>
                  <a:srgbClr val="233E32"/>
                </a:solidFill>
                <a:latin typeface="Alice" pitchFamily="34" charset="0"/>
                <a:ea typeface="Alice" pitchFamily="34" charset="-122"/>
                <a:cs typeface="Alice" pitchFamily="34" charset="-120"/>
              </a:rPr>
              <a:t> </a:t>
            </a:r>
            <a:r>
              <a:rPr lang="en-US" sz="3900" dirty="0" err="1">
                <a:solidFill>
                  <a:srgbClr val="233E32"/>
                </a:solidFill>
                <a:latin typeface="Alice" pitchFamily="34" charset="0"/>
                <a:ea typeface="Alice" pitchFamily="34" charset="-122"/>
                <a:cs typeface="Alice" pitchFamily="34" charset="-120"/>
              </a:rPr>
              <a:t>nhận</a:t>
            </a:r>
            <a:r>
              <a:rPr lang="en-US" sz="3900" dirty="0">
                <a:solidFill>
                  <a:srgbClr val="233E32"/>
                </a:solidFill>
                <a:latin typeface="Alice" pitchFamily="34" charset="0"/>
                <a:ea typeface="Alice" pitchFamily="34" charset="-122"/>
                <a:cs typeface="Alice" pitchFamily="34" charset="-120"/>
              </a:rPr>
              <a:t> </a:t>
            </a:r>
            <a:r>
              <a:rPr lang="en-US" sz="3900" dirty="0" err="1">
                <a:solidFill>
                  <a:srgbClr val="233E32"/>
                </a:solidFill>
                <a:latin typeface="Alice" pitchFamily="34" charset="0"/>
                <a:ea typeface="Alice" pitchFamily="34" charset="-122"/>
                <a:cs typeface="Alice" pitchFamily="34" charset="-120"/>
              </a:rPr>
              <a:t>diện</a:t>
            </a:r>
            <a:r>
              <a:rPr lang="en-US" sz="3900" dirty="0">
                <a:solidFill>
                  <a:srgbClr val="233E32"/>
                </a:solidFill>
                <a:latin typeface="Alice" pitchFamily="34" charset="0"/>
                <a:ea typeface="Alice" pitchFamily="34" charset="-122"/>
                <a:cs typeface="Alice" pitchFamily="34" charset="-120"/>
              </a:rPr>
              <a:t> </a:t>
            </a:r>
            <a:r>
              <a:rPr lang="en-US" sz="3900" dirty="0" err="1">
                <a:solidFill>
                  <a:srgbClr val="233E32"/>
                </a:solidFill>
                <a:latin typeface="Alice" pitchFamily="34" charset="0"/>
                <a:ea typeface="Alice" pitchFamily="34" charset="-122"/>
                <a:cs typeface="Alice" pitchFamily="34" charset="-120"/>
              </a:rPr>
              <a:t>biển</a:t>
            </a:r>
            <a:r>
              <a:rPr lang="en-US" sz="3900" dirty="0">
                <a:solidFill>
                  <a:srgbClr val="233E32"/>
                </a:solidFill>
                <a:latin typeface="Alice" pitchFamily="34" charset="0"/>
                <a:ea typeface="Alice" pitchFamily="34" charset="-122"/>
                <a:cs typeface="Alice" pitchFamily="34" charset="-120"/>
              </a:rPr>
              <a:t> </a:t>
            </a:r>
            <a:r>
              <a:rPr lang="en-US" sz="3900" dirty="0" err="1">
                <a:solidFill>
                  <a:srgbClr val="233E32"/>
                </a:solidFill>
                <a:latin typeface="Alice" pitchFamily="34" charset="0"/>
                <a:ea typeface="Alice" pitchFamily="34" charset="-122"/>
                <a:cs typeface="Alice" pitchFamily="34" charset="-120"/>
              </a:rPr>
              <a:t>số</a:t>
            </a:r>
            <a:endParaRPr lang="en-US" sz="3900" dirty="0"/>
          </a:p>
        </p:txBody>
      </p:sp>
      <p:sp>
        <p:nvSpPr>
          <p:cNvPr id="4" name="Text 1"/>
          <p:cNvSpPr/>
          <p:nvPr/>
        </p:nvSpPr>
        <p:spPr>
          <a:xfrm>
            <a:off x="700398" y="1581294"/>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2C2821"/>
                </a:solidFill>
                <a:latin typeface="Alice" pitchFamily="34" charset="0"/>
                <a:ea typeface="Alice" pitchFamily="34" charset="-122"/>
                <a:cs typeface="Alice" pitchFamily="34" charset="-120"/>
              </a:rPr>
              <a:t>1. Thu Nhận Ảnh</a:t>
            </a:r>
            <a:endParaRPr lang="en-US" sz="1950" dirty="0"/>
          </a:p>
        </p:txBody>
      </p:sp>
      <p:sp>
        <p:nvSpPr>
          <p:cNvPr id="5" name="Text 2"/>
          <p:cNvSpPr/>
          <p:nvPr/>
        </p:nvSpPr>
        <p:spPr>
          <a:xfrm>
            <a:off x="700398" y="1904362"/>
            <a:ext cx="6124694" cy="635079"/>
          </a:xfrm>
          <a:prstGeom prst="rect">
            <a:avLst/>
          </a:prstGeom>
          <a:noFill/>
          <a:ln/>
        </p:spPr>
        <p:txBody>
          <a:bodyPr wrap="square" lIns="0" tIns="0" rIns="0" bIns="0" rtlCol="0" anchor="t"/>
          <a:lstStyle/>
          <a:p>
            <a:pPr marL="0" indent="0" algn="l">
              <a:lnSpc>
                <a:spcPts val="2500"/>
              </a:lnSpc>
              <a:buNone/>
            </a:pPr>
            <a:r>
              <a:rPr lang="en-US" sz="1550" dirty="0">
                <a:solidFill>
                  <a:srgbClr val="2C2821"/>
                </a:solidFill>
                <a:latin typeface="Lora" pitchFamily="34" charset="0"/>
                <a:ea typeface="Lora" pitchFamily="34" charset="-122"/>
                <a:cs typeface="Lora" pitchFamily="34" charset="-120"/>
              </a:rPr>
              <a:t>Người </a:t>
            </a:r>
            <a:r>
              <a:rPr lang="en-US" sz="1550" dirty="0" err="1">
                <a:solidFill>
                  <a:srgbClr val="2C2821"/>
                </a:solidFill>
                <a:latin typeface="Lora" pitchFamily="34" charset="0"/>
                <a:ea typeface="Lora" pitchFamily="34" charset="-122"/>
                <a:cs typeface="Lora" pitchFamily="34" charset="-120"/>
              </a:rPr>
              <a:t>đăng</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ký</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sử</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dụng</a:t>
            </a:r>
            <a:r>
              <a:rPr lang="en-US" sz="1550" dirty="0">
                <a:solidFill>
                  <a:srgbClr val="2C2821"/>
                </a:solidFill>
                <a:latin typeface="Lora" pitchFamily="34" charset="0"/>
                <a:ea typeface="Lora" pitchFamily="34" charset="-122"/>
                <a:cs typeface="Lora" pitchFamily="34" charset="-120"/>
              </a:rPr>
              <a:t> camera ESP32-CAM </a:t>
            </a:r>
            <a:r>
              <a:rPr lang="en-US" sz="1550" dirty="0" err="1">
                <a:solidFill>
                  <a:srgbClr val="2C2821"/>
                </a:solidFill>
                <a:latin typeface="Lora" pitchFamily="34" charset="0"/>
                <a:ea typeface="Lora" pitchFamily="34" charset="-122"/>
                <a:cs typeface="Lora" pitchFamily="34" charset="-120"/>
              </a:rPr>
              <a:t>để</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thu</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thập</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chụp</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lại</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biển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số</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cần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đăng</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ký</a:t>
            </a:r>
            <a:endParaRPr lang="en-US" sz="1550" dirty="0"/>
          </a:p>
        </p:txBody>
      </p:sp>
      <p:sp>
        <p:nvSpPr>
          <p:cNvPr id="7" name="Text 3"/>
          <p:cNvSpPr/>
          <p:nvPr/>
        </p:nvSpPr>
        <p:spPr>
          <a:xfrm>
            <a:off x="700401" y="2849791"/>
            <a:ext cx="3104912" cy="310158"/>
          </a:xfrm>
          <a:prstGeom prst="rect">
            <a:avLst/>
          </a:prstGeom>
          <a:noFill/>
          <a:ln/>
        </p:spPr>
        <p:txBody>
          <a:bodyPr wrap="none" lIns="0" tIns="0" rIns="0" bIns="0" rtlCol="0" anchor="t"/>
          <a:lstStyle/>
          <a:p>
            <a:pPr marL="0" indent="0" algn="l">
              <a:lnSpc>
                <a:spcPts val="2400"/>
              </a:lnSpc>
              <a:buNone/>
            </a:pPr>
            <a:r>
              <a:rPr lang="en-US" sz="1950" dirty="0">
                <a:solidFill>
                  <a:srgbClr val="2C2821"/>
                </a:solidFill>
                <a:latin typeface="Alice" pitchFamily="34" charset="0"/>
                <a:ea typeface="Alice" pitchFamily="34" charset="-122"/>
                <a:cs typeface="Alice" pitchFamily="34" charset="-120"/>
              </a:rPr>
              <a:t>2. Phát Hiện Biển </a:t>
            </a:r>
            <a:r>
              <a:rPr lang="en-US" sz="1950" dirty="0" err="1">
                <a:solidFill>
                  <a:srgbClr val="2C2821"/>
                </a:solidFill>
                <a:latin typeface="Alice" pitchFamily="34" charset="0"/>
                <a:ea typeface="Alice" pitchFamily="34" charset="-122"/>
                <a:cs typeface="Alice" pitchFamily="34" charset="-120"/>
              </a:rPr>
              <a:t>Số</a:t>
            </a:r>
            <a:r>
              <a:rPr lang="en-US" sz="1950" dirty="0">
                <a:solidFill>
                  <a:srgbClr val="2C2821"/>
                </a:solidFill>
                <a:latin typeface="Alice" pitchFamily="34" charset="0"/>
                <a:ea typeface="Alice" pitchFamily="34" charset="-122"/>
                <a:cs typeface="Alice" pitchFamily="34" charset="-120"/>
              </a:rPr>
              <a:t> </a:t>
            </a:r>
            <a:endParaRPr lang="en-US" sz="1950" dirty="0"/>
          </a:p>
        </p:txBody>
      </p:sp>
      <p:sp>
        <p:nvSpPr>
          <p:cNvPr id="8" name="Text 4"/>
          <p:cNvSpPr/>
          <p:nvPr/>
        </p:nvSpPr>
        <p:spPr>
          <a:xfrm>
            <a:off x="700400" y="3191303"/>
            <a:ext cx="6124694" cy="635079"/>
          </a:xfrm>
          <a:prstGeom prst="rect">
            <a:avLst/>
          </a:prstGeom>
          <a:noFill/>
          <a:ln/>
        </p:spPr>
        <p:txBody>
          <a:bodyPr wrap="square" lIns="0" tIns="0" rIns="0" bIns="0" rtlCol="0" anchor="t"/>
          <a:lstStyle/>
          <a:p>
            <a:pPr marL="0" indent="0" algn="l">
              <a:lnSpc>
                <a:spcPts val="2500"/>
              </a:lnSpc>
              <a:buNone/>
            </a:pPr>
            <a:r>
              <a:rPr lang="en-US" sz="1550" dirty="0">
                <a:solidFill>
                  <a:srgbClr val="2C2821"/>
                </a:solidFill>
                <a:latin typeface="Lora" pitchFamily="34" charset="0"/>
                <a:ea typeface="Lora" pitchFamily="34" charset="-122"/>
                <a:cs typeface="Lora" pitchFamily="34" charset="-120"/>
              </a:rPr>
              <a:t>Mô hình YOLO được sử dụng để nhanh chóng xác định và khoanh vùng chính </a:t>
            </a:r>
            <a:r>
              <a:rPr lang="en-US" sz="1550" dirty="0" err="1">
                <a:solidFill>
                  <a:srgbClr val="2C2821"/>
                </a:solidFill>
                <a:latin typeface="Lora" pitchFamily="34" charset="0"/>
                <a:ea typeface="Lora" pitchFamily="34" charset="-122"/>
                <a:cs typeface="Lora" pitchFamily="34" charset="-120"/>
              </a:rPr>
              <a:t>xác</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khung</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biển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số</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chứa</a:t>
            </a:r>
            <a:r>
              <a:rPr lang="en-US" sz="1550" dirty="0">
                <a:solidFill>
                  <a:srgbClr val="2C2821"/>
                </a:solidFill>
                <a:latin typeface="Lora" pitchFamily="34" charset="0"/>
                <a:ea typeface="Lora" pitchFamily="34" charset="-122"/>
                <a:cs typeface="Lora" pitchFamily="34" charset="-120"/>
              </a:rPr>
              <a:t> biển số trong ảnh.</a:t>
            </a:r>
            <a:endParaRPr lang="en-US" sz="1550" dirty="0"/>
          </a:p>
        </p:txBody>
      </p:sp>
      <p:sp>
        <p:nvSpPr>
          <p:cNvPr id="10" name="Text 5"/>
          <p:cNvSpPr/>
          <p:nvPr/>
        </p:nvSpPr>
        <p:spPr>
          <a:xfrm>
            <a:off x="700399" y="4118480"/>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2C2821"/>
                </a:solidFill>
                <a:latin typeface="Alice" pitchFamily="34" charset="0"/>
                <a:ea typeface="Alice" pitchFamily="34" charset="-122"/>
                <a:cs typeface="Alice" pitchFamily="34" charset="-120"/>
              </a:rPr>
              <a:t>3. </a:t>
            </a:r>
            <a:r>
              <a:rPr lang="en-US" sz="1950" dirty="0" err="1">
                <a:solidFill>
                  <a:srgbClr val="2C2821"/>
                </a:solidFill>
                <a:latin typeface="Alice" pitchFamily="34" charset="0"/>
                <a:ea typeface="Alice" pitchFamily="34" charset="-122"/>
                <a:cs typeface="Alice" pitchFamily="34" charset="-120"/>
              </a:rPr>
              <a:t>Nhận</a:t>
            </a:r>
            <a:r>
              <a:rPr lang="en-US" sz="1950" dirty="0">
                <a:solidFill>
                  <a:srgbClr val="2C2821"/>
                </a:solidFill>
                <a:latin typeface="Alice" pitchFamily="34" charset="0"/>
                <a:ea typeface="Alice" pitchFamily="34" charset="-122"/>
                <a:cs typeface="Alice" pitchFamily="34" charset="-120"/>
              </a:rPr>
              <a:t> </a:t>
            </a:r>
            <a:r>
              <a:rPr lang="en-US" sz="1950" dirty="0" err="1">
                <a:solidFill>
                  <a:srgbClr val="2C2821"/>
                </a:solidFill>
                <a:latin typeface="Alice" pitchFamily="34" charset="0"/>
                <a:ea typeface="Alice" pitchFamily="34" charset="-122"/>
                <a:cs typeface="Alice" pitchFamily="34" charset="-120"/>
              </a:rPr>
              <a:t>diện</a:t>
            </a:r>
            <a:r>
              <a:rPr lang="en-US" sz="1950" dirty="0">
                <a:solidFill>
                  <a:srgbClr val="2C2821"/>
                </a:solidFill>
                <a:latin typeface="Alice" pitchFamily="34" charset="0"/>
                <a:ea typeface="Alice" pitchFamily="34" charset="-122"/>
                <a:cs typeface="Alice" pitchFamily="34" charset="-120"/>
              </a:rPr>
              <a:t> </a:t>
            </a:r>
            <a:r>
              <a:rPr lang="en-US" sz="1950" dirty="0" err="1">
                <a:solidFill>
                  <a:srgbClr val="2C2821"/>
                </a:solidFill>
                <a:latin typeface="Alice" pitchFamily="34" charset="0"/>
                <a:ea typeface="Alice" pitchFamily="34" charset="-122"/>
                <a:cs typeface="Alice" pitchFamily="34" charset="-120"/>
              </a:rPr>
              <a:t>ký</a:t>
            </a:r>
            <a:r>
              <a:rPr lang="en-US" sz="1950" dirty="0">
                <a:solidFill>
                  <a:srgbClr val="2C2821"/>
                </a:solidFill>
                <a:latin typeface="Alice" pitchFamily="34" charset="0"/>
                <a:ea typeface="Alice" pitchFamily="34" charset="-122"/>
                <a:cs typeface="Alice" pitchFamily="34" charset="-120"/>
              </a:rPr>
              <a:t> </a:t>
            </a:r>
            <a:r>
              <a:rPr lang="en-US" sz="1950" dirty="0" err="1">
                <a:solidFill>
                  <a:srgbClr val="2C2821"/>
                </a:solidFill>
                <a:latin typeface="Alice" pitchFamily="34" charset="0"/>
                <a:ea typeface="Alice" pitchFamily="34" charset="-122"/>
                <a:cs typeface="Alice" pitchFamily="34" charset="-120"/>
              </a:rPr>
              <a:t>tự</a:t>
            </a:r>
            <a:endParaRPr lang="en-US" sz="1950" dirty="0"/>
          </a:p>
        </p:txBody>
      </p:sp>
      <p:sp>
        <p:nvSpPr>
          <p:cNvPr id="11" name="Text 6"/>
          <p:cNvSpPr/>
          <p:nvPr/>
        </p:nvSpPr>
        <p:spPr>
          <a:xfrm>
            <a:off x="700399" y="4515163"/>
            <a:ext cx="6124694" cy="635079"/>
          </a:xfrm>
          <a:prstGeom prst="rect">
            <a:avLst/>
          </a:prstGeom>
          <a:noFill/>
          <a:ln/>
        </p:spPr>
        <p:txBody>
          <a:bodyPr wrap="square" lIns="0" tIns="0" rIns="0" bIns="0" rtlCol="0" anchor="t"/>
          <a:lstStyle/>
          <a:p>
            <a:pPr marL="0" indent="0" algn="l">
              <a:lnSpc>
                <a:spcPts val="2500"/>
              </a:lnSpc>
              <a:buNone/>
            </a:pPr>
            <a:r>
              <a:rPr lang="en-US" sz="1550" dirty="0" err="1">
                <a:solidFill>
                  <a:srgbClr val="2C2821"/>
                </a:solidFill>
                <a:latin typeface="Lora" pitchFamily="34" charset="0"/>
                <a:ea typeface="Lora" pitchFamily="34" charset="-122"/>
                <a:cs typeface="Lora" pitchFamily="34" charset="-120"/>
              </a:rPr>
              <a:t>Ảnh</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chứa</a:t>
            </a:r>
            <a:r>
              <a:rPr lang="en-US" sz="1550" dirty="0">
                <a:solidFill>
                  <a:srgbClr val="2C2821"/>
                </a:solidFill>
                <a:latin typeface="Lora" pitchFamily="34" charset="0"/>
                <a:ea typeface="Lora" pitchFamily="34" charset="-122"/>
                <a:cs typeface="Lora" pitchFamily="34" charset="-120"/>
              </a:rPr>
              <a:t> biển số được cắt, </a:t>
            </a:r>
            <a:r>
              <a:rPr lang="en-US" sz="1550" dirty="0" err="1">
                <a:solidFill>
                  <a:srgbClr val="2C2821"/>
                </a:solidFill>
                <a:latin typeface="Lora" pitchFamily="34" charset="0"/>
                <a:ea typeface="Lora" pitchFamily="34" charset="-122"/>
                <a:cs typeface="Lora" pitchFamily="34" charset="-120"/>
              </a:rPr>
              <a:t>sau</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đó</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sử</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dụng</a:t>
            </a:r>
            <a:r>
              <a:rPr lang="en-US" sz="1550" dirty="0">
                <a:solidFill>
                  <a:srgbClr val="2C2821"/>
                </a:solidFill>
                <a:latin typeface="Lora" pitchFamily="34" charset="0"/>
                <a:ea typeface="Lora" pitchFamily="34" charset="-122"/>
                <a:cs typeface="Lora" pitchFamily="34" charset="-120"/>
              </a:rPr>
              <a:t> model </a:t>
            </a:r>
            <a:r>
              <a:rPr lang="en-US" sz="1550" dirty="0" err="1">
                <a:solidFill>
                  <a:srgbClr val="2C2821"/>
                </a:solidFill>
                <a:latin typeface="Lora" pitchFamily="34" charset="0"/>
                <a:ea typeface="Lora" pitchFamily="34" charset="-122"/>
                <a:cs typeface="Lora" pitchFamily="34" charset="-120"/>
              </a:rPr>
              <a:t>đã</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được</a:t>
            </a:r>
            <a:r>
              <a:rPr lang="en-US" sz="1550" dirty="0">
                <a:solidFill>
                  <a:srgbClr val="2C2821"/>
                </a:solidFill>
                <a:latin typeface="Lora" pitchFamily="34" charset="0"/>
                <a:ea typeface="Lora" pitchFamily="34" charset="-122"/>
                <a:cs typeface="Lora" pitchFamily="34" charset="-120"/>
              </a:rPr>
              <a:t> training </a:t>
            </a:r>
            <a:r>
              <a:rPr lang="en-US" sz="1550" dirty="0" err="1">
                <a:solidFill>
                  <a:srgbClr val="2C2821"/>
                </a:solidFill>
                <a:latin typeface="Lora" pitchFamily="34" charset="0"/>
                <a:ea typeface="Lora" pitchFamily="34" charset="-122"/>
                <a:cs typeface="Lora" pitchFamily="34" charset="-120"/>
              </a:rPr>
              <a:t>để</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nhận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diện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các</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ký</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tự</a:t>
            </a:r>
            <a:r>
              <a:rPr lang="en-US" sz="1550" dirty="0">
                <a:solidFill>
                  <a:srgbClr val="2C2821"/>
                </a:solidFill>
                <a:latin typeface="Lora" pitchFamily="34" charset="0"/>
                <a:ea typeface="Lora" pitchFamily="34" charset="-122"/>
                <a:cs typeface="Lora" pitchFamily="34" charset="-120"/>
              </a:rPr>
              <a:t> (~~ 36 </a:t>
            </a:r>
            <a:r>
              <a:rPr lang="en-US" sz="1550" dirty="0" err="1">
                <a:solidFill>
                  <a:srgbClr val="2C2821"/>
                </a:solidFill>
                <a:latin typeface="Lora" pitchFamily="34" charset="0"/>
                <a:ea typeface="Lora" pitchFamily="34" charset="-122"/>
                <a:cs typeface="Lora" pitchFamily="34" charset="-120"/>
              </a:rPr>
              <a:t>ký</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tự</a:t>
            </a:r>
            <a:r>
              <a:rPr lang="en-US" sz="1550" dirty="0">
                <a:solidFill>
                  <a:srgbClr val="2C2821"/>
                </a:solidFill>
                <a:latin typeface="Lora" pitchFamily="34" charset="0"/>
                <a:ea typeface="Lora" pitchFamily="34" charset="-122"/>
                <a:cs typeface="Lora" pitchFamily="34" charset="-120"/>
              </a:rPr>
              <a:t>)</a:t>
            </a:r>
            <a:endParaRPr lang="en-US" sz="1550" dirty="0"/>
          </a:p>
        </p:txBody>
      </p:sp>
      <p:sp>
        <p:nvSpPr>
          <p:cNvPr id="13" name="Text 7"/>
          <p:cNvSpPr/>
          <p:nvPr/>
        </p:nvSpPr>
        <p:spPr>
          <a:xfrm>
            <a:off x="700398" y="5561699"/>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2C2821"/>
                </a:solidFill>
                <a:latin typeface="Alice" pitchFamily="34" charset="0"/>
                <a:ea typeface="Alice" pitchFamily="34" charset="-122"/>
                <a:cs typeface="Alice" pitchFamily="34" charset="-120"/>
              </a:rPr>
              <a:t>4. Hiển </a:t>
            </a:r>
            <a:r>
              <a:rPr lang="en-US" sz="1950" dirty="0" err="1">
                <a:solidFill>
                  <a:srgbClr val="2C2821"/>
                </a:solidFill>
                <a:latin typeface="Alice" pitchFamily="34" charset="0"/>
                <a:ea typeface="Alice" pitchFamily="34" charset="-122"/>
                <a:cs typeface="Alice" pitchFamily="34" charset="-120"/>
              </a:rPr>
              <a:t>thị</a:t>
            </a:r>
            <a:r>
              <a:rPr lang="en-US" sz="1950" dirty="0">
                <a:solidFill>
                  <a:srgbClr val="2C2821"/>
                </a:solidFill>
                <a:latin typeface="Alice" pitchFamily="34" charset="0"/>
                <a:ea typeface="Alice" pitchFamily="34" charset="-122"/>
                <a:cs typeface="Alice" pitchFamily="34" charset="-120"/>
              </a:rPr>
              <a:t> </a:t>
            </a:r>
            <a:r>
              <a:rPr lang="en-US" sz="1950" dirty="0" err="1">
                <a:solidFill>
                  <a:srgbClr val="2C2821"/>
                </a:solidFill>
                <a:latin typeface="Alice" pitchFamily="34" charset="0"/>
                <a:ea typeface="Alice" pitchFamily="34" charset="-122"/>
                <a:cs typeface="Alice" pitchFamily="34" charset="-120"/>
              </a:rPr>
              <a:t>kết</a:t>
            </a:r>
            <a:r>
              <a:rPr lang="en-US" sz="1950" dirty="0">
                <a:solidFill>
                  <a:srgbClr val="2C2821"/>
                </a:solidFill>
                <a:latin typeface="Alice" pitchFamily="34" charset="0"/>
                <a:ea typeface="Alice" pitchFamily="34" charset="-122"/>
                <a:cs typeface="Alice" pitchFamily="34" charset="-120"/>
              </a:rPr>
              <a:t> </a:t>
            </a:r>
            <a:r>
              <a:rPr lang="en-US" sz="1950" dirty="0" err="1">
                <a:solidFill>
                  <a:srgbClr val="2C2821"/>
                </a:solidFill>
                <a:latin typeface="Alice" pitchFamily="34" charset="0"/>
                <a:ea typeface="Alice" pitchFamily="34" charset="-122"/>
                <a:cs typeface="Alice" pitchFamily="34" charset="-120"/>
              </a:rPr>
              <a:t>quả</a:t>
            </a:r>
            <a:endParaRPr lang="en-US" sz="1950" dirty="0"/>
          </a:p>
        </p:txBody>
      </p:sp>
      <p:sp>
        <p:nvSpPr>
          <p:cNvPr id="14" name="Text 8"/>
          <p:cNvSpPr/>
          <p:nvPr/>
        </p:nvSpPr>
        <p:spPr>
          <a:xfrm>
            <a:off x="700398" y="6012988"/>
            <a:ext cx="6124694" cy="635079"/>
          </a:xfrm>
          <a:prstGeom prst="rect">
            <a:avLst/>
          </a:prstGeom>
          <a:noFill/>
          <a:ln/>
        </p:spPr>
        <p:txBody>
          <a:bodyPr wrap="square" lIns="0" tIns="0" rIns="0" bIns="0" rtlCol="0" anchor="t"/>
          <a:lstStyle/>
          <a:p>
            <a:pPr marL="0" indent="0" algn="l">
              <a:lnSpc>
                <a:spcPts val="2500"/>
              </a:lnSpc>
              <a:buNone/>
            </a:pPr>
            <a:r>
              <a:rPr lang="en-US" sz="1550" dirty="0" err="1">
                <a:solidFill>
                  <a:srgbClr val="2C2821"/>
                </a:solidFill>
                <a:latin typeface="Lora" pitchFamily="34" charset="0"/>
                <a:ea typeface="Lora" pitchFamily="34" charset="-122"/>
                <a:cs typeface="Lora" pitchFamily="34" charset="-120"/>
              </a:rPr>
              <a:t>Kết</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quả</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được</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phát</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hiện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sẽ</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được</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hiển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thị</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trực</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tiếp</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trên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màn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hình</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bên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cạnh</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khung</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phát</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hiện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biển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số</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lúc</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này</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người</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đăng</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ký</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có</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thể</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gửi</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đơn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để</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đăng</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ký</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với</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biển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số</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xe</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đã</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được</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phát</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hiện</a:t>
            </a:r>
            <a:endParaRPr lang="en-US" sz="1550" dirty="0"/>
          </a:p>
        </p:txBody>
      </p:sp>
      <p:pic>
        <p:nvPicPr>
          <p:cNvPr id="16" name="Picture 15">
            <a:extLst>
              <a:ext uri="{FF2B5EF4-FFF2-40B4-BE49-F238E27FC236}">
                <a16:creationId xmlns:a16="http://schemas.microsoft.com/office/drawing/2014/main" id="{6C7CCFF8-2AA8-0450-4CFD-FAF990FE1CAE}"/>
              </a:ext>
            </a:extLst>
          </p:cNvPr>
          <p:cNvPicPr>
            <a:picLocks noChangeAspect="1"/>
          </p:cNvPicPr>
          <p:nvPr/>
        </p:nvPicPr>
        <p:blipFill>
          <a:blip r:embed="rId3"/>
          <a:stretch>
            <a:fillRect/>
          </a:stretch>
        </p:blipFill>
        <p:spPr>
          <a:xfrm>
            <a:off x="11096132" y="7038809"/>
            <a:ext cx="3534268" cy="1190791"/>
          </a:xfrm>
          <a:prstGeom prst="rect">
            <a:avLst/>
          </a:prstGeom>
        </p:spPr>
      </p:pic>
      <p:pic>
        <p:nvPicPr>
          <p:cNvPr id="12" name="Picture 11">
            <a:extLst>
              <a:ext uri="{FF2B5EF4-FFF2-40B4-BE49-F238E27FC236}">
                <a16:creationId xmlns:a16="http://schemas.microsoft.com/office/drawing/2014/main" id="{BE301788-29AE-BC14-B0EA-00F4CEB757C4}"/>
              </a:ext>
            </a:extLst>
          </p:cNvPr>
          <p:cNvPicPr>
            <a:picLocks noChangeAspect="1"/>
          </p:cNvPicPr>
          <p:nvPr/>
        </p:nvPicPr>
        <p:blipFill>
          <a:blip r:embed="rId4"/>
          <a:stretch>
            <a:fillRect/>
          </a:stretch>
        </p:blipFill>
        <p:spPr>
          <a:xfrm>
            <a:off x="7987553" y="895158"/>
            <a:ext cx="6511059" cy="724001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305018" y="413518"/>
            <a:ext cx="5876211" cy="620078"/>
          </a:xfrm>
          <a:prstGeom prst="rect">
            <a:avLst/>
          </a:prstGeom>
          <a:noFill/>
          <a:ln/>
        </p:spPr>
        <p:txBody>
          <a:bodyPr wrap="none" lIns="0" tIns="0" rIns="0" bIns="0" rtlCol="0" anchor="t"/>
          <a:lstStyle/>
          <a:p>
            <a:pPr marL="0" indent="0" algn="l">
              <a:lnSpc>
                <a:spcPts val="4850"/>
              </a:lnSpc>
              <a:buNone/>
            </a:pPr>
            <a:r>
              <a:rPr lang="en-US" sz="2000" dirty="0" err="1">
                <a:solidFill>
                  <a:srgbClr val="233E32"/>
                </a:solidFill>
                <a:latin typeface="Alice" pitchFamily="34" charset="0"/>
                <a:ea typeface="Alice" pitchFamily="34" charset="-122"/>
              </a:rPr>
              <a:t>Chuẩn</a:t>
            </a:r>
            <a:r>
              <a:rPr lang="en-US" sz="2000" dirty="0">
                <a:solidFill>
                  <a:srgbClr val="233E32"/>
                </a:solidFill>
                <a:latin typeface="Alice" pitchFamily="34" charset="0"/>
                <a:ea typeface="Alice" pitchFamily="34" charset="-122"/>
              </a:rPr>
              <a:t> </a:t>
            </a:r>
            <a:r>
              <a:rPr lang="en-US" sz="2000" dirty="0" err="1">
                <a:solidFill>
                  <a:srgbClr val="233E32"/>
                </a:solidFill>
                <a:latin typeface="Alice" pitchFamily="34" charset="0"/>
                <a:ea typeface="Alice" pitchFamily="34" charset="-122"/>
              </a:rPr>
              <a:t>bị</a:t>
            </a:r>
            <a:r>
              <a:rPr lang="en-US" sz="2000" dirty="0">
                <a:solidFill>
                  <a:srgbClr val="233E32"/>
                </a:solidFill>
                <a:latin typeface="Alice" pitchFamily="34" charset="0"/>
                <a:ea typeface="Alice" pitchFamily="34" charset="-122"/>
              </a:rPr>
              <a:t> </a:t>
            </a:r>
            <a:r>
              <a:rPr lang="en-US" sz="2000" dirty="0" err="1">
                <a:solidFill>
                  <a:srgbClr val="233E32"/>
                </a:solidFill>
                <a:latin typeface="Alice" pitchFamily="34" charset="0"/>
                <a:ea typeface="Alice" pitchFamily="34" charset="-122"/>
              </a:rPr>
              <a:t>bộ</a:t>
            </a:r>
            <a:r>
              <a:rPr lang="en-US" sz="2000" dirty="0">
                <a:solidFill>
                  <a:srgbClr val="233E32"/>
                </a:solidFill>
                <a:latin typeface="Alice" pitchFamily="34" charset="0"/>
                <a:ea typeface="Alice" pitchFamily="34" charset="-122"/>
              </a:rPr>
              <a:t> </a:t>
            </a:r>
            <a:r>
              <a:rPr lang="en-US" sz="2000" dirty="0" err="1">
                <a:solidFill>
                  <a:srgbClr val="233E32"/>
                </a:solidFill>
                <a:latin typeface="Alice" pitchFamily="34" charset="0"/>
                <a:ea typeface="Alice" pitchFamily="34" charset="-122"/>
              </a:rPr>
              <a:t>dữ</a:t>
            </a:r>
            <a:r>
              <a:rPr lang="en-US" sz="2000" dirty="0">
                <a:solidFill>
                  <a:srgbClr val="233E32"/>
                </a:solidFill>
                <a:latin typeface="Alice" pitchFamily="34" charset="0"/>
                <a:ea typeface="Alice" pitchFamily="34" charset="-122"/>
              </a:rPr>
              <a:t> </a:t>
            </a:r>
            <a:r>
              <a:rPr lang="en-US" sz="2000" dirty="0" err="1">
                <a:solidFill>
                  <a:srgbClr val="233E32"/>
                </a:solidFill>
                <a:latin typeface="Alice" pitchFamily="34" charset="0"/>
                <a:ea typeface="Alice" pitchFamily="34" charset="-122"/>
              </a:rPr>
              <a:t>liệu</a:t>
            </a:r>
            <a:r>
              <a:rPr lang="en-US" sz="2000" dirty="0">
                <a:solidFill>
                  <a:srgbClr val="233E32"/>
                </a:solidFill>
                <a:latin typeface="Alice" pitchFamily="34" charset="0"/>
                <a:ea typeface="Alice" pitchFamily="34" charset="-122"/>
              </a:rPr>
              <a:t> </a:t>
            </a:r>
            <a:r>
              <a:rPr lang="en-US" sz="2000" dirty="0" err="1">
                <a:solidFill>
                  <a:srgbClr val="233E32"/>
                </a:solidFill>
                <a:latin typeface="Alice" pitchFamily="34" charset="0"/>
                <a:ea typeface="Alice" pitchFamily="34" charset="-122"/>
              </a:rPr>
              <a:t>huấn</a:t>
            </a:r>
            <a:r>
              <a:rPr lang="en-US" sz="2000" dirty="0">
                <a:solidFill>
                  <a:srgbClr val="233E32"/>
                </a:solidFill>
                <a:latin typeface="Alice" pitchFamily="34" charset="0"/>
                <a:ea typeface="Alice" pitchFamily="34" charset="-122"/>
              </a:rPr>
              <a:t> </a:t>
            </a:r>
            <a:r>
              <a:rPr lang="en-US" sz="2000" dirty="0" err="1">
                <a:solidFill>
                  <a:srgbClr val="233E32"/>
                </a:solidFill>
                <a:latin typeface="Alice" pitchFamily="34" charset="0"/>
                <a:ea typeface="Alice" pitchFamily="34" charset="-122"/>
              </a:rPr>
              <a:t>luyện</a:t>
            </a:r>
            <a:endParaRPr lang="en-US" sz="2000" dirty="0"/>
          </a:p>
        </p:txBody>
      </p:sp>
      <p:sp>
        <p:nvSpPr>
          <p:cNvPr id="3" name="Text 1"/>
          <p:cNvSpPr/>
          <p:nvPr/>
        </p:nvSpPr>
        <p:spPr>
          <a:xfrm>
            <a:off x="820707" y="899604"/>
            <a:ext cx="13042821" cy="635079"/>
          </a:xfrm>
          <a:prstGeom prst="rect">
            <a:avLst/>
          </a:prstGeom>
          <a:noFill/>
          <a:ln/>
        </p:spPr>
        <p:txBody>
          <a:bodyPr wrap="square" lIns="0" tIns="0" rIns="0" bIns="0" rtlCol="0" anchor="t"/>
          <a:lstStyle/>
          <a:p>
            <a:pPr marL="0" indent="0" algn="ctr">
              <a:lnSpc>
                <a:spcPts val="2500"/>
              </a:lnSpc>
              <a:buNone/>
            </a:pPr>
            <a:r>
              <a:rPr lang="en-US" sz="1550" dirty="0" err="1">
                <a:solidFill>
                  <a:srgbClr val="2C2821"/>
                </a:solidFill>
                <a:latin typeface="Lora" pitchFamily="34" charset="0"/>
                <a:ea typeface="Lora" pitchFamily="34" charset="-122"/>
                <a:cs typeface="Lora" pitchFamily="34" charset="-120"/>
              </a:rPr>
              <a:t>Bộ</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dữ</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liệu</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huấn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luyện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được</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lấy</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từ</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các</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mã</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nguồn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mở</a:t>
            </a:r>
            <a:r>
              <a:rPr lang="en-US" sz="1550" dirty="0">
                <a:solidFill>
                  <a:srgbClr val="2C2821"/>
                </a:solidFill>
                <a:latin typeface="Lora" pitchFamily="34" charset="0"/>
                <a:ea typeface="Lora" pitchFamily="34" charset="-122"/>
                <a:cs typeface="Lora" pitchFamily="34" charset="-120"/>
              </a:rPr>
              <a:t>, phi </a:t>
            </a:r>
            <a:r>
              <a:rPr lang="en-US" sz="1550" dirty="0" err="1">
                <a:solidFill>
                  <a:srgbClr val="2C2821"/>
                </a:solidFill>
                <a:latin typeface="Lora" pitchFamily="34" charset="0"/>
                <a:ea typeface="Lora" pitchFamily="34" charset="-122"/>
                <a:cs typeface="Lora" pitchFamily="34" charset="-120"/>
              </a:rPr>
              <a:t>lợi</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nhuận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cho</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người</a:t>
            </a:r>
            <a:r>
              <a:rPr lang="en-US" sz="1550" dirty="0">
                <a:solidFill>
                  <a:srgbClr val="2C2821"/>
                </a:solidFill>
                <a:latin typeface="Lora" pitchFamily="34" charset="0"/>
                <a:ea typeface="Lora" pitchFamily="34" charset="-122"/>
                <a:cs typeface="Lora" pitchFamily="34" charset="-120"/>
              </a:rPr>
              <a:t> dung </a:t>
            </a:r>
            <a:r>
              <a:rPr lang="en-US" sz="1550" dirty="0" err="1">
                <a:solidFill>
                  <a:srgbClr val="2C2821"/>
                </a:solidFill>
                <a:latin typeface="Lora" pitchFamily="34" charset="0"/>
                <a:ea typeface="Lora" pitchFamily="34" charset="-122"/>
                <a:cs typeface="Lora" pitchFamily="34" charset="-120"/>
              </a:rPr>
              <a:t>có</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thể</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tham</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khảo</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và</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sử</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dụng</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một</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cách</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miễn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phí</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cho</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mục</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đích</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cá</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nhân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sẽ</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có</a:t>
            </a:r>
            <a:r>
              <a:rPr lang="en-US" sz="1550" dirty="0">
                <a:solidFill>
                  <a:srgbClr val="2C2821"/>
                </a:solidFill>
                <a:latin typeface="Lora" pitchFamily="34" charset="0"/>
                <a:ea typeface="Lora" pitchFamily="34" charset="-122"/>
                <a:cs typeface="Lora" pitchFamily="34" charset="-120"/>
              </a:rPr>
              <a:t> 2 </a:t>
            </a:r>
            <a:r>
              <a:rPr lang="en-US" sz="1550" dirty="0" err="1">
                <a:solidFill>
                  <a:srgbClr val="2C2821"/>
                </a:solidFill>
                <a:latin typeface="Lora" pitchFamily="34" charset="0"/>
                <a:ea typeface="Lora" pitchFamily="34" charset="-122"/>
                <a:cs typeface="Lora" pitchFamily="34" charset="-120"/>
              </a:rPr>
              <a:t>bộ</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dữ</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liệu</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chính</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được</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dùng</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để</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huấn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luyện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mô</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hình</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nhận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diện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khung</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biển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số</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và</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ký</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tự</a:t>
            </a:r>
            <a:endParaRPr lang="en-US" sz="1550" dirty="0">
              <a:solidFill>
                <a:srgbClr val="2C2821"/>
              </a:solidFill>
              <a:latin typeface="Lora" pitchFamily="34" charset="0"/>
              <a:ea typeface="Lora" pitchFamily="34" charset="-122"/>
              <a:cs typeface="Lora" pitchFamily="34" charset="-120"/>
            </a:endParaRPr>
          </a:p>
          <a:p>
            <a:pPr marL="0" indent="0" algn="ctr">
              <a:lnSpc>
                <a:spcPts val="2500"/>
              </a:lnSpc>
              <a:buNone/>
            </a:pPr>
            <a:r>
              <a:rPr lang="en-US" sz="1550" dirty="0">
                <a:solidFill>
                  <a:srgbClr val="2C2821"/>
                </a:solidFill>
                <a:latin typeface="Lora" pitchFamily="34" charset="0"/>
                <a:ea typeface="Lora" pitchFamily="34" charset="-122"/>
                <a:cs typeface="Lora" pitchFamily="34" charset="-120"/>
              </a:rPr>
              <a:t>VD: file </a:t>
            </a:r>
            <a:r>
              <a:rPr lang="en-US" sz="1550" dirty="0" err="1">
                <a:solidFill>
                  <a:srgbClr val="2C2821"/>
                </a:solidFill>
                <a:latin typeface="Lora" pitchFamily="34" charset="0"/>
                <a:ea typeface="Lora" pitchFamily="34" charset="-122"/>
                <a:cs typeface="Lora" pitchFamily="34" charset="-120"/>
              </a:rPr>
              <a:t>ảnh</a:t>
            </a:r>
            <a:r>
              <a:rPr lang="en-US" sz="1550" dirty="0">
                <a:solidFill>
                  <a:srgbClr val="2C2821"/>
                </a:solidFill>
                <a:latin typeface="Lora" pitchFamily="34" charset="0"/>
                <a:ea typeface="Lora" pitchFamily="34" charset="-122"/>
                <a:cs typeface="Lora" pitchFamily="34" charset="-120"/>
              </a:rPr>
              <a:t> 3xemay747.jpg </a:t>
            </a:r>
            <a:r>
              <a:rPr lang="en-US" sz="1550" dirty="0" err="1">
                <a:solidFill>
                  <a:srgbClr val="2C2821"/>
                </a:solidFill>
                <a:latin typeface="Lora" pitchFamily="34" charset="0"/>
                <a:ea typeface="Lora" pitchFamily="34" charset="-122"/>
                <a:cs typeface="Lora" pitchFamily="34" charset="-120"/>
              </a:rPr>
              <a:t>và</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nội</a:t>
            </a:r>
            <a:r>
              <a:rPr lang="en-US" sz="1550" dirty="0">
                <a:solidFill>
                  <a:srgbClr val="2C2821"/>
                </a:solidFill>
                <a:latin typeface="Lora" pitchFamily="34" charset="0"/>
                <a:ea typeface="Lora" pitchFamily="34" charset="-122"/>
                <a:cs typeface="Lora" pitchFamily="34" charset="-120"/>
              </a:rPr>
              <a:t> dung </a:t>
            </a:r>
            <a:r>
              <a:rPr lang="en-US" sz="1550" dirty="0" err="1">
                <a:solidFill>
                  <a:srgbClr val="2C2821"/>
                </a:solidFill>
                <a:latin typeface="Lora" pitchFamily="34" charset="0"/>
                <a:ea typeface="Lora" pitchFamily="34" charset="-122"/>
                <a:cs typeface="Lora" pitchFamily="34" charset="-120"/>
              </a:rPr>
              <a:t>đánh</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nhãn</a:t>
            </a:r>
            <a:r>
              <a:rPr lang="en-US" sz="1550" dirty="0">
                <a:solidFill>
                  <a:srgbClr val="2C2821"/>
                </a:solidFill>
                <a:latin typeface="Lora" pitchFamily="34" charset="0"/>
                <a:ea typeface="Lora" pitchFamily="34" charset="-122"/>
                <a:cs typeface="Lora" pitchFamily="34" charset="-120"/>
              </a:rPr>
              <a:t> 3xemay747.txt</a:t>
            </a:r>
          </a:p>
          <a:p>
            <a:pPr marL="0" indent="0" algn="ctr">
              <a:lnSpc>
                <a:spcPts val="2500"/>
              </a:lnSpc>
              <a:buNone/>
            </a:pPr>
            <a:endParaRPr lang="en-US" sz="1550" dirty="0"/>
          </a:p>
        </p:txBody>
      </p:sp>
      <p:pic>
        <p:nvPicPr>
          <p:cNvPr id="7" name="Picture 6">
            <a:extLst>
              <a:ext uri="{FF2B5EF4-FFF2-40B4-BE49-F238E27FC236}">
                <a16:creationId xmlns:a16="http://schemas.microsoft.com/office/drawing/2014/main" id="{464E73A5-15B5-D477-16E0-392EEA7109D9}"/>
              </a:ext>
            </a:extLst>
          </p:cNvPr>
          <p:cNvPicPr>
            <a:picLocks noChangeAspect="1"/>
          </p:cNvPicPr>
          <p:nvPr/>
        </p:nvPicPr>
        <p:blipFill>
          <a:blip r:embed="rId3"/>
          <a:stretch>
            <a:fillRect/>
          </a:stretch>
        </p:blipFill>
        <p:spPr>
          <a:xfrm>
            <a:off x="7611035" y="1972495"/>
            <a:ext cx="6763871" cy="5434145"/>
          </a:xfrm>
          <a:prstGeom prst="rect">
            <a:avLst/>
          </a:prstGeom>
        </p:spPr>
      </p:pic>
      <p:pic>
        <p:nvPicPr>
          <p:cNvPr id="5" name="Picture 4">
            <a:extLst>
              <a:ext uri="{FF2B5EF4-FFF2-40B4-BE49-F238E27FC236}">
                <a16:creationId xmlns:a16="http://schemas.microsoft.com/office/drawing/2014/main" id="{37961FBC-3991-79EB-2398-76F199875ABD}"/>
              </a:ext>
            </a:extLst>
          </p:cNvPr>
          <p:cNvPicPr>
            <a:picLocks noChangeAspect="1"/>
          </p:cNvPicPr>
          <p:nvPr/>
        </p:nvPicPr>
        <p:blipFill>
          <a:blip r:embed="rId4"/>
          <a:stretch>
            <a:fillRect/>
          </a:stretch>
        </p:blipFill>
        <p:spPr>
          <a:xfrm>
            <a:off x="255494" y="1990165"/>
            <a:ext cx="7106642" cy="5434146"/>
          </a:xfrm>
          <a:prstGeom prst="rect">
            <a:avLst/>
          </a:prstGeom>
        </p:spPr>
      </p:pic>
      <p:sp>
        <p:nvSpPr>
          <p:cNvPr id="9" name="TextBox 8">
            <a:extLst>
              <a:ext uri="{FF2B5EF4-FFF2-40B4-BE49-F238E27FC236}">
                <a16:creationId xmlns:a16="http://schemas.microsoft.com/office/drawing/2014/main" id="{ED317842-7151-5BDA-8E0F-46F9380E5DE9}"/>
              </a:ext>
            </a:extLst>
          </p:cNvPr>
          <p:cNvSpPr txBox="1"/>
          <p:nvPr/>
        </p:nvSpPr>
        <p:spPr>
          <a:xfrm>
            <a:off x="26918" y="71056"/>
            <a:ext cx="7315200" cy="535531"/>
          </a:xfrm>
          <a:prstGeom prst="rect">
            <a:avLst/>
          </a:prstGeom>
          <a:noFill/>
        </p:spPr>
        <p:txBody>
          <a:bodyPr wrap="square">
            <a:spAutoFit/>
          </a:bodyPr>
          <a:lstStyle/>
          <a:p>
            <a:pPr marL="0" indent="0" defTabSz="1097280">
              <a:lnSpc>
                <a:spcPct val="90000"/>
              </a:lnSpc>
              <a:spcBef>
                <a:spcPct val="0"/>
              </a:spcBef>
              <a:spcAft>
                <a:spcPts val="600"/>
              </a:spcAft>
            </a:pPr>
            <a:r>
              <a:rPr lang="en-US" sz="3200" b="1" kern="1200" dirty="0">
                <a:latin typeface="+mj-lt"/>
                <a:ea typeface="+mj-ea"/>
                <a:cs typeface="+mj-cs"/>
              </a:rPr>
              <a:t>3. </a:t>
            </a:r>
            <a:r>
              <a:rPr lang="en-US" sz="3200" b="1" dirty="0" err="1">
                <a:latin typeface="+mj-lt"/>
                <a:ea typeface="+mj-ea"/>
                <a:cs typeface="+mj-cs"/>
              </a:rPr>
              <a:t>Quá</a:t>
            </a:r>
            <a:r>
              <a:rPr lang="en-US" sz="3200" b="1" dirty="0">
                <a:latin typeface="+mj-lt"/>
                <a:ea typeface="+mj-ea"/>
                <a:cs typeface="+mj-cs"/>
              </a:rPr>
              <a:t> </a:t>
            </a:r>
            <a:r>
              <a:rPr lang="en-US" sz="3200" b="1" kern="1200" dirty="0" err="1">
                <a:latin typeface="+mj-lt"/>
                <a:ea typeface="+mj-ea"/>
                <a:cs typeface="+mj-cs"/>
              </a:rPr>
              <a:t>trình</a:t>
            </a:r>
            <a:r>
              <a:rPr lang="en-US" sz="3200" b="1" kern="1200" dirty="0">
                <a:latin typeface="+mj-lt"/>
                <a:ea typeface="+mj-ea"/>
                <a:cs typeface="+mj-cs"/>
              </a:rPr>
              <a:t> </a:t>
            </a:r>
            <a:r>
              <a:rPr lang="en-US" sz="3200" b="1" kern="1200" dirty="0" err="1">
                <a:latin typeface="+mj-lt"/>
                <a:ea typeface="+mj-ea"/>
                <a:cs typeface="+mj-cs"/>
              </a:rPr>
              <a:t>huấn</a:t>
            </a:r>
            <a:r>
              <a:rPr lang="en-US" sz="3200" b="1" kern="1200" dirty="0">
                <a:latin typeface="+mj-lt"/>
                <a:ea typeface="+mj-ea"/>
                <a:cs typeface="+mj-cs"/>
              </a:rPr>
              <a:t> </a:t>
            </a:r>
            <a:r>
              <a:rPr lang="en-US" sz="3200" b="1" kern="1200" dirty="0" err="1">
                <a:latin typeface="+mj-lt"/>
                <a:ea typeface="+mj-ea"/>
                <a:cs typeface="+mj-cs"/>
              </a:rPr>
              <a:t>luyện</a:t>
            </a:r>
            <a:endParaRPr lang="en-US" sz="3200" b="1" kern="1200" dirty="0">
              <a:latin typeface="+mj-lt"/>
              <a:ea typeface="+mj-ea"/>
              <a:cs typeface="+mj-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3272C-68C6-0A6A-1A85-137549BE65E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D988597-5B1B-6AEC-2071-67A6837A0F70}"/>
              </a:ext>
            </a:extLst>
          </p:cNvPr>
          <p:cNvSpPr/>
          <p:nvPr/>
        </p:nvSpPr>
        <p:spPr>
          <a:xfrm>
            <a:off x="615530" y="193307"/>
            <a:ext cx="5876211" cy="620078"/>
          </a:xfrm>
          <a:prstGeom prst="rect">
            <a:avLst/>
          </a:prstGeom>
          <a:noFill/>
          <a:ln/>
        </p:spPr>
        <p:txBody>
          <a:bodyPr wrap="none" lIns="0" tIns="0" rIns="0" bIns="0" rtlCol="0" anchor="t"/>
          <a:lstStyle/>
          <a:p>
            <a:pPr marL="0" indent="0" algn="l">
              <a:lnSpc>
                <a:spcPts val="4850"/>
              </a:lnSpc>
              <a:buNone/>
            </a:pPr>
            <a:r>
              <a:rPr lang="en-US" sz="3600" dirty="0" err="1">
                <a:solidFill>
                  <a:srgbClr val="233E32"/>
                </a:solidFill>
                <a:latin typeface="Alice" pitchFamily="34" charset="0"/>
                <a:ea typeface="Alice" pitchFamily="34" charset="-122"/>
                <a:cs typeface="Alice" pitchFamily="34" charset="-120"/>
              </a:rPr>
              <a:t>Tóm</a:t>
            </a:r>
            <a:r>
              <a:rPr lang="en-US" sz="3600" dirty="0">
                <a:solidFill>
                  <a:srgbClr val="233E32"/>
                </a:solidFill>
                <a:latin typeface="Alice" pitchFamily="34" charset="0"/>
                <a:ea typeface="Alice" pitchFamily="34" charset="-122"/>
                <a:cs typeface="Alice" pitchFamily="34" charset="-120"/>
              </a:rPr>
              <a:t> </a:t>
            </a:r>
            <a:r>
              <a:rPr lang="en-US" sz="3600" dirty="0" err="1">
                <a:solidFill>
                  <a:srgbClr val="233E32"/>
                </a:solidFill>
                <a:latin typeface="Alice" pitchFamily="34" charset="0"/>
                <a:ea typeface="Alice" pitchFamily="34" charset="-122"/>
                <a:cs typeface="Alice" pitchFamily="34" charset="-120"/>
              </a:rPr>
              <a:t>tắt</a:t>
            </a:r>
            <a:r>
              <a:rPr lang="en-US" sz="3600" dirty="0">
                <a:solidFill>
                  <a:srgbClr val="233E32"/>
                </a:solidFill>
                <a:latin typeface="Alice" pitchFamily="34" charset="0"/>
                <a:ea typeface="Alice" pitchFamily="34" charset="-122"/>
                <a:cs typeface="Alice" pitchFamily="34" charset="-120"/>
              </a:rPr>
              <a:t> </a:t>
            </a:r>
            <a:r>
              <a:rPr lang="en-US" sz="3600" dirty="0" err="1">
                <a:solidFill>
                  <a:srgbClr val="233E32"/>
                </a:solidFill>
                <a:latin typeface="Alice" pitchFamily="34" charset="0"/>
                <a:ea typeface="Alice" pitchFamily="34" charset="-122"/>
                <a:cs typeface="Alice" pitchFamily="34" charset="-120"/>
              </a:rPr>
              <a:t>quá</a:t>
            </a:r>
            <a:r>
              <a:rPr lang="en-US" sz="3600" dirty="0">
                <a:solidFill>
                  <a:srgbClr val="233E32"/>
                </a:solidFill>
                <a:latin typeface="Alice" pitchFamily="34" charset="0"/>
                <a:ea typeface="Alice" pitchFamily="34" charset="-122"/>
                <a:cs typeface="Alice" pitchFamily="34" charset="-120"/>
              </a:rPr>
              <a:t> </a:t>
            </a:r>
            <a:r>
              <a:rPr lang="en-US" sz="3600" dirty="0" err="1">
                <a:solidFill>
                  <a:srgbClr val="233E32"/>
                </a:solidFill>
                <a:latin typeface="Alice" pitchFamily="34" charset="0"/>
                <a:ea typeface="Alice" pitchFamily="34" charset="-122"/>
                <a:cs typeface="Alice" pitchFamily="34" charset="-120"/>
              </a:rPr>
              <a:t>trình</a:t>
            </a:r>
            <a:r>
              <a:rPr lang="en-US" sz="3600" dirty="0">
                <a:solidFill>
                  <a:srgbClr val="233E32"/>
                </a:solidFill>
                <a:latin typeface="Alice" pitchFamily="34" charset="0"/>
                <a:ea typeface="Alice" pitchFamily="34" charset="-122"/>
                <a:cs typeface="Alice" pitchFamily="34" charset="-120"/>
              </a:rPr>
              <a:t> </a:t>
            </a:r>
            <a:r>
              <a:rPr lang="en-US" sz="3600" dirty="0" err="1">
                <a:solidFill>
                  <a:srgbClr val="233E32"/>
                </a:solidFill>
                <a:latin typeface="Alice" pitchFamily="34" charset="0"/>
                <a:ea typeface="Alice" pitchFamily="34" charset="-122"/>
                <a:cs typeface="Alice" pitchFamily="34" charset="-120"/>
              </a:rPr>
              <a:t>huấn</a:t>
            </a:r>
            <a:r>
              <a:rPr lang="en-US" sz="3600" dirty="0">
                <a:solidFill>
                  <a:srgbClr val="233E32"/>
                </a:solidFill>
                <a:latin typeface="Alice" pitchFamily="34" charset="0"/>
                <a:ea typeface="Alice" pitchFamily="34" charset="-122"/>
                <a:cs typeface="Alice" pitchFamily="34" charset="-120"/>
              </a:rPr>
              <a:t> </a:t>
            </a:r>
            <a:r>
              <a:rPr lang="en-US" sz="3600" dirty="0" err="1">
                <a:solidFill>
                  <a:srgbClr val="233E32"/>
                </a:solidFill>
                <a:latin typeface="Alice" pitchFamily="34" charset="0"/>
                <a:ea typeface="Alice" pitchFamily="34" charset="-122"/>
                <a:cs typeface="Alice" pitchFamily="34" charset="-120"/>
              </a:rPr>
              <a:t>luyện</a:t>
            </a:r>
            <a:r>
              <a:rPr lang="en-US" sz="3600" dirty="0">
                <a:solidFill>
                  <a:srgbClr val="233E32"/>
                </a:solidFill>
                <a:latin typeface="Alice" pitchFamily="34" charset="0"/>
                <a:ea typeface="Alice" pitchFamily="34" charset="-122"/>
                <a:cs typeface="Alice" pitchFamily="34" charset="-120"/>
              </a:rPr>
              <a:t> </a:t>
            </a:r>
            <a:r>
              <a:rPr lang="en-US" sz="3600" dirty="0" err="1">
                <a:solidFill>
                  <a:srgbClr val="233E32"/>
                </a:solidFill>
                <a:latin typeface="Alice" pitchFamily="34" charset="0"/>
                <a:ea typeface="Alice" pitchFamily="34" charset="-122"/>
                <a:cs typeface="Alice" pitchFamily="34" charset="-120"/>
              </a:rPr>
              <a:t>mô</a:t>
            </a:r>
            <a:r>
              <a:rPr lang="en-US" sz="3600" dirty="0">
                <a:solidFill>
                  <a:srgbClr val="233E32"/>
                </a:solidFill>
                <a:latin typeface="Alice" pitchFamily="34" charset="0"/>
                <a:ea typeface="Alice" pitchFamily="34" charset="-122"/>
                <a:cs typeface="Alice" pitchFamily="34" charset="-120"/>
              </a:rPr>
              <a:t> </a:t>
            </a:r>
            <a:r>
              <a:rPr lang="en-US" sz="3600" dirty="0" err="1">
                <a:solidFill>
                  <a:srgbClr val="233E32"/>
                </a:solidFill>
                <a:latin typeface="Alice" pitchFamily="34" charset="0"/>
                <a:ea typeface="Alice" pitchFamily="34" charset="-122"/>
                <a:cs typeface="Alice" pitchFamily="34" charset="-120"/>
              </a:rPr>
              <a:t>hình</a:t>
            </a:r>
            <a:r>
              <a:rPr lang="en-US" sz="3600" dirty="0">
                <a:solidFill>
                  <a:srgbClr val="233E32"/>
                </a:solidFill>
                <a:latin typeface="Alice" pitchFamily="34" charset="0"/>
                <a:ea typeface="Alice" pitchFamily="34" charset="-122"/>
                <a:cs typeface="Alice" pitchFamily="34" charset="-120"/>
              </a:rPr>
              <a:t> </a:t>
            </a:r>
            <a:r>
              <a:rPr lang="en-US" sz="3600" dirty="0" err="1">
                <a:solidFill>
                  <a:srgbClr val="233E32"/>
                </a:solidFill>
                <a:latin typeface="Alice" pitchFamily="34" charset="0"/>
                <a:ea typeface="Alice" pitchFamily="34" charset="-122"/>
                <a:cs typeface="Alice" pitchFamily="34" charset="-120"/>
              </a:rPr>
              <a:t>nhận</a:t>
            </a:r>
            <a:r>
              <a:rPr lang="en-US" sz="3600" dirty="0">
                <a:solidFill>
                  <a:srgbClr val="233E32"/>
                </a:solidFill>
                <a:latin typeface="Alice" pitchFamily="34" charset="0"/>
                <a:ea typeface="Alice" pitchFamily="34" charset="-122"/>
                <a:cs typeface="Alice" pitchFamily="34" charset="-120"/>
              </a:rPr>
              <a:t> </a:t>
            </a:r>
            <a:r>
              <a:rPr lang="en-US" sz="3600" dirty="0" err="1">
                <a:solidFill>
                  <a:srgbClr val="233E32"/>
                </a:solidFill>
                <a:latin typeface="Alice" pitchFamily="34" charset="0"/>
                <a:ea typeface="Alice" pitchFamily="34" charset="-122"/>
                <a:cs typeface="Alice" pitchFamily="34" charset="-120"/>
              </a:rPr>
              <a:t>diện</a:t>
            </a:r>
            <a:r>
              <a:rPr lang="en-US" sz="3600" dirty="0">
                <a:solidFill>
                  <a:srgbClr val="233E32"/>
                </a:solidFill>
                <a:latin typeface="Alice" pitchFamily="34" charset="0"/>
                <a:ea typeface="Alice" pitchFamily="34" charset="-122"/>
                <a:cs typeface="Alice" pitchFamily="34" charset="-120"/>
              </a:rPr>
              <a:t> </a:t>
            </a:r>
            <a:r>
              <a:rPr lang="en-US" sz="3600" dirty="0" err="1">
                <a:solidFill>
                  <a:srgbClr val="233E32"/>
                </a:solidFill>
                <a:latin typeface="Alice" pitchFamily="34" charset="0"/>
                <a:ea typeface="Alice" pitchFamily="34" charset="-122"/>
                <a:cs typeface="Alice" pitchFamily="34" charset="-120"/>
              </a:rPr>
              <a:t>biển</a:t>
            </a:r>
            <a:r>
              <a:rPr lang="en-US" sz="3600" dirty="0">
                <a:solidFill>
                  <a:srgbClr val="233E32"/>
                </a:solidFill>
                <a:latin typeface="Alice" pitchFamily="34" charset="0"/>
                <a:ea typeface="Alice" pitchFamily="34" charset="-122"/>
                <a:cs typeface="Alice" pitchFamily="34" charset="-120"/>
              </a:rPr>
              <a:t> </a:t>
            </a:r>
            <a:r>
              <a:rPr lang="en-US" sz="3600" dirty="0" err="1">
                <a:solidFill>
                  <a:srgbClr val="233E32"/>
                </a:solidFill>
                <a:latin typeface="Alice" pitchFamily="34" charset="0"/>
                <a:ea typeface="Alice" pitchFamily="34" charset="-122"/>
                <a:cs typeface="Alice" pitchFamily="34" charset="-120"/>
              </a:rPr>
              <a:t>số</a:t>
            </a:r>
            <a:r>
              <a:rPr lang="en-US" sz="3600" dirty="0">
                <a:solidFill>
                  <a:srgbClr val="233E32"/>
                </a:solidFill>
                <a:latin typeface="Alice" pitchFamily="34" charset="0"/>
                <a:ea typeface="Alice" pitchFamily="34" charset="-122"/>
                <a:cs typeface="Alice" pitchFamily="34" charset="-120"/>
              </a:rPr>
              <a:t> </a:t>
            </a:r>
            <a:r>
              <a:rPr lang="en-US" sz="3600" dirty="0" err="1">
                <a:solidFill>
                  <a:srgbClr val="233E32"/>
                </a:solidFill>
                <a:latin typeface="Alice" pitchFamily="34" charset="0"/>
                <a:ea typeface="Alice" pitchFamily="34" charset="-122"/>
                <a:cs typeface="Alice" pitchFamily="34" charset="-120"/>
              </a:rPr>
              <a:t>và</a:t>
            </a:r>
            <a:r>
              <a:rPr lang="en-US" sz="3600" dirty="0">
                <a:solidFill>
                  <a:srgbClr val="233E32"/>
                </a:solidFill>
                <a:latin typeface="Alice" pitchFamily="34" charset="0"/>
                <a:ea typeface="Alice" pitchFamily="34" charset="-122"/>
                <a:cs typeface="Alice" pitchFamily="34" charset="-120"/>
              </a:rPr>
              <a:t> </a:t>
            </a:r>
            <a:r>
              <a:rPr lang="en-US" sz="3600" dirty="0" err="1">
                <a:solidFill>
                  <a:srgbClr val="233E32"/>
                </a:solidFill>
                <a:latin typeface="Alice" pitchFamily="34" charset="0"/>
                <a:ea typeface="Alice" pitchFamily="34" charset="-122"/>
                <a:cs typeface="Alice" pitchFamily="34" charset="-120"/>
              </a:rPr>
              <a:t>ký</a:t>
            </a:r>
            <a:r>
              <a:rPr lang="en-US" sz="3600" dirty="0">
                <a:solidFill>
                  <a:srgbClr val="233E32"/>
                </a:solidFill>
                <a:latin typeface="Alice" pitchFamily="34" charset="0"/>
                <a:ea typeface="Alice" pitchFamily="34" charset="-122"/>
                <a:cs typeface="Alice" pitchFamily="34" charset="-120"/>
              </a:rPr>
              <a:t> </a:t>
            </a:r>
            <a:r>
              <a:rPr lang="en-US" sz="3600" dirty="0" err="1">
                <a:solidFill>
                  <a:srgbClr val="233E32"/>
                </a:solidFill>
                <a:latin typeface="Alice" pitchFamily="34" charset="0"/>
                <a:ea typeface="Alice" pitchFamily="34" charset="-122"/>
                <a:cs typeface="Alice" pitchFamily="34" charset="-120"/>
              </a:rPr>
              <a:t>tự</a:t>
            </a:r>
            <a:endParaRPr lang="en-US" sz="3600" dirty="0"/>
          </a:p>
        </p:txBody>
      </p:sp>
      <p:pic>
        <p:nvPicPr>
          <p:cNvPr id="13" name="Picture 12">
            <a:extLst>
              <a:ext uri="{FF2B5EF4-FFF2-40B4-BE49-F238E27FC236}">
                <a16:creationId xmlns:a16="http://schemas.microsoft.com/office/drawing/2014/main" id="{5C89F75A-C636-8F13-6504-C969DB747DD8}"/>
              </a:ext>
            </a:extLst>
          </p:cNvPr>
          <p:cNvPicPr>
            <a:picLocks noChangeAspect="1"/>
          </p:cNvPicPr>
          <p:nvPr/>
        </p:nvPicPr>
        <p:blipFill>
          <a:blip r:embed="rId3"/>
          <a:stretch>
            <a:fillRect/>
          </a:stretch>
        </p:blipFill>
        <p:spPr>
          <a:xfrm>
            <a:off x="11096132" y="7038809"/>
            <a:ext cx="3534268" cy="1190791"/>
          </a:xfrm>
          <a:prstGeom prst="rect">
            <a:avLst/>
          </a:prstGeom>
        </p:spPr>
      </p:pic>
      <p:sp>
        <p:nvSpPr>
          <p:cNvPr id="6" name="Rectangle 3">
            <a:extLst>
              <a:ext uri="{FF2B5EF4-FFF2-40B4-BE49-F238E27FC236}">
                <a16:creationId xmlns:a16="http://schemas.microsoft.com/office/drawing/2014/main" id="{1E2D88E4-A357-44C0-FBF0-264980F56D2C}"/>
              </a:ext>
            </a:extLst>
          </p:cNvPr>
          <p:cNvSpPr>
            <a:spLocks noChangeArrowheads="1"/>
          </p:cNvSpPr>
          <p:nvPr/>
        </p:nvSpPr>
        <p:spPr bwMode="auto">
          <a:xfrm>
            <a:off x="430306" y="1010743"/>
            <a:ext cx="14630400"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t" latinLnBrk="0" hangingPunct="0">
              <a:lnSpc>
                <a:spcPct val="100000"/>
              </a:lnSpc>
              <a:spcBef>
                <a:spcPct val="0"/>
              </a:spcBef>
              <a:spcAft>
                <a:spcPct val="0"/>
              </a:spcAft>
              <a:buClrTx/>
              <a:buSzTx/>
              <a:buFontTx/>
              <a:buNone/>
              <a:tabLst/>
            </a:pPr>
            <a:r>
              <a:rPr lang="en-US" altLang="en-US" sz="1600" dirty="0">
                <a:latin typeface="Consolas" panose="020B0609020204030204" pitchFamily="49" charset="0"/>
              </a:rPr>
              <a:t>!python train.py --</a:t>
            </a:r>
            <a:r>
              <a:rPr lang="en-US" altLang="en-US" sz="1600" dirty="0" err="1">
                <a:latin typeface="Consolas" panose="020B0609020204030204" pitchFamily="49" charset="0"/>
              </a:rPr>
              <a:t>img</a:t>
            </a:r>
            <a:r>
              <a:rPr lang="en-US" altLang="en-US" sz="1600" dirty="0">
                <a:latin typeface="Consolas" panose="020B0609020204030204" pitchFamily="49" charset="0"/>
              </a:rPr>
              <a:t> 320 --batch 32 --epochs 30 --data /content/yolov5/data/</a:t>
            </a:r>
            <a:r>
              <a:rPr lang="en-US" altLang="en-US" sz="1600" dirty="0" err="1">
                <a:latin typeface="Consolas" panose="020B0609020204030204" pitchFamily="49" charset="0"/>
              </a:rPr>
              <a:t>LP_detection.yaml</a:t>
            </a:r>
            <a:r>
              <a:rPr lang="en-US" altLang="en-US" sz="1600" dirty="0">
                <a:latin typeface="Consolas" panose="020B0609020204030204" pitchFamily="49" charset="0"/>
              </a:rPr>
              <a:t> --weights yolov5m.pt --cache </a:t>
            </a:r>
          </a:p>
        </p:txBody>
      </p:sp>
      <p:pic>
        <p:nvPicPr>
          <p:cNvPr id="4" name="Picture 3">
            <a:extLst>
              <a:ext uri="{FF2B5EF4-FFF2-40B4-BE49-F238E27FC236}">
                <a16:creationId xmlns:a16="http://schemas.microsoft.com/office/drawing/2014/main" id="{6FE3EF4B-159F-4BFF-2F95-B4DBC92DDF47}"/>
              </a:ext>
            </a:extLst>
          </p:cNvPr>
          <p:cNvPicPr>
            <a:picLocks noChangeAspect="1"/>
          </p:cNvPicPr>
          <p:nvPr/>
        </p:nvPicPr>
        <p:blipFill>
          <a:blip r:embed="rId4"/>
          <a:stretch>
            <a:fillRect/>
          </a:stretch>
        </p:blipFill>
        <p:spPr>
          <a:xfrm>
            <a:off x="1366837" y="1454322"/>
            <a:ext cx="11896725" cy="2967519"/>
          </a:xfrm>
          <a:prstGeom prst="rect">
            <a:avLst/>
          </a:prstGeom>
        </p:spPr>
      </p:pic>
      <p:pic>
        <p:nvPicPr>
          <p:cNvPr id="9" name="Picture 8">
            <a:extLst>
              <a:ext uri="{FF2B5EF4-FFF2-40B4-BE49-F238E27FC236}">
                <a16:creationId xmlns:a16="http://schemas.microsoft.com/office/drawing/2014/main" id="{F4CD63A2-D122-05CF-FA2D-2FD87597DC2C}"/>
              </a:ext>
            </a:extLst>
          </p:cNvPr>
          <p:cNvPicPr>
            <a:picLocks noChangeAspect="1"/>
          </p:cNvPicPr>
          <p:nvPr/>
        </p:nvPicPr>
        <p:blipFill>
          <a:blip r:embed="rId5"/>
          <a:stretch>
            <a:fillRect/>
          </a:stretch>
        </p:blipFill>
        <p:spPr>
          <a:xfrm>
            <a:off x="1360223" y="4666129"/>
            <a:ext cx="11903339" cy="3260154"/>
          </a:xfrm>
          <a:prstGeom prst="rect">
            <a:avLst/>
          </a:prstGeom>
        </p:spPr>
      </p:pic>
    </p:spTree>
    <p:extLst>
      <p:ext uri="{BB962C8B-B14F-4D97-AF65-F5344CB8AC3E}">
        <p14:creationId xmlns:p14="http://schemas.microsoft.com/office/powerpoint/2010/main" val="32376985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ECFD0-AC10-B6D5-559F-C1562BAA5CB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A196555-AAAC-0A8E-6B0A-D99D09600F2C}"/>
              </a:ext>
            </a:extLst>
          </p:cNvPr>
          <p:cNvSpPr txBox="1"/>
          <p:nvPr/>
        </p:nvSpPr>
        <p:spPr>
          <a:xfrm>
            <a:off x="-2772514" y="0"/>
            <a:ext cx="10739628" cy="842717"/>
          </a:xfrm>
          <a:prstGeom prst="rect">
            <a:avLst/>
          </a:prstGeom>
        </p:spPr>
        <p:txBody>
          <a:bodyPr vert="horz" lIns="91440" tIns="45720" rIns="91440" bIns="45720" rtlCol="0" anchor="b">
            <a:normAutofit/>
          </a:bodyPr>
          <a:lstStyle/>
          <a:p>
            <a:pPr marL="0" indent="0" algn="ctr">
              <a:lnSpc>
                <a:spcPct val="90000"/>
              </a:lnSpc>
              <a:spcBef>
                <a:spcPct val="0"/>
              </a:spcBef>
              <a:spcAft>
                <a:spcPts val="600"/>
              </a:spcAft>
            </a:pPr>
            <a:r>
              <a:rPr lang="en-US" sz="4300" b="1" dirty="0">
                <a:latin typeface="+mj-lt"/>
                <a:ea typeface="+mj-ea"/>
                <a:cs typeface="+mj-cs"/>
              </a:rPr>
              <a:t>4. </a:t>
            </a:r>
            <a:r>
              <a:rPr lang="en-US" sz="4300" b="1" dirty="0" err="1">
                <a:latin typeface="+mj-lt"/>
                <a:ea typeface="+mj-ea"/>
                <a:cs typeface="+mj-cs"/>
              </a:rPr>
              <a:t>Đánh</a:t>
            </a:r>
            <a:r>
              <a:rPr lang="en-US" sz="4300" b="1" dirty="0">
                <a:latin typeface="+mj-lt"/>
                <a:ea typeface="+mj-ea"/>
                <a:cs typeface="+mj-cs"/>
              </a:rPr>
              <a:t> </a:t>
            </a:r>
            <a:r>
              <a:rPr lang="en-US" sz="4300" b="1" dirty="0" err="1">
                <a:latin typeface="+mj-lt"/>
                <a:ea typeface="+mj-ea"/>
                <a:cs typeface="+mj-cs"/>
              </a:rPr>
              <a:t>giá</a:t>
            </a:r>
            <a:r>
              <a:rPr lang="en-US" sz="4300" b="1" dirty="0">
                <a:latin typeface="+mj-lt"/>
                <a:ea typeface="+mj-ea"/>
                <a:cs typeface="+mj-cs"/>
              </a:rPr>
              <a:t> </a:t>
            </a:r>
            <a:r>
              <a:rPr lang="en-US" sz="4300" b="1" dirty="0" err="1">
                <a:latin typeface="+mj-lt"/>
                <a:ea typeface="+mj-ea"/>
                <a:cs typeface="+mj-cs"/>
              </a:rPr>
              <a:t>mô</a:t>
            </a:r>
            <a:r>
              <a:rPr lang="en-US" sz="4300" b="1" dirty="0">
                <a:latin typeface="+mj-lt"/>
                <a:ea typeface="+mj-ea"/>
                <a:cs typeface="+mj-cs"/>
              </a:rPr>
              <a:t> </a:t>
            </a:r>
            <a:r>
              <a:rPr lang="en-US" sz="4300" b="1" dirty="0" err="1">
                <a:latin typeface="+mj-lt"/>
                <a:ea typeface="+mj-ea"/>
                <a:cs typeface="+mj-cs"/>
              </a:rPr>
              <a:t>hình</a:t>
            </a:r>
            <a:endParaRPr lang="en-US" sz="4300" b="1" dirty="0">
              <a:latin typeface="+mj-lt"/>
              <a:ea typeface="+mj-ea"/>
              <a:cs typeface="+mj-cs"/>
            </a:endParaRPr>
          </a:p>
        </p:txBody>
      </p:sp>
      <p:sp>
        <p:nvSpPr>
          <p:cNvPr id="26" name="Text 0">
            <a:extLst>
              <a:ext uri="{FF2B5EF4-FFF2-40B4-BE49-F238E27FC236}">
                <a16:creationId xmlns:a16="http://schemas.microsoft.com/office/drawing/2014/main" id="{76C0FE4B-6B1E-7D81-6099-23CCDB0E345D}"/>
              </a:ext>
            </a:extLst>
          </p:cNvPr>
          <p:cNvSpPr/>
          <p:nvPr/>
        </p:nvSpPr>
        <p:spPr>
          <a:xfrm>
            <a:off x="-1706994" y="916676"/>
            <a:ext cx="10741543" cy="605574"/>
          </a:xfrm>
          <a:prstGeom prst="rect">
            <a:avLst/>
          </a:prstGeom>
        </p:spPr>
        <p:txBody>
          <a:bodyPr vert="horz" lIns="91440" tIns="45720" rIns="91440" bIns="45720" rtlCol="0" anchor="t">
            <a:normAutofit/>
          </a:bodyPr>
          <a:lstStyle/>
          <a:p>
            <a:pPr algn="ctr">
              <a:lnSpc>
                <a:spcPct val="90000"/>
              </a:lnSpc>
              <a:spcBef>
                <a:spcPts val="1000"/>
              </a:spcBef>
            </a:pPr>
            <a:r>
              <a:rPr lang="en-US" sz="2200" dirty="0" err="1"/>
              <a:t>Đồ</a:t>
            </a:r>
            <a:r>
              <a:rPr lang="en-US" sz="2200" dirty="0"/>
              <a:t> </a:t>
            </a:r>
            <a:r>
              <a:rPr lang="en-US" sz="2200" dirty="0" err="1"/>
              <a:t>thị</a:t>
            </a:r>
            <a:r>
              <a:rPr lang="en-US" sz="2200" dirty="0"/>
              <a:t> </a:t>
            </a:r>
            <a:r>
              <a:rPr lang="en-US" sz="2200" dirty="0" err="1"/>
              <a:t>của</a:t>
            </a:r>
            <a:r>
              <a:rPr lang="en-US" sz="2200" dirty="0"/>
              <a:t> </a:t>
            </a:r>
            <a:r>
              <a:rPr lang="en-US" sz="2200" dirty="0" err="1"/>
              <a:t>mô</a:t>
            </a:r>
            <a:r>
              <a:rPr lang="en-US" sz="2200" dirty="0"/>
              <a:t> </a:t>
            </a:r>
            <a:r>
              <a:rPr lang="en-US" sz="2200" dirty="0" err="1"/>
              <a:t>hình</a:t>
            </a:r>
            <a:r>
              <a:rPr lang="en-US" sz="2200" dirty="0"/>
              <a:t> </a:t>
            </a:r>
            <a:r>
              <a:rPr lang="en-US" sz="2200" dirty="0" err="1"/>
              <a:t>nhận</a:t>
            </a:r>
            <a:r>
              <a:rPr lang="en-US" sz="2200" dirty="0"/>
              <a:t> </a:t>
            </a:r>
            <a:r>
              <a:rPr lang="en-US" sz="2200" dirty="0" err="1"/>
              <a:t>diện</a:t>
            </a:r>
            <a:r>
              <a:rPr lang="en-US" sz="2200" dirty="0"/>
              <a:t> </a:t>
            </a:r>
            <a:r>
              <a:rPr lang="en-US" sz="2200" dirty="0" err="1"/>
              <a:t>biển</a:t>
            </a:r>
            <a:r>
              <a:rPr lang="en-US" sz="2200" dirty="0"/>
              <a:t> </a:t>
            </a:r>
            <a:r>
              <a:rPr lang="en-US" sz="2200" dirty="0" err="1"/>
              <a:t>số</a:t>
            </a:r>
            <a:endParaRPr lang="en-US" sz="2200" dirty="0"/>
          </a:p>
        </p:txBody>
      </p:sp>
      <mc:AlternateContent xmlns:mc="http://schemas.openxmlformats.org/markup-compatibility/2006">
        <mc:Choice xmlns:a14="http://schemas.microsoft.com/office/drawing/2010/main" Requires="a14">
          <p:graphicFrame>
            <p:nvGraphicFramePr>
              <p:cNvPr id="7" name="Table 6">
                <a:extLst>
                  <a:ext uri="{FF2B5EF4-FFF2-40B4-BE49-F238E27FC236}">
                    <a16:creationId xmlns:a16="http://schemas.microsoft.com/office/drawing/2014/main" id="{FAA08213-70FE-B4DC-BDB9-13CF0D41EAF6}"/>
                  </a:ext>
                </a:extLst>
              </p:cNvPr>
              <p:cNvGraphicFramePr>
                <a:graphicFrameLocks noGrp="1"/>
              </p:cNvGraphicFramePr>
              <p:nvPr>
                <p:extLst>
                  <p:ext uri="{D42A27DB-BD31-4B8C-83A1-F6EECF244321}">
                    <p14:modId xmlns:p14="http://schemas.microsoft.com/office/powerpoint/2010/main" val="548600121"/>
                  </p:ext>
                </p:extLst>
              </p:nvPr>
            </p:nvGraphicFramePr>
            <p:xfrm>
              <a:off x="7316023" y="1314927"/>
              <a:ext cx="7194176" cy="6822343"/>
            </p:xfrm>
            <a:graphic>
              <a:graphicData uri="http://schemas.openxmlformats.org/drawingml/2006/table">
                <a:tbl>
                  <a:tblPr>
                    <a:solidFill>
                      <a:schemeClr val="bg1"/>
                    </a:solidFill>
                  </a:tblPr>
                  <a:tblGrid>
                    <a:gridCol w="1675916">
                      <a:extLst>
                        <a:ext uri="{9D8B030D-6E8A-4147-A177-3AD203B41FA5}">
                          <a16:colId xmlns:a16="http://schemas.microsoft.com/office/drawing/2014/main" val="3981039613"/>
                        </a:ext>
                      </a:extLst>
                    </a:gridCol>
                    <a:gridCol w="2524576">
                      <a:extLst>
                        <a:ext uri="{9D8B030D-6E8A-4147-A177-3AD203B41FA5}">
                          <a16:colId xmlns:a16="http://schemas.microsoft.com/office/drawing/2014/main" val="579840019"/>
                        </a:ext>
                      </a:extLst>
                    </a:gridCol>
                    <a:gridCol w="2993684">
                      <a:extLst>
                        <a:ext uri="{9D8B030D-6E8A-4147-A177-3AD203B41FA5}">
                          <a16:colId xmlns:a16="http://schemas.microsoft.com/office/drawing/2014/main" val="679380279"/>
                        </a:ext>
                      </a:extLst>
                    </a:gridCol>
                  </a:tblGrid>
                  <a:tr h="281780">
                    <a:tc>
                      <a:txBody>
                        <a:bodyPr/>
                        <a:lstStyle/>
                        <a:p>
                          <a:pPr algn="ctr"/>
                          <a:r>
                            <a:rPr lang="en-US" sz="1400" b="1">
                              <a:latin typeface="Cambria" panose="02040503050406030204" pitchFamily="18" charset="0"/>
                              <a:ea typeface="Cambria" panose="02040503050406030204" pitchFamily="18" charset="0"/>
                            </a:rPr>
                            <a:t>Chỉ số</a:t>
                          </a:r>
                          <a:endParaRPr lang="en-US" sz="1400">
                            <a:latin typeface="Cambria" panose="02040503050406030204" pitchFamily="18" charset="0"/>
                            <a:ea typeface="Cambria" panose="02040503050406030204" pitchFamily="18" charset="0"/>
                          </a:endParaRPr>
                        </a:p>
                      </a:txBody>
                      <a:tcPr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lgn="ctr"/>
                          <a:r>
                            <a:rPr lang="en-US" sz="1400" b="1">
                              <a:latin typeface="Cambria" panose="02040503050406030204" pitchFamily="18" charset="0"/>
                              <a:ea typeface="Cambria" panose="02040503050406030204" pitchFamily="18" charset="0"/>
                            </a:rPr>
                            <a:t>Ý nghĩa &amp; Tác dụng</a:t>
                          </a:r>
                          <a:endParaRPr lang="en-US" sz="1400">
                            <a:latin typeface="Cambria" panose="02040503050406030204" pitchFamily="18" charset="0"/>
                            <a:ea typeface="Cambria" panose="02040503050406030204" pitchFamily="18" charset="0"/>
                          </a:endParaRPr>
                        </a:p>
                      </a:txBody>
                      <a:tcPr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lgn="ctr"/>
                          <a:r>
                            <a:rPr lang="en-US" sz="1400" b="1" dirty="0" err="1">
                              <a:latin typeface="Cambria" panose="02040503050406030204" pitchFamily="18" charset="0"/>
                              <a:ea typeface="Cambria" panose="02040503050406030204" pitchFamily="18" charset="0"/>
                            </a:rPr>
                            <a:t>Ví</a:t>
                          </a:r>
                          <a:r>
                            <a:rPr lang="en-US" sz="1400" b="1" dirty="0">
                              <a:latin typeface="Cambria" panose="02040503050406030204" pitchFamily="18" charset="0"/>
                              <a:ea typeface="Cambria" panose="02040503050406030204" pitchFamily="18" charset="0"/>
                            </a:rPr>
                            <a:t> </a:t>
                          </a:r>
                          <a:r>
                            <a:rPr lang="en-US" sz="1400" b="1" dirty="0" err="1">
                              <a:latin typeface="Cambria" panose="02040503050406030204" pitchFamily="18" charset="0"/>
                              <a:ea typeface="Cambria" panose="02040503050406030204" pitchFamily="18" charset="0"/>
                            </a:rPr>
                            <a:t>dụ</a:t>
                          </a:r>
                          <a:r>
                            <a:rPr lang="en-US" sz="1400" b="1" dirty="0">
                              <a:latin typeface="Cambria" panose="02040503050406030204" pitchFamily="18" charset="0"/>
                              <a:ea typeface="Cambria" panose="02040503050406030204" pitchFamily="18" charset="0"/>
                            </a:rPr>
                            <a:t> </a:t>
                          </a:r>
                          <a:r>
                            <a:rPr lang="en-US" sz="1400" b="1" dirty="0" err="1">
                              <a:latin typeface="Cambria" panose="02040503050406030204" pitchFamily="18" charset="0"/>
                              <a:ea typeface="Cambria" panose="02040503050406030204" pitchFamily="18" charset="0"/>
                            </a:rPr>
                            <a:t>trên</a:t>
                          </a:r>
                          <a:r>
                            <a:rPr lang="en-US" sz="1400" b="1" dirty="0">
                              <a:latin typeface="Cambria" panose="02040503050406030204" pitchFamily="18" charset="0"/>
                              <a:ea typeface="Cambria" panose="02040503050406030204" pitchFamily="18" charset="0"/>
                            </a:rPr>
                            <a:t> 100 </a:t>
                          </a:r>
                          <a:r>
                            <a:rPr lang="en-US" sz="1400" b="1" dirty="0" err="1">
                              <a:latin typeface="Cambria" panose="02040503050406030204" pitchFamily="18" charset="0"/>
                              <a:ea typeface="Cambria" panose="02040503050406030204" pitchFamily="18" charset="0"/>
                            </a:rPr>
                            <a:t>ảnh</a:t>
                          </a:r>
                          <a:endParaRPr lang="en-US" sz="1400" dirty="0">
                            <a:latin typeface="Cambria" panose="02040503050406030204" pitchFamily="18" charset="0"/>
                            <a:ea typeface="Cambria" panose="02040503050406030204" pitchFamily="18" charset="0"/>
                          </a:endParaRPr>
                        </a:p>
                      </a:txBody>
                      <a:tcPr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4024957430"/>
                      </a:ext>
                    </a:extLst>
                  </a:tr>
                  <a:tr h="691641">
                    <a:tc>
                      <a:txBody>
                        <a:bodyPr/>
                        <a:lstStyle/>
                        <a:p>
                          <a:pPr algn="ctr"/>
                          <a:r>
                            <a:rPr lang="en-US" sz="1400" b="1" dirty="0">
                              <a:latin typeface="Cambria" panose="02040503050406030204" pitchFamily="18" charset="0"/>
                              <a:ea typeface="Cambria" panose="02040503050406030204" pitchFamily="18" charset="0"/>
                            </a:rPr>
                            <a:t>TP (True Positive)</a:t>
                          </a:r>
                        </a:p>
                      </a:txBody>
                      <a:tcPr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lgn="just"/>
                          <a:r>
                            <a:rPr lang="en-US" sz="1400" dirty="0" err="1">
                              <a:latin typeface="Cambria" panose="02040503050406030204" pitchFamily="18" charset="0"/>
                              <a:ea typeface="Cambria" panose="02040503050406030204" pitchFamily="18" charset="0"/>
                            </a:rPr>
                            <a:t>Dự</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đoán</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đúng</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ảnh</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có</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biển</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số</a:t>
                          </a:r>
                          <a:r>
                            <a:rPr lang="en-US" sz="1400" dirty="0">
                              <a:latin typeface="Cambria" panose="02040503050406030204" pitchFamily="18" charset="0"/>
                              <a:ea typeface="Cambria" panose="02040503050406030204" pitchFamily="18" charset="0"/>
                            </a:rPr>
                            <a:t> → </a:t>
                          </a:r>
                          <a:r>
                            <a:rPr lang="en-US" sz="1400" dirty="0" err="1">
                              <a:latin typeface="Cambria" panose="02040503050406030204" pitchFamily="18" charset="0"/>
                              <a:ea typeface="Cambria" panose="02040503050406030204" pitchFamily="18" charset="0"/>
                            </a:rPr>
                            <a:t>càng</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cao</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càng</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tốt</a:t>
                          </a:r>
                          <a:r>
                            <a:rPr lang="en-US" sz="1400" dirty="0">
                              <a:latin typeface="Cambria" panose="02040503050406030204" pitchFamily="18" charset="0"/>
                              <a:ea typeface="Cambria" panose="02040503050406030204" pitchFamily="18" charset="0"/>
                            </a:rPr>
                            <a:t>.</a:t>
                          </a:r>
                        </a:p>
                      </a:txBody>
                      <a:tcPr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1400" dirty="0" err="1">
                              <a:latin typeface="Cambria" panose="02040503050406030204" pitchFamily="18" charset="0"/>
                              <a:ea typeface="Cambria" panose="02040503050406030204" pitchFamily="18" charset="0"/>
                            </a:rPr>
                            <a:t>Có</a:t>
                          </a:r>
                          <a:r>
                            <a:rPr lang="en-US" sz="1400" dirty="0">
                              <a:latin typeface="Cambria" panose="02040503050406030204" pitchFamily="18" charset="0"/>
                              <a:ea typeface="Cambria" panose="02040503050406030204" pitchFamily="18" charset="0"/>
                            </a:rPr>
                            <a:t> 60 </a:t>
                          </a:r>
                          <a:r>
                            <a:rPr lang="en-US" sz="1400" dirty="0" err="1">
                              <a:latin typeface="Cambria" panose="02040503050406030204" pitchFamily="18" charset="0"/>
                              <a:ea typeface="Cambria" panose="02040503050406030204" pitchFamily="18" charset="0"/>
                            </a:rPr>
                            <a:t>ảnh</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thật</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sự</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có</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biển</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số</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mô</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hình</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phát</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hiện</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đúng</a:t>
                          </a:r>
                          <a:r>
                            <a:rPr lang="en-US" sz="1400" dirty="0">
                              <a:latin typeface="Cambria" panose="02040503050406030204" pitchFamily="18" charset="0"/>
                              <a:ea typeface="Cambria" panose="02040503050406030204" pitchFamily="18" charset="0"/>
                            </a:rPr>
                            <a:t> 50 </a:t>
                          </a:r>
                          <a:r>
                            <a:rPr lang="en-US" sz="1400" dirty="0" err="1">
                              <a:latin typeface="Cambria" panose="02040503050406030204" pitchFamily="18" charset="0"/>
                              <a:ea typeface="Cambria" panose="02040503050406030204" pitchFamily="18" charset="0"/>
                            </a:rPr>
                            <a:t>ảnh</a:t>
                          </a:r>
                          <a:r>
                            <a:rPr lang="en-US" sz="1400" dirty="0">
                              <a:latin typeface="Cambria" panose="02040503050406030204" pitchFamily="18" charset="0"/>
                              <a:ea typeface="Cambria" panose="02040503050406030204" pitchFamily="18" charset="0"/>
                            </a:rPr>
                            <a:t> → </a:t>
                          </a:r>
                          <a:r>
                            <a:rPr lang="en-US" sz="1400" b="1" dirty="0">
                              <a:latin typeface="Cambria" panose="02040503050406030204" pitchFamily="18" charset="0"/>
                              <a:ea typeface="Cambria" panose="02040503050406030204" pitchFamily="18" charset="0"/>
                            </a:rPr>
                            <a:t>TP = 50</a:t>
                          </a:r>
                          <a:endParaRPr lang="en-US" sz="1400" dirty="0">
                            <a:latin typeface="Cambria" panose="02040503050406030204" pitchFamily="18" charset="0"/>
                            <a:ea typeface="Cambria" panose="02040503050406030204" pitchFamily="18" charset="0"/>
                          </a:endParaRPr>
                        </a:p>
                      </a:txBody>
                      <a:tcPr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2091071657"/>
                      </a:ext>
                    </a:extLst>
                  </a:tr>
                  <a:tr h="691641">
                    <a:tc>
                      <a:txBody>
                        <a:bodyPr/>
                        <a:lstStyle/>
                        <a:p>
                          <a:pPr algn="ctr"/>
                          <a:r>
                            <a:rPr lang="en-US" sz="1400" b="1" dirty="0">
                              <a:latin typeface="Cambria" panose="02040503050406030204" pitchFamily="18" charset="0"/>
                              <a:ea typeface="Cambria" panose="02040503050406030204" pitchFamily="18" charset="0"/>
                            </a:rPr>
                            <a:t>FP (False Positive)</a:t>
                          </a:r>
                        </a:p>
                      </a:txBody>
                      <a:tcPr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lgn="just"/>
                          <a:r>
                            <a:rPr lang="en-US" sz="1400" dirty="0" err="1">
                              <a:latin typeface="Cambria" panose="02040503050406030204" pitchFamily="18" charset="0"/>
                              <a:ea typeface="Cambria" panose="02040503050406030204" pitchFamily="18" charset="0"/>
                            </a:rPr>
                            <a:t>Dự</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đoán</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sai</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ảnh</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không</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có</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biển</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số</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là</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có</a:t>
                          </a:r>
                          <a:r>
                            <a:rPr lang="en-US" sz="1400" dirty="0">
                              <a:latin typeface="Cambria" panose="02040503050406030204" pitchFamily="18" charset="0"/>
                              <a:ea typeface="Cambria" panose="02040503050406030204" pitchFamily="18" charset="0"/>
                            </a:rPr>
                            <a:t> → </a:t>
                          </a:r>
                          <a:r>
                            <a:rPr lang="en-US" sz="1400" dirty="0" err="1">
                              <a:latin typeface="Cambria" panose="02040503050406030204" pitchFamily="18" charset="0"/>
                              <a:ea typeface="Cambria" panose="02040503050406030204" pitchFamily="18" charset="0"/>
                            </a:rPr>
                            <a:t>cần</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giảm</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để</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tránh</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báo</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nhầm</a:t>
                          </a:r>
                          <a:r>
                            <a:rPr lang="en-US" sz="1400" dirty="0">
                              <a:latin typeface="Cambria" panose="02040503050406030204" pitchFamily="18" charset="0"/>
                              <a:ea typeface="Cambria" panose="02040503050406030204" pitchFamily="18" charset="0"/>
                            </a:rPr>
                            <a:t>.</a:t>
                          </a:r>
                        </a:p>
                      </a:txBody>
                      <a:tcPr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1400">
                              <a:latin typeface="Cambria" panose="02040503050406030204" pitchFamily="18" charset="0"/>
                              <a:ea typeface="Cambria" panose="02040503050406030204" pitchFamily="18" charset="0"/>
                            </a:rPr>
                            <a:t>Có 40 ảnh không có biển số, mô hình báo nhầm 5 ảnh là có → </a:t>
                          </a:r>
                          <a:r>
                            <a:rPr lang="en-US" sz="1400" b="1">
                              <a:latin typeface="Cambria" panose="02040503050406030204" pitchFamily="18" charset="0"/>
                              <a:ea typeface="Cambria" panose="02040503050406030204" pitchFamily="18" charset="0"/>
                            </a:rPr>
                            <a:t>FP = 5</a:t>
                          </a:r>
                          <a:endParaRPr lang="en-US" sz="1400">
                            <a:latin typeface="Cambria" panose="02040503050406030204" pitchFamily="18" charset="0"/>
                            <a:ea typeface="Cambria" panose="02040503050406030204" pitchFamily="18" charset="0"/>
                          </a:endParaRPr>
                        </a:p>
                      </a:txBody>
                      <a:tcPr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2862836060"/>
                      </a:ext>
                    </a:extLst>
                  </a:tr>
                  <a:tr h="691641">
                    <a:tc>
                      <a:txBody>
                        <a:bodyPr/>
                        <a:lstStyle/>
                        <a:p>
                          <a:pPr algn="ctr"/>
                          <a:r>
                            <a:rPr lang="en-US" sz="1400" b="1" dirty="0">
                              <a:latin typeface="Cambria" panose="02040503050406030204" pitchFamily="18" charset="0"/>
                              <a:ea typeface="Cambria" panose="02040503050406030204" pitchFamily="18" charset="0"/>
                            </a:rPr>
                            <a:t>TN (True Negative)</a:t>
                          </a:r>
                        </a:p>
                      </a:txBody>
                      <a:tcPr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lgn="just"/>
                          <a:r>
                            <a:rPr lang="en-US" sz="1400" dirty="0" err="1">
                              <a:latin typeface="Cambria" panose="02040503050406030204" pitchFamily="18" charset="0"/>
                              <a:ea typeface="Cambria" panose="02040503050406030204" pitchFamily="18" charset="0"/>
                            </a:rPr>
                            <a:t>Dự</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đoán</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đúng</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ảnh</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không</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có</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biển</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số</a:t>
                          </a:r>
                          <a:r>
                            <a:rPr lang="en-US" sz="1400" dirty="0">
                              <a:latin typeface="Cambria" panose="02040503050406030204" pitchFamily="18" charset="0"/>
                              <a:ea typeface="Cambria" panose="02040503050406030204" pitchFamily="18" charset="0"/>
                            </a:rPr>
                            <a:t> → </a:t>
                          </a:r>
                          <a:r>
                            <a:rPr lang="en-US" sz="1400" dirty="0" err="1">
                              <a:latin typeface="Cambria" panose="02040503050406030204" pitchFamily="18" charset="0"/>
                              <a:ea typeface="Cambria" panose="02040503050406030204" pitchFamily="18" charset="0"/>
                            </a:rPr>
                            <a:t>càng</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cao</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càng</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tốt</a:t>
                          </a:r>
                          <a:r>
                            <a:rPr lang="en-US" sz="1400" dirty="0">
                              <a:latin typeface="Cambria" panose="02040503050406030204" pitchFamily="18" charset="0"/>
                              <a:ea typeface="Cambria" panose="02040503050406030204" pitchFamily="18" charset="0"/>
                            </a:rPr>
                            <a:t>.</a:t>
                          </a:r>
                        </a:p>
                      </a:txBody>
                      <a:tcPr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1400" dirty="0">
                              <a:latin typeface="Cambria" panose="02040503050406030204" pitchFamily="18" charset="0"/>
                              <a:ea typeface="Cambria" panose="02040503050406030204" pitchFamily="18" charset="0"/>
                            </a:rPr>
                            <a:t>Trong 40 </a:t>
                          </a:r>
                          <a:r>
                            <a:rPr lang="en-US" sz="1400" dirty="0" err="1">
                              <a:latin typeface="Cambria" panose="02040503050406030204" pitchFamily="18" charset="0"/>
                              <a:ea typeface="Cambria" panose="02040503050406030204" pitchFamily="18" charset="0"/>
                            </a:rPr>
                            <a:t>ảnh</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không</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có</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biển</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số</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mô</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hình</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đoán</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đúng</a:t>
                          </a:r>
                          <a:r>
                            <a:rPr lang="en-US" sz="1400" dirty="0">
                              <a:latin typeface="Cambria" panose="02040503050406030204" pitchFamily="18" charset="0"/>
                              <a:ea typeface="Cambria" panose="02040503050406030204" pitchFamily="18" charset="0"/>
                            </a:rPr>
                            <a:t> 35 </a:t>
                          </a:r>
                          <a:r>
                            <a:rPr lang="en-US" sz="1400" dirty="0" err="1">
                              <a:latin typeface="Cambria" panose="02040503050406030204" pitchFamily="18" charset="0"/>
                              <a:ea typeface="Cambria" panose="02040503050406030204" pitchFamily="18" charset="0"/>
                            </a:rPr>
                            <a:t>ảnh</a:t>
                          </a:r>
                          <a:r>
                            <a:rPr lang="en-US" sz="1400" dirty="0">
                              <a:latin typeface="Cambria" panose="02040503050406030204" pitchFamily="18" charset="0"/>
                              <a:ea typeface="Cambria" panose="02040503050406030204" pitchFamily="18" charset="0"/>
                            </a:rPr>
                            <a:t> → </a:t>
                          </a:r>
                          <a:r>
                            <a:rPr lang="en-US" sz="1400" b="1" dirty="0">
                              <a:latin typeface="Cambria" panose="02040503050406030204" pitchFamily="18" charset="0"/>
                              <a:ea typeface="Cambria" panose="02040503050406030204" pitchFamily="18" charset="0"/>
                            </a:rPr>
                            <a:t>TN = 35</a:t>
                          </a:r>
                          <a:endParaRPr lang="en-US" sz="1400" dirty="0">
                            <a:latin typeface="Cambria" panose="02040503050406030204" pitchFamily="18" charset="0"/>
                            <a:ea typeface="Cambria" panose="02040503050406030204" pitchFamily="18" charset="0"/>
                          </a:endParaRPr>
                        </a:p>
                      </a:txBody>
                      <a:tcPr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3544684912"/>
                      </a:ext>
                    </a:extLst>
                  </a:tr>
                  <a:tr h="691641">
                    <a:tc>
                      <a:txBody>
                        <a:bodyPr/>
                        <a:lstStyle/>
                        <a:p>
                          <a:pPr algn="ctr"/>
                          <a:r>
                            <a:rPr lang="en-US" sz="1400" b="1" dirty="0">
                              <a:latin typeface="Cambria" panose="02040503050406030204" pitchFamily="18" charset="0"/>
                              <a:ea typeface="Cambria" panose="02040503050406030204" pitchFamily="18" charset="0"/>
                            </a:rPr>
                            <a:t>FN (False Negative)</a:t>
                          </a:r>
                        </a:p>
                      </a:txBody>
                      <a:tcPr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lgn="just"/>
                          <a:r>
                            <a:rPr lang="vi-VN" sz="1400" dirty="0">
                              <a:latin typeface="Cambria" panose="02040503050406030204" pitchFamily="18" charset="0"/>
                              <a:ea typeface="Cambria" panose="02040503050406030204" pitchFamily="18" charset="0"/>
                            </a:rPr>
                            <a:t>Bỏ sót ảnh có biển số → cần giảm để không bỏ lọt</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đối</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tượng</a:t>
                          </a:r>
                          <a:r>
                            <a:rPr lang="vi-VN" sz="1400" dirty="0">
                              <a:latin typeface="Cambria" panose="02040503050406030204" pitchFamily="18" charset="0"/>
                              <a:ea typeface="Cambria" panose="02040503050406030204" pitchFamily="18" charset="0"/>
                            </a:rPr>
                            <a:t>.</a:t>
                          </a:r>
                        </a:p>
                      </a:txBody>
                      <a:tcPr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1400" dirty="0">
                              <a:latin typeface="Cambria" panose="02040503050406030204" pitchFamily="18" charset="0"/>
                              <a:ea typeface="Cambria" panose="02040503050406030204" pitchFamily="18" charset="0"/>
                            </a:rPr>
                            <a:t>Trong 60 </a:t>
                          </a:r>
                          <a:r>
                            <a:rPr lang="en-US" sz="1400" dirty="0" err="1">
                              <a:latin typeface="Cambria" panose="02040503050406030204" pitchFamily="18" charset="0"/>
                              <a:ea typeface="Cambria" panose="02040503050406030204" pitchFamily="18" charset="0"/>
                            </a:rPr>
                            <a:t>ảnh</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có</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biển</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số</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mô</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hình</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bỏ</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sót</a:t>
                          </a:r>
                          <a:r>
                            <a:rPr lang="en-US" sz="1400" dirty="0">
                              <a:latin typeface="Cambria" panose="02040503050406030204" pitchFamily="18" charset="0"/>
                              <a:ea typeface="Cambria" panose="02040503050406030204" pitchFamily="18" charset="0"/>
                            </a:rPr>
                            <a:t> 10 </a:t>
                          </a:r>
                          <a:r>
                            <a:rPr lang="en-US" sz="1400" dirty="0" err="1">
                              <a:latin typeface="Cambria" panose="02040503050406030204" pitchFamily="18" charset="0"/>
                              <a:ea typeface="Cambria" panose="02040503050406030204" pitchFamily="18" charset="0"/>
                            </a:rPr>
                            <a:t>ảnh</a:t>
                          </a:r>
                          <a:r>
                            <a:rPr lang="en-US" sz="1400" dirty="0">
                              <a:latin typeface="Cambria" panose="02040503050406030204" pitchFamily="18" charset="0"/>
                              <a:ea typeface="Cambria" panose="02040503050406030204" pitchFamily="18" charset="0"/>
                            </a:rPr>
                            <a:t> → </a:t>
                          </a:r>
                          <a:r>
                            <a:rPr lang="en-US" sz="1400" b="1" dirty="0">
                              <a:latin typeface="Cambria" panose="02040503050406030204" pitchFamily="18" charset="0"/>
                              <a:ea typeface="Cambria" panose="02040503050406030204" pitchFamily="18" charset="0"/>
                            </a:rPr>
                            <a:t>FN = 10</a:t>
                          </a:r>
                          <a:endParaRPr lang="en-US" sz="1400" dirty="0">
                            <a:latin typeface="Cambria" panose="02040503050406030204" pitchFamily="18" charset="0"/>
                            <a:ea typeface="Cambria" panose="02040503050406030204" pitchFamily="18" charset="0"/>
                          </a:endParaRPr>
                        </a:p>
                      </a:txBody>
                      <a:tcPr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1577530090"/>
                      </a:ext>
                    </a:extLst>
                  </a:tr>
                  <a:tr h="1101502">
                    <a:tc>
                      <a:txBody>
                        <a:bodyPr/>
                        <a:lstStyle/>
                        <a:p>
                          <a:pPr algn="ctr"/>
                          <a:r>
                            <a:rPr lang="en-US" sz="1400" b="1">
                              <a:solidFill>
                                <a:schemeClr val="accent6"/>
                              </a:solidFill>
                              <a:latin typeface="Cambria" panose="02040503050406030204" pitchFamily="18" charset="0"/>
                              <a:ea typeface="Cambria" panose="02040503050406030204" pitchFamily="18" charset="0"/>
                            </a:rPr>
                            <a:t>Precision</a:t>
                          </a:r>
                        </a:p>
                      </a:txBody>
                      <a:tcPr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lgn="just"/>
                          <a:r>
                            <a:rPr lang="en-US" sz="1400" dirty="0">
                              <a:latin typeface="Cambria" panose="02040503050406030204" pitchFamily="18" charset="0"/>
                              <a:ea typeface="Cambria" panose="02040503050406030204" pitchFamily="18" charset="0"/>
                            </a:rPr>
                            <a:t>Trong </a:t>
                          </a:r>
                          <a:r>
                            <a:rPr lang="en-US" sz="1400" dirty="0" err="1">
                              <a:latin typeface="Cambria" panose="02040503050406030204" pitchFamily="18" charset="0"/>
                              <a:ea typeface="Cambria" panose="02040503050406030204" pitchFamily="18" charset="0"/>
                            </a:rPr>
                            <a:t>các</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ảnh</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mô</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hình</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dự</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đoán</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là</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có</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biển</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số</a:t>
                          </a:r>
                          <a:r>
                            <a:rPr lang="en-US" sz="1400" dirty="0">
                              <a:latin typeface="Cambria" panose="02040503050406030204" pitchFamily="18" charset="0"/>
                              <a:ea typeface="Cambria" panose="02040503050406030204" pitchFamily="18" charset="0"/>
                            </a:rPr>
                            <a:t>, bao </a:t>
                          </a:r>
                          <a:r>
                            <a:rPr lang="en-US" sz="1400" dirty="0" err="1">
                              <a:latin typeface="Cambria" panose="02040503050406030204" pitchFamily="18" charset="0"/>
                              <a:ea typeface="Cambria" panose="02040503050406030204" pitchFamily="18" charset="0"/>
                            </a:rPr>
                            <a:t>nhiêu</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là</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đúng</a:t>
                          </a:r>
                          <a:r>
                            <a:rPr lang="en-US" sz="1400" dirty="0">
                              <a:latin typeface="Cambria" panose="02040503050406030204" pitchFamily="18" charset="0"/>
                              <a:ea typeface="Cambria" panose="02040503050406030204" pitchFamily="18" charset="0"/>
                            </a:rPr>
                            <a:t> → </a:t>
                          </a:r>
                          <a:r>
                            <a:rPr lang="en-US" sz="1400" dirty="0" err="1">
                              <a:latin typeface="Cambria" panose="02040503050406030204" pitchFamily="18" charset="0"/>
                              <a:ea typeface="Cambria" panose="02040503050406030204" pitchFamily="18" charset="0"/>
                            </a:rPr>
                            <a:t>Tránh</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báo</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nhầm</a:t>
                          </a:r>
                          <a:r>
                            <a:rPr lang="en-US" sz="1400" dirty="0">
                              <a:latin typeface="Cambria" panose="02040503050406030204" pitchFamily="18" charset="0"/>
                              <a:ea typeface="Cambria" panose="02040503050406030204" pitchFamily="18" charset="0"/>
                            </a:rPr>
                            <a:t>. 𝐏 = TP / (TP + FP)</a:t>
                          </a:r>
                        </a:p>
                      </a:txBody>
                      <a:tcPr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1400" dirty="0" err="1">
                              <a:latin typeface="Cambria" panose="02040503050406030204" pitchFamily="18" charset="0"/>
                              <a:ea typeface="Cambria" panose="02040503050406030204" pitchFamily="18" charset="0"/>
                            </a:rPr>
                            <a:t>Dự</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đoán</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tổng</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cộng</a:t>
                          </a:r>
                          <a:r>
                            <a:rPr lang="en-US" sz="1400" dirty="0">
                              <a:latin typeface="Cambria" panose="02040503050406030204" pitchFamily="18" charset="0"/>
                              <a:ea typeface="Cambria" panose="02040503050406030204" pitchFamily="18" charset="0"/>
                            </a:rPr>
                            <a:t> 55 </a:t>
                          </a:r>
                          <a:r>
                            <a:rPr lang="en-US" sz="1400" dirty="0" err="1">
                              <a:latin typeface="Cambria" panose="02040503050406030204" pitchFamily="18" charset="0"/>
                              <a:ea typeface="Cambria" panose="02040503050406030204" pitchFamily="18" charset="0"/>
                            </a:rPr>
                            <a:t>ảnh</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có</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biển</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số</a:t>
                          </a:r>
                          <a:r>
                            <a:rPr lang="en-US" sz="1400" dirty="0">
                              <a:latin typeface="Cambria" panose="02040503050406030204" pitchFamily="18" charset="0"/>
                              <a:ea typeface="Cambria" panose="02040503050406030204" pitchFamily="18" charset="0"/>
                            </a:rPr>
                            <a:t> (TP + FP = 50 + 5), </a:t>
                          </a:r>
                          <a:r>
                            <a:rPr lang="en-US" sz="1400" dirty="0" err="1">
                              <a:latin typeface="Cambria" panose="02040503050406030204" pitchFamily="18" charset="0"/>
                              <a:ea typeface="Cambria" panose="02040503050406030204" pitchFamily="18" charset="0"/>
                            </a:rPr>
                            <a:t>đúng</a:t>
                          </a:r>
                          <a:r>
                            <a:rPr lang="en-US" sz="1400" dirty="0">
                              <a:latin typeface="Cambria" panose="02040503050406030204" pitchFamily="18" charset="0"/>
                              <a:ea typeface="Cambria" panose="02040503050406030204" pitchFamily="18" charset="0"/>
                            </a:rPr>
                            <a:t> 50 </a:t>
                          </a:r>
                          <a:r>
                            <a:rPr lang="en-US" sz="1400" dirty="0" err="1">
                              <a:latin typeface="Cambria" panose="02040503050406030204" pitchFamily="18" charset="0"/>
                              <a:ea typeface="Cambria" panose="02040503050406030204" pitchFamily="18" charset="0"/>
                            </a:rPr>
                            <a:t>ảnh</a:t>
                          </a:r>
                          <a:r>
                            <a:rPr lang="en-US" sz="1400" dirty="0">
                              <a:latin typeface="Cambria" panose="02040503050406030204" pitchFamily="18" charset="0"/>
                              <a:ea typeface="Cambria" panose="02040503050406030204" pitchFamily="18" charset="0"/>
                            </a:rPr>
                            <a:t> → </a:t>
                          </a:r>
                          <a:r>
                            <a:rPr lang="en-US" sz="1400" b="1" dirty="0">
                              <a:latin typeface="Cambria" panose="02040503050406030204" pitchFamily="18" charset="0"/>
                              <a:ea typeface="Cambria" panose="02040503050406030204" pitchFamily="18" charset="0"/>
                            </a:rPr>
                            <a:t>Precision = 50 / 55 ≈ 0.91</a:t>
                          </a:r>
                          <a:endParaRPr lang="en-US" sz="1400" dirty="0">
                            <a:latin typeface="Cambria" panose="02040503050406030204" pitchFamily="18" charset="0"/>
                            <a:ea typeface="Cambria" panose="02040503050406030204" pitchFamily="18" charset="0"/>
                          </a:endParaRPr>
                        </a:p>
                      </a:txBody>
                      <a:tcPr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21324627"/>
                      </a:ext>
                    </a:extLst>
                  </a:tr>
                  <a:tr h="896572">
                    <a:tc>
                      <a:txBody>
                        <a:bodyPr/>
                        <a:lstStyle/>
                        <a:p>
                          <a:pPr algn="ctr"/>
                          <a:r>
                            <a:rPr lang="en-US" sz="1400" b="1" dirty="0">
                              <a:solidFill>
                                <a:schemeClr val="accent6"/>
                              </a:solidFill>
                              <a:latin typeface="Cambria" panose="02040503050406030204" pitchFamily="18" charset="0"/>
                              <a:ea typeface="Cambria" panose="02040503050406030204" pitchFamily="18" charset="0"/>
                            </a:rPr>
                            <a:t>Recall</a:t>
                          </a:r>
                        </a:p>
                      </a:txBody>
                      <a:tcPr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round/>
                          <a:headEnd type="none" w="med" len="med"/>
                          <a:tailEnd type="none" w="med" len="med"/>
                        </a:lnB>
                        <a:noFill/>
                      </a:tcPr>
                    </a:tc>
                    <a:tc>
                      <a:txBody>
                        <a:bodyPr/>
                        <a:lstStyle/>
                        <a:p>
                          <a:pPr algn="just"/>
                          <a:r>
                            <a:rPr lang="vi-VN" sz="1400" dirty="0">
                              <a:latin typeface="Cambria" panose="02040503050406030204" pitchFamily="18" charset="0"/>
                              <a:ea typeface="Cambria" panose="02040503050406030204" pitchFamily="18" charset="0"/>
                            </a:rPr>
                            <a:t>Trong tất cả ảnh </a:t>
                          </a:r>
                          <a:r>
                            <a:rPr lang="en-US" sz="1400" dirty="0" err="1">
                              <a:latin typeface="Cambria" panose="02040503050406030204" pitchFamily="18" charset="0"/>
                              <a:ea typeface="Cambria" panose="02040503050406030204" pitchFamily="18" charset="0"/>
                            </a:rPr>
                            <a:t>thật</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sự</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có</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biển</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số</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mô</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hình</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dự</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đoán</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được</a:t>
                          </a:r>
                          <a:r>
                            <a:rPr lang="en-US" sz="1400" dirty="0">
                              <a:latin typeface="Cambria" panose="02040503050406030204" pitchFamily="18" charset="0"/>
                              <a:ea typeface="Cambria" panose="02040503050406030204" pitchFamily="18" charset="0"/>
                            </a:rPr>
                            <a:t> bao </a:t>
                          </a:r>
                          <a:r>
                            <a:rPr lang="en-US" sz="1400" dirty="0" err="1">
                              <a:latin typeface="Cambria" panose="02040503050406030204" pitchFamily="18" charset="0"/>
                              <a:ea typeface="Cambria" panose="02040503050406030204" pitchFamily="18" charset="0"/>
                            </a:rPr>
                            <a:t>nhiêu</a:t>
                          </a:r>
                          <a:r>
                            <a:rPr lang="en-US" sz="1400" dirty="0">
                              <a:latin typeface="Cambria" panose="02040503050406030204" pitchFamily="18" charset="0"/>
                              <a:ea typeface="Cambria" panose="02040503050406030204" pitchFamily="18" charset="0"/>
                            </a:rPr>
                            <a:t> </a:t>
                          </a:r>
                          <a:r>
                            <a:rPr lang="vi-VN" sz="1400" dirty="0">
                              <a:latin typeface="Cambria" panose="02040503050406030204" pitchFamily="18" charset="0"/>
                              <a:ea typeface="Cambria" panose="02040503050406030204" pitchFamily="18" charset="0"/>
                            </a:rPr>
                            <a:t>→ Tránh bỏ sót.</a:t>
                          </a:r>
                          <a:r>
                            <a:rPr lang="en-US" sz="1400" dirty="0">
                              <a:latin typeface="Cambria" panose="02040503050406030204" pitchFamily="18" charset="0"/>
                              <a:ea typeface="Cambria" panose="02040503050406030204" pitchFamily="18" charset="0"/>
                            </a:rPr>
                            <a:t> 𝐑 = TP / (TP + FN)</a:t>
                          </a:r>
                          <a:endParaRPr lang="vi-VN" sz="1400" dirty="0">
                            <a:latin typeface="Cambria" panose="02040503050406030204" pitchFamily="18" charset="0"/>
                            <a:ea typeface="Cambria" panose="02040503050406030204" pitchFamily="18" charset="0"/>
                          </a:endParaRPr>
                        </a:p>
                      </a:txBody>
                      <a:tcPr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round/>
                          <a:headEnd type="none" w="med" len="med"/>
                          <a:tailEnd type="none" w="med" len="med"/>
                        </a:lnB>
                        <a:noFill/>
                      </a:tcPr>
                    </a:tc>
                    <a:tc>
                      <a:txBody>
                        <a:bodyPr/>
                        <a:lstStyle/>
                        <a:p>
                          <a:r>
                            <a:rPr lang="en-US" sz="1400" dirty="0" err="1">
                              <a:latin typeface="Cambria" panose="02040503050406030204" pitchFamily="18" charset="0"/>
                              <a:ea typeface="Cambria" panose="02040503050406030204" pitchFamily="18" charset="0"/>
                            </a:rPr>
                            <a:t>Có</a:t>
                          </a:r>
                          <a:r>
                            <a:rPr lang="en-US" sz="1400" dirty="0">
                              <a:latin typeface="Cambria" panose="02040503050406030204" pitchFamily="18" charset="0"/>
                              <a:ea typeface="Cambria" panose="02040503050406030204" pitchFamily="18" charset="0"/>
                            </a:rPr>
                            <a:t> 60 </a:t>
                          </a:r>
                          <a:r>
                            <a:rPr lang="en-US" sz="1400" dirty="0" err="1">
                              <a:latin typeface="Cambria" panose="02040503050406030204" pitchFamily="18" charset="0"/>
                              <a:ea typeface="Cambria" panose="02040503050406030204" pitchFamily="18" charset="0"/>
                            </a:rPr>
                            <a:t>ảnh</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thực</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sự</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có</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biển</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phát</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hiện</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đúng</a:t>
                          </a:r>
                          <a:r>
                            <a:rPr lang="en-US" sz="1400" dirty="0">
                              <a:latin typeface="Cambria" panose="02040503050406030204" pitchFamily="18" charset="0"/>
                              <a:ea typeface="Cambria" panose="02040503050406030204" pitchFamily="18" charset="0"/>
                            </a:rPr>
                            <a:t> 50 </a:t>
                          </a:r>
                          <a:r>
                            <a:rPr lang="en-US" sz="1400" dirty="0" err="1">
                              <a:latin typeface="Cambria" panose="02040503050406030204" pitchFamily="18" charset="0"/>
                              <a:ea typeface="Cambria" panose="02040503050406030204" pitchFamily="18" charset="0"/>
                            </a:rPr>
                            <a:t>ảnh</a:t>
                          </a:r>
                          <a:r>
                            <a:rPr lang="en-US" sz="1400" dirty="0">
                              <a:latin typeface="Cambria" panose="02040503050406030204" pitchFamily="18" charset="0"/>
                              <a:ea typeface="Cambria" panose="02040503050406030204" pitchFamily="18" charset="0"/>
                            </a:rPr>
                            <a:t> → </a:t>
                          </a:r>
                          <a:r>
                            <a:rPr lang="en-US" sz="1400" b="1" dirty="0">
                              <a:latin typeface="Cambria" panose="02040503050406030204" pitchFamily="18" charset="0"/>
                              <a:ea typeface="Cambria" panose="02040503050406030204" pitchFamily="18" charset="0"/>
                            </a:rPr>
                            <a:t>Recall = 50 / 60 ≈ 0.83</a:t>
                          </a:r>
                          <a:endParaRPr lang="en-US" sz="1400" dirty="0">
                            <a:latin typeface="Cambria" panose="02040503050406030204" pitchFamily="18" charset="0"/>
                            <a:ea typeface="Cambria" panose="02040503050406030204" pitchFamily="18" charset="0"/>
                          </a:endParaRPr>
                        </a:p>
                      </a:txBody>
                      <a:tcPr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22104281"/>
                      </a:ext>
                    </a:extLst>
                  </a:tr>
                  <a:tr h="1101502">
                    <a:tc>
                      <a:txBody>
                        <a:bodyPr/>
                        <a:lstStyle/>
                        <a:p>
                          <a:pPr algn="ctr"/>
                          <a:r>
                            <a:rPr lang="en-US" sz="1400" b="1" dirty="0">
                              <a:solidFill>
                                <a:schemeClr val="accent6"/>
                              </a:solidFill>
                              <a:latin typeface="Cambria" panose="02040503050406030204" pitchFamily="18" charset="0"/>
                              <a:ea typeface="Cambria" panose="02040503050406030204" pitchFamily="18" charset="0"/>
                            </a:rPr>
                            <a:t>F1 – Score</a:t>
                          </a:r>
                        </a:p>
                      </a:txBody>
                      <a:tcPr anchor="ctr">
                        <a:lnL w="19050" cap="flat" cmpd="sng" algn="ctr">
                          <a:solidFill>
                            <a:schemeClr val="tx1"/>
                          </a:solidFill>
                          <a:prstDash val="solid"/>
                        </a:lnL>
                        <a:lnR w="6350" cap="flat" cmpd="sng" algn="ctr">
                          <a:solidFill>
                            <a:schemeClr val="tx1">
                              <a:lumMod val="50000"/>
                              <a:lumOff val="50000"/>
                            </a:schemeClr>
                          </a:solidFill>
                          <a:prstDash val="solid"/>
                          <a:round/>
                          <a:headEnd type="none" w="med" len="med"/>
                          <a:tailEnd type="none" w="med" len="med"/>
                        </a:lnR>
                        <a:lnT w="19050" cap="flat" cmpd="sng" algn="ctr">
                          <a:solidFill>
                            <a:schemeClr val="tx1"/>
                          </a:solidFill>
                          <a:prstDash val="solid"/>
                        </a:lnT>
                        <a:lnB w="19050" cap="flat" cmpd="sng" algn="ctr">
                          <a:solidFill>
                            <a:schemeClr val="tx1"/>
                          </a:solidFill>
                          <a:prstDash val="solid"/>
                        </a:lnB>
                        <a:noFill/>
                      </a:tcPr>
                    </a:tc>
                    <a:tc>
                      <a:txBody>
                        <a:bodyPr/>
                        <a:lstStyle/>
                        <a:p>
                          <a:pPr marL="0" marR="0" lvl="0" indent="0" algn="just" defTabSz="1097280" rtl="0" eaLnBrk="1" fontAlgn="auto" latinLnBrk="0" hangingPunct="1">
                            <a:lnSpc>
                              <a:spcPct val="100000"/>
                            </a:lnSpc>
                            <a:spcBef>
                              <a:spcPts val="0"/>
                            </a:spcBef>
                            <a:spcAft>
                              <a:spcPts val="0"/>
                            </a:spcAft>
                            <a:buClrTx/>
                            <a:buSzTx/>
                            <a:buFontTx/>
                            <a:buNone/>
                            <a:tabLst/>
                            <a:defRPr/>
                          </a:pPr>
                          <a:r>
                            <a:rPr lang="en-US" sz="1400" dirty="0" err="1">
                              <a:latin typeface="Cambria" panose="02040503050406030204" pitchFamily="18" charset="0"/>
                              <a:ea typeface="Cambria" panose="02040503050406030204" pitchFamily="18" charset="0"/>
                            </a:rPr>
                            <a:t>Phản</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ánh</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sự</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cân</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bằng</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giữa</a:t>
                          </a:r>
                          <a:r>
                            <a:rPr lang="en-US" sz="1400" dirty="0">
                              <a:latin typeface="Cambria" panose="02040503050406030204" pitchFamily="18" charset="0"/>
                              <a:ea typeface="Cambria" panose="02040503050406030204" pitchFamily="18" charset="0"/>
                            </a:rPr>
                            <a:t> Precision (</a:t>
                          </a:r>
                          <a:r>
                            <a:rPr lang="en-US" sz="1400" dirty="0" err="1">
                              <a:latin typeface="Cambria" panose="02040503050406030204" pitchFamily="18" charset="0"/>
                              <a:ea typeface="Cambria" panose="02040503050406030204" pitchFamily="18" charset="0"/>
                            </a:rPr>
                            <a:t>tránh</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báo</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nhầm</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và</a:t>
                          </a:r>
                          <a:r>
                            <a:rPr lang="en-US" sz="1400" dirty="0">
                              <a:latin typeface="Cambria" panose="02040503050406030204" pitchFamily="18" charset="0"/>
                              <a:ea typeface="Cambria" panose="02040503050406030204" pitchFamily="18" charset="0"/>
                            </a:rPr>
                            <a:t> Recall (</a:t>
                          </a:r>
                          <a:r>
                            <a:rPr lang="en-US" sz="1400" dirty="0" err="1">
                              <a:latin typeface="Cambria" panose="02040503050406030204" pitchFamily="18" charset="0"/>
                              <a:ea typeface="Cambria" panose="02040503050406030204" pitchFamily="18" charset="0"/>
                            </a:rPr>
                            <a:t>tránh</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bỏ</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xót</a:t>
                          </a:r>
                          <a:r>
                            <a:rPr lang="en-US" sz="1400" dirty="0">
                              <a:latin typeface="Cambria" panose="02040503050406030204" pitchFamily="18" charset="0"/>
                              <a:ea typeface="Cambria" panose="02040503050406030204" pitchFamily="18" charset="0"/>
                            </a:rPr>
                            <a:t>). </a:t>
                          </a:r>
                          <a:r>
                            <a:rPr lang="en-US" sz="1400" b="1" dirty="0"/>
                            <a:t>F1-score </a:t>
                          </a:r>
                          <a:r>
                            <a:rPr lang="en-US" sz="1400" b="1" dirty="0" err="1"/>
                            <a:t>càng</a:t>
                          </a:r>
                          <a:r>
                            <a:rPr lang="en-US" sz="1400" b="1" dirty="0"/>
                            <a:t> </a:t>
                          </a:r>
                          <a:r>
                            <a:rPr lang="en-US" sz="1400" b="1" dirty="0" err="1"/>
                            <a:t>cao</a:t>
                          </a:r>
                          <a:r>
                            <a:rPr lang="en-US" sz="1400" dirty="0"/>
                            <a:t> → </a:t>
                          </a:r>
                          <a:r>
                            <a:rPr lang="en-US" sz="1400" dirty="0" err="1"/>
                            <a:t>mô</a:t>
                          </a:r>
                          <a:r>
                            <a:rPr lang="en-US" sz="1400" dirty="0"/>
                            <a:t> </a:t>
                          </a:r>
                          <a:r>
                            <a:rPr lang="en-US" sz="1400" dirty="0" err="1"/>
                            <a:t>hình</a:t>
                          </a:r>
                          <a:r>
                            <a:rPr lang="en-US" sz="1400" dirty="0"/>
                            <a:t> </a:t>
                          </a:r>
                          <a:r>
                            <a:rPr lang="en-US" sz="1400" b="1" dirty="0" err="1"/>
                            <a:t>hiệu</a:t>
                          </a:r>
                          <a:r>
                            <a:rPr lang="en-US" sz="1400" b="1" dirty="0"/>
                            <a:t> </a:t>
                          </a:r>
                          <a:r>
                            <a:rPr lang="en-US" sz="1400" b="1" dirty="0" err="1"/>
                            <a:t>quả</a:t>
                          </a:r>
                          <a:r>
                            <a:rPr lang="en-US" sz="1400" b="1" dirty="0"/>
                            <a:t> </a:t>
                          </a:r>
                          <a:r>
                            <a:rPr lang="en-US" sz="1400" b="1" dirty="0" err="1"/>
                            <a:t>và</a:t>
                          </a:r>
                          <a:r>
                            <a:rPr lang="en-US" sz="1400" b="1" dirty="0"/>
                            <a:t> </a:t>
                          </a:r>
                          <a:r>
                            <a:rPr lang="en-US" sz="1400" b="1" dirty="0" err="1"/>
                            <a:t>ổn</a:t>
                          </a:r>
                          <a:r>
                            <a:rPr lang="en-US" sz="1400" b="1" dirty="0"/>
                            <a:t> </a:t>
                          </a:r>
                          <a:r>
                            <a:rPr lang="en-US" sz="1400" b="1" dirty="0" err="1"/>
                            <a:t>định</a:t>
                          </a:r>
                          <a:r>
                            <a:rPr lang="en-US" sz="1400" dirty="0"/>
                            <a:t> </a:t>
                          </a:r>
                          <a:r>
                            <a:rPr lang="en-US" sz="1400" dirty="0" err="1"/>
                            <a:t>trong</a:t>
                          </a:r>
                          <a:r>
                            <a:rPr lang="en-US" sz="1400" dirty="0"/>
                            <a:t> </a:t>
                          </a:r>
                          <a:r>
                            <a:rPr lang="en-US" sz="1400" dirty="0" err="1"/>
                            <a:t>việc</a:t>
                          </a:r>
                          <a:r>
                            <a:rPr lang="en-US" sz="1400" dirty="0"/>
                            <a:t> </a:t>
                          </a:r>
                          <a:r>
                            <a:rPr lang="en-US" sz="1400" dirty="0" err="1"/>
                            <a:t>vừa</a:t>
                          </a:r>
                          <a:r>
                            <a:rPr lang="en-US" sz="1400" dirty="0"/>
                            <a:t> </a:t>
                          </a:r>
                          <a:r>
                            <a:rPr lang="en-US" sz="1400" dirty="0" err="1"/>
                            <a:t>tránh</a:t>
                          </a:r>
                          <a:r>
                            <a:rPr lang="en-US" sz="1400" dirty="0"/>
                            <a:t> </a:t>
                          </a:r>
                          <a:r>
                            <a:rPr lang="en-US" sz="1400" dirty="0" err="1"/>
                            <a:t>báo</a:t>
                          </a:r>
                          <a:r>
                            <a:rPr lang="en-US" sz="1400" dirty="0"/>
                            <a:t> </a:t>
                          </a:r>
                          <a:r>
                            <a:rPr lang="en-US" sz="1400" dirty="0" err="1"/>
                            <a:t>nhầm</a:t>
                          </a:r>
                          <a:r>
                            <a:rPr lang="en-US" sz="1400" dirty="0"/>
                            <a:t> </a:t>
                          </a:r>
                          <a:r>
                            <a:rPr lang="en-US" sz="1400" dirty="0" err="1"/>
                            <a:t>vừa</a:t>
                          </a:r>
                          <a:r>
                            <a:rPr lang="en-US" sz="1400" dirty="0"/>
                            <a:t> </a:t>
                          </a:r>
                          <a:r>
                            <a:rPr lang="en-US" sz="1400" dirty="0" err="1"/>
                            <a:t>không</a:t>
                          </a:r>
                          <a:r>
                            <a:rPr lang="en-US" sz="1400" dirty="0"/>
                            <a:t> </a:t>
                          </a:r>
                          <a:r>
                            <a:rPr lang="en-US" sz="1400" dirty="0" err="1"/>
                            <a:t>bỏ</a:t>
                          </a:r>
                          <a:r>
                            <a:rPr lang="en-US" sz="1400" dirty="0"/>
                            <a:t> </a:t>
                          </a:r>
                          <a:r>
                            <a:rPr lang="en-US" sz="1400" dirty="0" err="1"/>
                            <a:t>sót</a:t>
                          </a:r>
                          <a:r>
                            <a:rPr lang="en-US" sz="1400" dirty="0"/>
                            <a:t>.</a:t>
                          </a:r>
                        </a:p>
                        <a:p>
                          <a:pPr algn="just"/>
                          <a:r>
                            <a:rPr lang="en-US" sz="1400" dirty="0">
                              <a:latin typeface="Cambria" panose="02040503050406030204" pitchFamily="18" charset="0"/>
                              <a:ea typeface="Cambria" panose="02040503050406030204" pitchFamily="18" charset="0"/>
                            </a:rPr>
                            <a:t>F1 = 2 x  P x R / P + R</a:t>
                          </a:r>
                          <a:endParaRPr lang="vi-VN" sz="1400" dirty="0">
                            <a:latin typeface="Cambria" panose="02040503050406030204" pitchFamily="18" charset="0"/>
                            <a:ea typeface="Cambria" panose="02040503050406030204" pitchFamily="18" charset="0"/>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19050" cap="flat" cmpd="sng" algn="ctr">
                          <a:solidFill>
                            <a:schemeClr val="tx1"/>
                          </a:solidFill>
                          <a:prstDash val="solid"/>
                        </a:lnT>
                        <a:lnB w="19050" cap="flat" cmpd="sng" algn="ctr">
                          <a:solidFill>
                            <a:schemeClr val="tx1"/>
                          </a:solidFill>
                          <a:prstDash val="solid"/>
                        </a:lnB>
                        <a:noFill/>
                      </a:tcPr>
                    </a:tc>
                    <a:tc>
                      <a:txBody>
                        <a:bodyPr/>
                        <a:lstStyle/>
                        <a:p>
                          <a:pPr algn="just"/>
                          <a:r>
                            <a:rPr lang="en-US" sz="1400" dirty="0">
                              <a:latin typeface="Cambria" panose="02040503050406030204" pitchFamily="18" charset="0"/>
                              <a:ea typeface="Cambria" panose="02040503050406030204" pitchFamily="18" charset="0"/>
                            </a:rPr>
                            <a:t>Thực </a:t>
                          </a:r>
                          <a:r>
                            <a:rPr lang="en-US" sz="1400" dirty="0" err="1">
                              <a:latin typeface="Cambria" panose="02040503050406030204" pitchFamily="18" charset="0"/>
                              <a:ea typeface="Cambria" panose="02040503050406030204" pitchFamily="18" charset="0"/>
                            </a:rPr>
                            <a:t>tế</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với</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mô</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hình</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của</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dự</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án</a:t>
                          </a:r>
                          <a:r>
                            <a:rPr lang="en-US" sz="1400" dirty="0">
                              <a:latin typeface="Cambria" panose="02040503050406030204" pitchFamily="18" charset="0"/>
                              <a:ea typeface="Cambria" panose="02040503050406030204" pitchFamily="18" charset="0"/>
                            </a:rPr>
                            <a:t>:</a:t>
                          </a:r>
                        </a:p>
                        <a:p>
                          <a:pPr marL="0" marR="0" lvl="0" indent="0" algn="just" defTabSz="1097280" rtl="0" eaLnBrk="1" fontAlgn="auto" latinLnBrk="0" hangingPunct="1">
                            <a:lnSpc>
                              <a:spcPct val="100000"/>
                            </a:lnSpc>
                            <a:spcBef>
                              <a:spcPts val="0"/>
                            </a:spcBef>
                            <a:spcAft>
                              <a:spcPts val="0"/>
                            </a:spcAft>
                            <a:buClrTx/>
                            <a:buSzTx/>
                            <a:buFontTx/>
                            <a:buNone/>
                            <a:tabLst/>
                            <a:defRPr/>
                          </a:pP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Nhận</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diện</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biển</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số</a:t>
                          </a:r>
                          <a:r>
                            <a:rPr lang="en-US" sz="1400" dirty="0">
                              <a:latin typeface="Cambria" panose="02040503050406030204" pitchFamily="18" charset="0"/>
                              <a:ea typeface="Cambria" panose="02040503050406030204" pitchFamily="18" charset="0"/>
                            </a:rPr>
                            <a:t>: F1 = 2 x </a:t>
                          </a:r>
                          <a14:m>
                            <m:oMath xmlns:m="http://schemas.openxmlformats.org/officeDocument/2006/math">
                              <m:f>
                                <m:fPr>
                                  <m:ctrlPr>
                                    <a:rPr lang="en-US" sz="1400" b="0" i="1" smtClean="0">
                                      <a:latin typeface="Cambria Math" panose="02040503050406030204" pitchFamily="18" charset="0"/>
                                      <a:ea typeface="Cambria" panose="02040503050406030204" pitchFamily="18" charset="0"/>
                                    </a:rPr>
                                  </m:ctrlPr>
                                </m:fPr>
                                <m:num>
                                  <m:r>
                                    <a:rPr lang="en-US" sz="1400" b="0" i="1" smtClean="0">
                                      <a:latin typeface="Cambria Math" panose="02040503050406030204" pitchFamily="18" charset="0"/>
                                      <a:ea typeface="Cambria" panose="02040503050406030204" pitchFamily="18" charset="0"/>
                                    </a:rPr>
                                    <m:t>0.9</m:t>
                                  </m:r>
                                  <m:r>
                                    <a:rPr lang="en-US" sz="1400" b="0" i="1" smtClean="0">
                                      <a:latin typeface="Cambria Math" panose="02040503050406030204" pitchFamily="18" charset="0"/>
                                      <a:ea typeface="Cambria" panose="02040503050406030204" pitchFamily="18" charset="0"/>
                                    </a:rPr>
                                    <m:t>95</m:t>
                                  </m:r>
                                  <m:r>
                                    <a:rPr lang="en-US" sz="1400" b="0" i="1" smtClean="0">
                                      <a:latin typeface="Cambria Math" panose="02040503050406030204" pitchFamily="18" charset="0"/>
                                      <a:ea typeface="Cambria" panose="02040503050406030204" pitchFamily="18" charset="0"/>
                                    </a:rPr>
                                    <m:t> </m:t>
                                  </m:r>
                                  <m:r>
                                    <a:rPr lang="en-US" sz="1400" b="0" i="1" smtClean="0">
                                      <a:latin typeface="Cambria Math" panose="02040503050406030204" pitchFamily="18" charset="0"/>
                                      <a:ea typeface="Cambria" panose="02040503050406030204" pitchFamily="18" charset="0"/>
                                    </a:rPr>
                                    <m:t>𝑥</m:t>
                                  </m:r>
                                  <m:r>
                                    <a:rPr lang="en-US" sz="1400" b="0" i="1" smtClean="0">
                                      <a:latin typeface="Cambria Math" panose="02040503050406030204" pitchFamily="18" charset="0"/>
                                      <a:ea typeface="Cambria" panose="02040503050406030204" pitchFamily="18" charset="0"/>
                                    </a:rPr>
                                    <m:t> 0.995</m:t>
                                  </m:r>
                                </m:num>
                                <m:den>
                                  <m:r>
                                    <a:rPr lang="en-US" sz="1400" b="0" i="1" smtClean="0">
                                      <a:latin typeface="Cambria Math" panose="02040503050406030204" pitchFamily="18" charset="0"/>
                                      <a:ea typeface="Cambria" panose="02040503050406030204" pitchFamily="18" charset="0"/>
                                    </a:rPr>
                                    <m:t>0.9</m:t>
                                  </m:r>
                                  <m:r>
                                    <a:rPr lang="en-US" sz="1400" b="0" i="1" smtClean="0">
                                      <a:latin typeface="Cambria Math" panose="02040503050406030204" pitchFamily="18" charset="0"/>
                                      <a:ea typeface="Cambria" panose="02040503050406030204" pitchFamily="18" charset="0"/>
                                    </a:rPr>
                                    <m:t>95 </m:t>
                                  </m:r>
                                  <m:r>
                                    <a:rPr lang="en-US" sz="1400" b="0" i="1" smtClean="0">
                                      <a:latin typeface="Cambria Math" panose="02040503050406030204" pitchFamily="18" charset="0"/>
                                      <a:ea typeface="Cambria" panose="02040503050406030204" pitchFamily="18" charset="0"/>
                                    </a:rPr>
                                    <m:t>+</m:t>
                                  </m:r>
                                  <m:r>
                                    <a:rPr lang="en-US" sz="1400" b="0" i="1" smtClean="0">
                                      <a:latin typeface="Cambria Math" panose="02040503050406030204" pitchFamily="18" charset="0"/>
                                      <a:ea typeface="Cambria" panose="02040503050406030204" pitchFamily="18" charset="0"/>
                                    </a:rPr>
                                    <m:t> </m:t>
                                  </m:r>
                                  <m:r>
                                    <a:rPr lang="en-US" sz="1400" b="0" i="1" smtClean="0">
                                      <a:latin typeface="Cambria Math" panose="02040503050406030204" pitchFamily="18" charset="0"/>
                                      <a:ea typeface="Cambria" panose="02040503050406030204" pitchFamily="18" charset="0"/>
                                    </a:rPr>
                                    <m:t>0.8</m:t>
                                  </m:r>
                                  <m:r>
                                    <a:rPr lang="en-US" sz="1400" b="0" i="1" smtClean="0">
                                      <a:latin typeface="Cambria Math" panose="02040503050406030204" pitchFamily="18" charset="0"/>
                                      <a:ea typeface="Cambria" panose="02040503050406030204" pitchFamily="18" charset="0"/>
                                    </a:rPr>
                                    <m:t>95</m:t>
                                  </m:r>
                                </m:den>
                              </m:f>
                            </m:oMath>
                          </a14:m>
                          <a:r>
                            <a:rPr lang="en-US" sz="1400" dirty="0">
                              <a:latin typeface="Cambria" panose="02040503050406030204" pitchFamily="18" charset="0"/>
                              <a:ea typeface="Cambria" panose="02040503050406030204" pitchFamily="18" charset="0"/>
                            </a:rPr>
                            <a:t> = </a:t>
                          </a:r>
                          <a:r>
                            <a:rPr lang="en-US" sz="1400" dirty="0"/>
                            <a:t>0.995 </a:t>
                          </a:r>
                          <a14:m>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100 %</m:t>
                              </m:r>
                            </m:oMath>
                          </a14:m>
                          <a:endParaRPr lang="en-US" sz="1400" dirty="0"/>
                        </a:p>
                        <a:p>
                          <a:pPr marL="0" marR="0" lvl="0" indent="0" algn="just" defTabSz="1097280" rtl="0" eaLnBrk="1" fontAlgn="auto" latinLnBrk="0" hangingPunct="1">
                            <a:lnSpc>
                              <a:spcPct val="100000"/>
                            </a:lnSpc>
                            <a:spcBef>
                              <a:spcPts val="0"/>
                            </a:spcBef>
                            <a:spcAft>
                              <a:spcPts val="0"/>
                            </a:spcAft>
                            <a:buClrTx/>
                            <a:buSzTx/>
                            <a:buFontTx/>
                            <a:buNone/>
                            <a:tabLst/>
                            <a:defRPr/>
                          </a:pP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Nhận</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diện</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ký</a:t>
                          </a:r>
                          <a:r>
                            <a:rPr lang="en-US" sz="1400" baseline="0" dirty="0">
                              <a:latin typeface="Cambria" panose="02040503050406030204" pitchFamily="18" charset="0"/>
                              <a:ea typeface="Cambria" panose="02040503050406030204" pitchFamily="18" charset="0"/>
                            </a:rPr>
                            <a:t> </a:t>
                          </a:r>
                          <a:r>
                            <a:rPr lang="en-US" sz="1400" baseline="0" dirty="0" err="1">
                              <a:latin typeface="Cambria" panose="02040503050406030204" pitchFamily="18" charset="0"/>
                              <a:ea typeface="Cambria" panose="02040503050406030204" pitchFamily="18" charset="0"/>
                            </a:rPr>
                            <a:t>tự</a:t>
                          </a:r>
                          <a:r>
                            <a:rPr lang="en-US" sz="1400" dirty="0">
                              <a:latin typeface="Cambria" panose="02040503050406030204" pitchFamily="18" charset="0"/>
                              <a:ea typeface="Cambria" panose="02040503050406030204" pitchFamily="18" charset="0"/>
                            </a:rPr>
                            <a:t>: F1 = 2 x </a:t>
                          </a:r>
                          <a14:m>
                            <m:oMath xmlns:m="http://schemas.openxmlformats.org/officeDocument/2006/math">
                              <m:f>
                                <m:fPr>
                                  <m:ctrlPr>
                                    <a:rPr lang="en-US" sz="1400" b="0" i="1" smtClean="0">
                                      <a:latin typeface="Cambria Math" panose="02040503050406030204" pitchFamily="18" charset="0"/>
                                      <a:ea typeface="Cambria" panose="02040503050406030204" pitchFamily="18" charset="0"/>
                                    </a:rPr>
                                  </m:ctrlPr>
                                </m:fPr>
                                <m:num>
                                  <m:r>
                                    <a:rPr lang="en-US" sz="1400" b="0" i="1" smtClean="0">
                                      <a:latin typeface="Cambria Math" panose="02040503050406030204" pitchFamily="18" charset="0"/>
                                      <a:ea typeface="Cambria" panose="02040503050406030204" pitchFamily="18" charset="0"/>
                                    </a:rPr>
                                    <m:t>0.9</m:t>
                                  </m:r>
                                  <m:r>
                                    <a:rPr lang="en-US" sz="1400" b="0" i="1" smtClean="0">
                                      <a:latin typeface="Cambria Math" panose="02040503050406030204" pitchFamily="18" charset="0"/>
                                      <a:ea typeface="Cambria" panose="02040503050406030204" pitchFamily="18" charset="0"/>
                                    </a:rPr>
                                    <m:t>79</m:t>
                                  </m:r>
                                  <m:r>
                                    <a:rPr lang="en-US" sz="1400" b="0" i="1" smtClean="0">
                                      <a:latin typeface="Cambria Math" panose="02040503050406030204" pitchFamily="18" charset="0"/>
                                      <a:ea typeface="Cambria" panose="02040503050406030204" pitchFamily="18" charset="0"/>
                                    </a:rPr>
                                    <m:t> </m:t>
                                  </m:r>
                                  <m:r>
                                    <a:rPr lang="en-US" sz="1400" b="0" i="1" smtClean="0">
                                      <a:latin typeface="Cambria Math" panose="02040503050406030204" pitchFamily="18" charset="0"/>
                                      <a:ea typeface="Cambria" panose="02040503050406030204" pitchFamily="18" charset="0"/>
                                    </a:rPr>
                                    <m:t>𝑥</m:t>
                                  </m:r>
                                  <m:r>
                                    <a:rPr lang="en-US" sz="1400" b="0" i="1" smtClean="0">
                                      <a:latin typeface="Cambria Math" panose="02040503050406030204" pitchFamily="18" charset="0"/>
                                      <a:ea typeface="Cambria" panose="02040503050406030204" pitchFamily="18" charset="0"/>
                                    </a:rPr>
                                    <m:t> 0.94</m:t>
                                  </m:r>
                                </m:num>
                                <m:den>
                                  <m:r>
                                    <a:rPr lang="en-US" sz="1400" b="0" i="1" smtClean="0">
                                      <a:latin typeface="Cambria Math" panose="02040503050406030204" pitchFamily="18" charset="0"/>
                                      <a:ea typeface="Cambria" panose="02040503050406030204" pitchFamily="18" charset="0"/>
                                    </a:rPr>
                                    <m:t>0.9</m:t>
                                  </m:r>
                                  <m:r>
                                    <a:rPr lang="en-US" sz="1400" b="0" i="1" smtClean="0">
                                      <a:latin typeface="Cambria Math" panose="02040503050406030204" pitchFamily="18" charset="0"/>
                                      <a:ea typeface="Cambria" panose="02040503050406030204" pitchFamily="18" charset="0"/>
                                    </a:rPr>
                                    <m:t>79 </m:t>
                                  </m:r>
                                  <m:r>
                                    <a:rPr lang="en-US" sz="1400" b="0" i="1" smtClean="0">
                                      <a:latin typeface="Cambria Math" panose="02040503050406030204" pitchFamily="18" charset="0"/>
                                      <a:ea typeface="Cambria" panose="02040503050406030204" pitchFamily="18" charset="0"/>
                                    </a:rPr>
                                    <m:t>+</m:t>
                                  </m:r>
                                  <m:r>
                                    <a:rPr lang="en-US" sz="1400" b="0" i="1" smtClean="0">
                                      <a:latin typeface="Cambria Math" panose="02040503050406030204" pitchFamily="18" charset="0"/>
                                      <a:ea typeface="Cambria" panose="02040503050406030204" pitchFamily="18" charset="0"/>
                                    </a:rPr>
                                    <m:t> </m:t>
                                  </m:r>
                                  <m:r>
                                    <a:rPr lang="en-US" sz="1400" b="0" i="1" smtClean="0">
                                      <a:latin typeface="Cambria Math" panose="02040503050406030204" pitchFamily="18" charset="0"/>
                                      <a:ea typeface="Cambria" panose="02040503050406030204" pitchFamily="18" charset="0"/>
                                    </a:rPr>
                                    <m:t>0.</m:t>
                                  </m:r>
                                  <m:r>
                                    <a:rPr lang="en-US" sz="1400" b="0" i="1" smtClean="0">
                                      <a:latin typeface="Cambria Math" panose="02040503050406030204" pitchFamily="18" charset="0"/>
                                      <a:ea typeface="Cambria" panose="02040503050406030204" pitchFamily="18" charset="0"/>
                                    </a:rPr>
                                    <m:t>94</m:t>
                                  </m:r>
                                </m:den>
                              </m:f>
                            </m:oMath>
                          </a14:m>
                          <a:r>
                            <a:rPr lang="en-US" sz="1400" dirty="0">
                              <a:latin typeface="Cambria" panose="02040503050406030204" pitchFamily="18" charset="0"/>
                              <a:ea typeface="Cambria" panose="02040503050406030204" pitchFamily="18" charset="0"/>
                            </a:rPr>
                            <a:t> = </a:t>
                          </a:r>
                          <a:r>
                            <a:rPr lang="en-US" sz="1400" dirty="0"/>
                            <a:t>0.959 </a:t>
                          </a:r>
                          <a14:m>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9</m:t>
                              </m:r>
                              <m:r>
                                <a:rPr lang="en-US" sz="1400" b="0" i="1" smtClean="0">
                                  <a:latin typeface="Cambria Math" panose="02040503050406030204" pitchFamily="18" charset="0"/>
                                  <a:ea typeface="Cambria Math" panose="02040503050406030204" pitchFamily="18" charset="0"/>
                                </a:rPr>
                                <m:t>6</m:t>
                              </m:r>
                              <m:r>
                                <a:rPr lang="en-US" sz="1400" b="0" i="1" smtClean="0">
                                  <a:latin typeface="Cambria Math" panose="02040503050406030204" pitchFamily="18" charset="0"/>
                                  <a:ea typeface="Cambria Math" panose="02040503050406030204" pitchFamily="18" charset="0"/>
                                </a:rPr>
                                <m:t> %</m:t>
                              </m:r>
                            </m:oMath>
                          </a14:m>
                          <a:endParaRPr lang="en-US" sz="1400" dirty="0"/>
                        </a:p>
                        <a:p>
                          <a:pPr algn="just"/>
                          <a:endParaRPr lang="en-US" sz="1400" dirty="0">
                            <a:latin typeface="Cambria" panose="02040503050406030204" pitchFamily="18" charset="0"/>
                            <a:ea typeface="Cambria" panose="02040503050406030204" pitchFamily="18" charset="0"/>
                          </a:endParaRPr>
                        </a:p>
                      </a:txBody>
                      <a:tcPr anchor="ctr">
                        <a:lnL w="6350" cap="flat" cmpd="sng" algn="ctr">
                          <a:solidFill>
                            <a:schemeClr val="tx1">
                              <a:lumMod val="50000"/>
                              <a:lumOff val="50000"/>
                            </a:schemeClr>
                          </a:solidFill>
                          <a:prstDash val="solid"/>
                          <a:round/>
                          <a:headEnd type="none" w="med" len="med"/>
                          <a:tailEnd type="none" w="med" len="me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1105927110"/>
                      </a:ext>
                    </a:extLst>
                  </a:tr>
                </a:tbl>
              </a:graphicData>
            </a:graphic>
          </p:graphicFrame>
        </mc:Choice>
        <mc:Fallback>
          <p:graphicFrame>
            <p:nvGraphicFramePr>
              <p:cNvPr id="7" name="Table 6">
                <a:extLst>
                  <a:ext uri="{FF2B5EF4-FFF2-40B4-BE49-F238E27FC236}">
                    <a16:creationId xmlns:a16="http://schemas.microsoft.com/office/drawing/2014/main" id="{FAA08213-70FE-B4DC-BDB9-13CF0D41EAF6}"/>
                  </a:ext>
                </a:extLst>
              </p:cNvPr>
              <p:cNvGraphicFramePr>
                <a:graphicFrameLocks noGrp="1"/>
              </p:cNvGraphicFramePr>
              <p:nvPr>
                <p:extLst>
                  <p:ext uri="{D42A27DB-BD31-4B8C-83A1-F6EECF244321}">
                    <p14:modId xmlns:p14="http://schemas.microsoft.com/office/powerpoint/2010/main" val="548600121"/>
                  </p:ext>
                </p:extLst>
              </p:nvPr>
            </p:nvGraphicFramePr>
            <p:xfrm>
              <a:off x="7316023" y="1314927"/>
              <a:ext cx="7194176" cy="6822343"/>
            </p:xfrm>
            <a:graphic>
              <a:graphicData uri="http://schemas.openxmlformats.org/drawingml/2006/table">
                <a:tbl>
                  <a:tblPr>
                    <a:solidFill>
                      <a:schemeClr val="bg1"/>
                    </a:solidFill>
                  </a:tblPr>
                  <a:tblGrid>
                    <a:gridCol w="1675916">
                      <a:extLst>
                        <a:ext uri="{9D8B030D-6E8A-4147-A177-3AD203B41FA5}">
                          <a16:colId xmlns:a16="http://schemas.microsoft.com/office/drawing/2014/main" val="3981039613"/>
                        </a:ext>
                      </a:extLst>
                    </a:gridCol>
                    <a:gridCol w="2524576">
                      <a:extLst>
                        <a:ext uri="{9D8B030D-6E8A-4147-A177-3AD203B41FA5}">
                          <a16:colId xmlns:a16="http://schemas.microsoft.com/office/drawing/2014/main" val="579840019"/>
                        </a:ext>
                      </a:extLst>
                    </a:gridCol>
                    <a:gridCol w="2993684">
                      <a:extLst>
                        <a:ext uri="{9D8B030D-6E8A-4147-A177-3AD203B41FA5}">
                          <a16:colId xmlns:a16="http://schemas.microsoft.com/office/drawing/2014/main" val="679380279"/>
                        </a:ext>
                      </a:extLst>
                    </a:gridCol>
                  </a:tblGrid>
                  <a:tr h="304800">
                    <a:tc>
                      <a:txBody>
                        <a:bodyPr/>
                        <a:lstStyle/>
                        <a:p>
                          <a:pPr algn="ctr"/>
                          <a:r>
                            <a:rPr lang="en-US" sz="1400" b="1">
                              <a:latin typeface="Cambria" panose="02040503050406030204" pitchFamily="18" charset="0"/>
                              <a:ea typeface="Cambria" panose="02040503050406030204" pitchFamily="18" charset="0"/>
                            </a:rPr>
                            <a:t>Chỉ số</a:t>
                          </a:r>
                          <a:endParaRPr lang="en-US" sz="1400">
                            <a:latin typeface="Cambria" panose="02040503050406030204" pitchFamily="18" charset="0"/>
                            <a:ea typeface="Cambria" panose="02040503050406030204" pitchFamily="18" charset="0"/>
                          </a:endParaRPr>
                        </a:p>
                      </a:txBody>
                      <a:tcPr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lgn="ctr"/>
                          <a:r>
                            <a:rPr lang="en-US" sz="1400" b="1">
                              <a:latin typeface="Cambria" panose="02040503050406030204" pitchFamily="18" charset="0"/>
                              <a:ea typeface="Cambria" panose="02040503050406030204" pitchFamily="18" charset="0"/>
                            </a:rPr>
                            <a:t>Ý nghĩa &amp; Tác dụng</a:t>
                          </a:r>
                          <a:endParaRPr lang="en-US" sz="1400">
                            <a:latin typeface="Cambria" panose="02040503050406030204" pitchFamily="18" charset="0"/>
                            <a:ea typeface="Cambria" panose="02040503050406030204" pitchFamily="18" charset="0"/>
                          </a:endParaRPr>
                        </a:p>
                      </a:txBody>
                      <a:tcPr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lgn="ctr"/>
                          <a:r>
                            <a:rPr lang="en-US" sz="1400" b="1" dirty="0" err="1">
                              <a:latin typeface="Cambria" panose="02040503050406030204" pitchFamily="18" charset="0"/>
                              <a:ea typeface="Cambria" panose="02040503050406030204" pitchFamily="18" charset="0"/>
                            </a:rPr>
                            <a:t>Ví</a:t>
                          </a:r>
                          <a:r>
                            <a:rPr lang="en-US" sz="1400" b="1" dirty="0">
                              <a:latin typeface="Cambria" panose="02040503050406030204" pitchFamily="18" charset="0"/>
                              <a:ea typeface="Cambria" panose="02040503050406030204" pitchFamily="18" charset="0"/>
                            </a:rPr>
                            <a:t> </a:t>
                          </a:r>
                          <a:r>
                            <a:rPr lang="en-US" sz="1400" b="1" dirty="0" err="1">
                              <a:latin typeface="Cambria" panose="02040503050406030204" pitchFamily="18" charset="0"/>
                              <a:ea typeface="Cambria" panose="02040503050406030204" pitchFamily="18" charset="0"/>
                            </a:rPr>
                            <a:t>dụ</a:t>
                          </a:r>
                          <a:r>
                            <a:rPr lang="en-US" sz="1400" b="1" dirty="0">
                              <a:latin typeface="Cambria" panose="02040503050406030204" pitchFamily="18" charset="0"/>
                              <a:ea typeface="Cambria" panose="02040503050406030204" pitchFamily="18" charset="0"/>
                            </a:rPr>
                            <a:t> </a:t>
                          </a:r>
                          <a:r>
                            <a:rPr lang="en-US" sz="1400" b="1" dirty="0" err="1">
                              <a:latin typeface="Cambria" panose="02040503050406030204" pitchFamily="18" charset="0"/>
                              <a:ea typeface="Cambria" panose="02040503050406030204" pitchFamily="18" charset="0"/>
                            </a:rPr>
                            <a:t>trên</a:t>
                          </a:r>
                          <a:r>
                            <a:rPr lang="en-US" sz="1400" b="1" dirty="0">
                              <a:latin typeface="Cambria" panose="02040503050406030204" pitchFamily="18" charset="0"/>
                              <a:ea typeface="Cambria" panose="02040503050406030204" pitchFamily="18" charset="0"/>
                            </a:rPr>
                            <a:t> 100 </a:t>
                          </a:r>
                          <a:r>
                            <a:rPr lang="en-US" sz="1400" b="1" dirty="0" err="1">
                              <a:latin typeface="Cambria" panose="02040503050406030204" pitchFamily="18" charset="0"/>
                              <a:ea typeface="Cambria" panose="02040503050406030204" pitchFamily="18" charset="0"/>
                            </a:rPr>
                            <a:t>ảnh</a:t>
                          </a:r>
                          <a:endParaRPr lang="en-US" sz="1400" dirty="0">
                            <a:latin typeface="Cambria" panose="02040503050406030204" pitchFamily="18" charset="0"/>
                            <a:ea typeface="Cambria" panose="02040503050406030204" pitchFamily="18" charset="0"/>
                          </a:endParaRPr>
                        </a:p>
                      </a:txBody>
                      <a:tcPr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4024957430"/>
                      </a:ext>
                    </a:extLst>
                  </a:tr>
                  <a:tr h="731520">
                    <a:tc>
                      <a:txBody>
                        <a:bodyPr/>
                        <a:lstStyle/>
                        <a:p>
                          <a:pPr algn="ctr"/>
                          <a:r>
                            <a:rPr lang="en-US" sz="1400" b="1" dirty="0">
                              <a:latin typeface="Cambria" panose="02040503050406030204" pitchFamily="18" charset="0"/>
                              <a:ea typeface="Cambria" panose="02040503050406030204" pitchFamily="18" charset="0"/>
                            </a:rPr>
                            <a:t>TP (True Positive)</a:t>
                          </a:r>
                        </a:p>
                      </a:txBody>
                      <a:tcPr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lgn="just"/>
                          <a:r>
                            <a:rPr lang="en-US" sz="1400" dirty="0" err="1">
                              <a:latin typeface="Cambria" panose="02040503050406030204" pitchFamily="18" charset="0"/>
                              <a:ea typeface="Cambria" panose="02040503050406030204" pitchFamily="18" charset="0"/>
                            </a:rPr>
                            <a:t>Dự</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đoán</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đúng</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ảnh</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có</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biển</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số</a:t>
                          </a:r>
                          <a:r>
                            <a:rPr lang="en-US" sz="1400" dirty="0">
                              <a:latin typeface="Cambria" panose="02040503050406030204" pitchFamily="18" charset="0"/>
                              <a:ea typeface="Cambria" panose="02040503050406030204" pitchFamily="18" charset="0"/>
                            </a:rPr>
                            <a:t> → </a:t>
                          </a:r>
                          <a:r>
                            <a:rPr lang="en-US" sz="1400" dirty="0" err="1">
                              <a:latin typeface="Cambria" panose="02040503050406030204" pitchFamily="18" charset="0"/>
                              <a:ea typeface="Cambria" panose="02040503050406030204" pitchFamily="18" charset="0"/>
                            </a:rPr>
                            <a:t>càng</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cao</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càng</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tốt</a:t>
                          </a:r>
                          <a:r>
                            <a:rPr lang="en-US" sz="1400" dirty="0">
                              <a:latin typeface="Cambria" panose="02040503050406030204" pitchFamily="18" charset="0"/>
                              <a:ea typeface="Cambria" panose="02040503050406030204" pitchFamily="18" charset="0"/>
                            </a:rPr>
                            <a:t>.</a:t>
                          </a:r>
                        </a:p>
                      </a:txBody>
                      <a:tcPr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1400" dirty="0" err="1">
                              <a:latin typeface="Cambria" panose="02040503050406030204" pitchFamily="18" charset="0"/>
                              <a:ea typeface="Cambria" panose="02040503050406030204" pitchFamily="18" charset="0"/>
                            </a:rPr>
                            <a:t>Có</a:t>
                          </a:r>
                          <a:r>
                            <a:rPr lang="en-US" sz="1400" dirty="0">
                              <a:latin typeface="Cambria" panose="02040503050406030204" pitchFamily="18" charset="0"/>
                              <a:ea typeface="Cambria" panose="02040503050406030204" pitchFamily="18" charset="0"/>
                            </a:rPr>
                            <a:t> 60 </a:t>
                          </a:r>
                          <a:r>
                            <a:rPr lang="en-US" sz="1400" dirty="0" err="1">
                              <a:latin typeface="Cambria" panose="02040503050406030204" pitchFamily="18" charset="0"/>
                              <a:ea typeface="Cambria" panose="02040503050406030204" pitchFamily="18" charset="0"/>
                            </a:rPr>
                            <a:t>ảnh</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thật</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sự</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có</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biển</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số</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mô</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hình</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phát</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hiện</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đúng</a:t>
                          </a:r>
                          <a:r>
                            <a:rPr lang="en-US" sz="1400" dirty="0">
                              <a:latin typeface="Cambria" panose="02040503050406030204" pitchFamily="18" charset="0"/>
                              <a:ea typeface="Cambria" panose="02040503050406030204" pitchFamily="18" charset="0"/>
                            </a:rPr>
                            <a:t> 50 </a:t>
                          </a:r>
                          <a:r>
                            <a:rPr lang="en-US" sz="1400" dirty="0" err="1">
                              <a:latin typeface="Cambria" panose="02040503050406030204" pitchFamily="18" charset="0"/>
                              <a:ea typeface="Cambria" panose="02040503050406030204" pitchFamily="18" charset="0"/>
                            </a:rPr>
                            <a:t>ảnh</a:t>
                          </a:r>
                          <a:r>
                            <a:rPr lang="en-US" sz="1400" dirty="0">
                              <a:latin typeface="Cambria" panose="02040503050406030204" pitchFamily="18" charset="0"/>
                              <a:ea typeface="Cambria" panose="02040503050406030204" pitchFamily="18" charset="0"/>
                            </a:rPr>
                            <a:t> → </a:t>
                          </a:r>
                          <a:r>
                            <a:rPr lang="en-US" sz="1400" b="1" dirty="0">
                              <a:latin typeface="Cambria" panose="02040503050406030204" pitchFamily="18" charset="0"/>
                              <a:ea typeface="Cambria" panose="02040503050406030204" pitchFamily="18" charset="0"/>
                            </a:rPr>
                            <a:t>TP = 50</a:t>
                          </a:r>
                          <a:endParaRPr lang="en-US" sz="1400" dirty="0">
                            <a:latin typeface="Cambria" panose="02040503050406030204" pitchFamily="18" charset="0"/>
                            <a:ea typeface="Cambria" panose="02040503050406030204" pitchFamily="18" charset="0"/>
                          </a:endParaRPr>
                        </a:p>
                      </a:txBody>
                      <a:tcPr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2091071657"/>
                      </a:ext>
                    </a:extLst>
                  </a:tr>
                  <a:tr h="731520">
                    <a:tc>
                      <a:txBody>
                        <a:bodyPr/>
                        <a:lstStyle/>
                        <a:p>
                          <a:pPr algn="ctr"/>
                          <a:r>
                            <a:rPr lang="en-US" sz="1400" b="1" dirty="0">
                              <a:latin typeface="Cambria" panose="02040503050406030204" pitchFamily="18" charset="0"/>
                              <a:ea typeface="Cambria" panose="02040503050406030204" pitchFamily="18" charset="0"/>
                            </a:rPr>
                            <a:t>FP (False Positive)</a:t>
                          </a:r>
                        </a:p>
                      </a:txBody>
                      <a:tcPr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lgn="just"/>
                          <a:r>
                            <a:rPr lang="en-US" sz="1400" dirty="0" err="1">
                              <a:latin typeface="Cambria" panose="02040503050406030204" pitchFamily="18" charset="0"/>
                              <a:ea typeface="Cambria" panose="02040503050406030204" pitchFamily="18" charset="0"/>
                            </a:rPr>
                            <a:t>Dự</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đoán</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sai</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ảnh</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không</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có</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biển</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số</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là</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có</a:t>
                          </a:r>
                          <a:r>
                            <a:rPr lang="en-US" sz="1400" dirty="0">
                              <a:latin typeface="Cambria" panose="02040503050406030204" pitchFamily="18" charset="0"/>
                              <a:ea typeface="Cambria" panose="02040503050406030204" pitchFamily="18" charset="0"/>
                            </a:rPr>
                            <a:t> → </a:t>
                          </a:r>
                          <a:r>
                            <a:rPr lang="en-US" sz="1400" dirty="0" err="1">
                              <a:latin typeface="Cambria" panose="02040503050406030204" pitchFamily="18" charset="0"/>
                              <a:ea typeface="Cambria" panose="02040503050406030204" pitchFamily="18" charset="0"/>
                            </a:rPr>
                            <a:t>cần</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giảm</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để</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tránh</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báo</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nhầm</a:t>
                          </a:r>
                          <a:r>
                            <a:rPr lang="en-US" sz="1400" dirty="0">
                              <a:latin typeface="Cambria" panose="02040503050406030204" pitchFamily="18" charset="0"/>
                              <a:ea typeface="Cambria" panose="02040503050406030204" pitchFamily="18" charset="0"/>
                            </a:rPr>
                            <a:t>.</a:t>
                          </a:r>
                        </a:p>
                      </a:txBody>
                      <a:tcPr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1400">
                              <a:latin typeface="Cambria" panose="02040503050406030204" pitchFamily="18" charset="0"/>
                              <a:ea typeface="Cambria" panose="02040503050406030204" pitchFamily="18" charset="0"/>
                            </a:rPr>
                            <a:t>Có 40 ảnh không có biển số, mô hình báo nhầm 5 ảnh là có → </a:t>
                          </a:r>
                          <a:r>
                            <a:rPr lang="en-US" sz="1400" b="1">
                              <a:latin typeface="Cambria" panose="02040503050406030204" pitchFamily="18" charset="0"/>
                              <a:ea typeface="Cambria" panose="02040503050406030204" pitchFamily="18" charset="0"/>
                            </a:rPr>
                            <a:t>FP = 5</a:t>
                          </a:r>
                          <a:endParaRPr lang="en-US" sz="1400">
                            <a:latin typeface="Cambria" panose="02040503050406030204" pitchFamily="18" charset="0"/>
                            <a:ea typeface="Cambria" panose="02040503050406030204" pitchFamily="18" charset="0"/>
                          </a:endParaRPr>
                        </a:p>
                      </a:txBody>
                      <a:tcPr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2862836060"/>
                      </a:ext>
                    </a:extLst>
                  </a:tr>
                  <a:tr h="691641">
                    <a:tc>
                      <a:txBody>
                        <a:bodyPr/>
                        <a:lstStyle/>
                        <a:p>
                          <a:pPr algn="ctr"/>
                          <a:r>
                            <a:rPr lang="en-US" sz="1400" b="1" dirty="0">
                              <a:latin typeface="Cambria" panose="02040503050406030204" pitchFamily="18" charset="0"/>
                              <a:ea typeface="Cambria" panose="02040503050406030204" pitchFamily="18" charset="0"/>
                            </a:rPr>
                            <a:t>TN (True Negative)</a:t>
                          </a:r>
                        </a:p>
                      </a:txBody>
                      <a:tcPr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lgn="just"/>
                          <a:r>
                            <a:rPr lang="en-US" sz="1400" dirty="0" err="1">
                              <a:latin typeface="Cambria" panose="02040503050406030204" pitchFamily="18" charset="0"/>
                              <a:ea typeface="Cambria" panose="02040503050406030204" pitchFamily="18" charset="0"/>
                            </a:rPr>
                            <a:t>Dự</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đoán</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đúng</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ảnh</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không</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có</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biển</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số</a:t>
                          </a:r>
                          <a:r>
                            <a:rPr lang="en-US" sz="1400" dirty="0">
                              <a:latin typeface="Cambria" panose="02040503050406030204" pitchFamily="18" charset="0"/>
                              <a:ea typeface="Cambria" panose="02040503050406030204" pitchFamily="18" charset="0"/>
                            </a:rPr>
                            <a:t> → </a:t>
                          </a:r>
                          <a:r>
                            <a:rPr lang="en-US" sz="1400" dirty="0" err="1">
                              <a:latin typeface="Cambria" panose="02040503050406030204" pitchFamily="18" charset="0"/>
                              <a:ea typeface="Cambria" panose="02040503050406030204" pitchFamily="18" charset="0"/>
                            </a:rPr>
                            <a:t>càng</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cao</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càng</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tốt</a:t>
                          </a:r>
                          <a:r>
                            <a:rPr lang="en-US" sz="1400" dirty="0">
                              <a:latin typeface="Cambria" panose="02040503050406030204" pitchFamily="18" charset="0"/>
                              <a:ea typeface="Cambria" panose="02040503050406030204" pitchFamily="18" charset="0"/>
                            </a:rPr>
                            <a:t>.</a:t>
                          </a:r>
                        </a:p>
                      </a:txBody>
                      <a:tcPr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1400" dirty="0">
                              <a:latin typeface="Cambria" panose="02040503050406030204" pitchFamily="18" charset="0"/>
                              <a:ea typeface="Cambria" panose="02040503050406030204" pitchFamily="18" charset="0"/>
                            </a:rPr>
                            <a:t>Trong 40 </a:t>
                          </a:r>
                          <a:r>
                            <a:rPr lang="en-US" sz="1400" dirty="0" err="1">
                              <a:latin typeface="Cambria" panose="02040503050406030204" pitchFamily="18" charset="0"/>
                              <a:ea typeface="Cambria" panose="02040503050406030204" pitchFamily="18" charset="0"/>
                            </a:rPr>
                            <a:t>ảnh</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không</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có</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biển</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số</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mô</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hình</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đoán</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đúng</a:t>
                          </a:r>
                          <a:r>
                            <a:rPr lang="en-US" sz="1400" dirty="0">
                              <a:latin typeface="Cambria" panose="02040503050406030204" pitchFamily="18" charset="0"/>
                              <a:ea typeface="Cambria" panose="02040503050406030204" pitchFamily="18" charset="0"/>
                            </a:rPr>
                            <a:t> 35 </a:t>
                          </a:r>
                          <a:r>
                            <a:rPr lang="en-US" sz="1400" dirty="0" err="1">
                              <a:latin typeface="Cambria" panose="02040503050406030204" pitchFamily="18" charset="0"/>
                              <a:ea typeface="Cambria" panose="02040503050406030204" pitchFamily="18" charset="0"/>
                            </a:rPr>
                            <a:t>ảnh</a:t>
                          </a:r>
                          <a:r>
                            <a:rPr lang="en-US" sz="1400" dirty="0">
                              <a:latin typeface="Cambria" panose="02040503050406030204" pitchFamily="18" charset="0"/>
                              <a:ea typeface="Cambria" panose="02040503050406030204" pitchFamily="18" charset="0"/>
                            </a:rPr>
                            <a:t> → </a:t>
                          </a:r>
                          <a:r>
                            <a:rPr lang="en-US" sz="1400" b="1" dirty="0">
                              <a:latin typeface="Cambria" panose="02040503050406030204" pitchFamily="18" charset="0"/>
                              <a:ea typeface="Cambria" panose="02040503050406030204" pitchFamily="18" charset="0"/>
                            </a:rPr>
                            <a:t>TN = 35</a:t>
                          </a:r>
                          <a:endParaRPr lang="en-US" sz="1400" dirty="0">
                            <a:latin typeface="Cambria" panose="02040503050406030204" pitchFamily="18" charset="0"/>
                            <a:ea typeface="Cambria" panose="02040503050406030204" pitchFamily="18" charset="0"/>
                          </a:endParaRPr>
                        </a:p>
                      </a:txBody>
                      <a:tcPr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3544684912"/>
                      </a:ext>
                    </a:extLst>
                  </a:tr>
                  <a:tr h="731520">
                    <a:tc>
                      <a:txBody>
                        <a:bodyPr/>
                        <a:lstStyle/>
                        <a:p>
                          <a:pPr algn="ctr"/>
                          <a:r>
                            <a:rPr lang="en-US" sz="1400" b="1" dirty="0">
                              <a:latin typeface="Cambria" panose="02040503050406030204" pitchFamily="18" charset="0"/>
                              <a:ea typeface="Cambria" panose="02040503050406030204" pitchFamily="18" charset="0"/>
                            </a:rPr>
                            <a:t>FN (False Negative)</a:t>
                          </a:r>
                        </a:p>
                      </a:txBody>
                      <a:tcPr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lgn="just"/>
                          <a:r>
                            <a:rPr lang="vi-VN" sz="1400" dirty="0">
                              <a:latin typeface="Cambria" panose="02040503050406030204" pitchFamily="18" charset="0"/>
                              <a:ea typeface="Cambria" panose="02040503050406030204" pitchFamily="18" charset="0"/>
                            </a:rPr>
                            <a:t>Bỏ sót ảnh có biển số → cần giảm để không bỏ lọt</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đối</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tượng</a:t>
                          </a:r>
                          <a:r>
                            <a:rPr lang="vi-VN" sz="1400" dirty="0">
                              <a:latin typeface="Cambria" panose="02040503050406030204" pitchFamily="18" charset="0"/>
                              <a:ea typeface="Cambria" panose="02040503050406030204" pitchFamily="18" charset="0"/>
                            </a:rPr>
                            <a:t>.</a:t>
                          </a:r>
                        </a:p>
                      </a:txBody>
                      <a:tcPr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1400" dirty="0">
                              <a:latin typeface="Cambria" panose="02040503050406030204" pitchFamily="18" charset="0"/>
                              <a:ea typeface="Cambria" panose="02040503050406030204" pitchFamily="18" charset="0"/>
                            </a:rPr>
                            <a:t>Trong 60 </a:t>
                          </a:r>
                          <a:r>
                            <a:rPr lang="en-US" sz="1400" dirty="0" err="1">
                              <a:latin typeface="Cambria" panose="02040503050406030204" pitchFamily="18" charset="0"/>
                              <a:ea typeface="Cambria" panose="02040503050406030204" pitchFamily="18" charset="0"/>
                            </a:rPr>
                            <a:t>ảnh</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có</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biển</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số</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mô</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hình</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bỏ</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sót</a:t>
                          </a:r>
                          <a:r>
                            <a:rPr lang="en-US" sz="1400" dirty="0">
                              <a:latin typeface="Cambria" panose="02040503050406030204" pitchFamily="18" charset="0"/>
                              <a:ea typeface="Cambria" panose="02040503050406030204" pitchFamily="18" charset="0"/>
                            </a:rPr>
                            <a:t> 10 </a:t>
                          </a:r>
                          <a:r>
                            <a:rPr lang="en-US" sz="1400" dirty="0" err="1">
                              <a:latin typeface="Cambria" panose="02040503050406030204" pitchFamily="18" charset="0"/>
                              <a:ea typeface="Cambria" panose="02040503050406030204" pitchFamily="18" charset="0"/>
                            </a:rPr>
                            <a:t>ảnh</a:t>
                          </a:r>
                          <a:r>
                            <a:rPr lang="en-US" sz="1400" dirty="0">
                              <a:latin typeface="Cambria" panose="02040503050406030204" pitchFamily="18" charset="0"/>
                              <a:ea typeface="Cambria" panose="02040503050406030204" pitchFamily="18" charset="0"/>
                            </a:rPr>
                            <a:t> → </a:t>
                          </a:r>
                          <a:r>
                            <a:rPr lang="en-US" sz="1400" b="1" dirty="0">
                              <a:latin typeface="Cambria" panose="02040503050406030204" pitchFamily="18" charset="0"/>
                              <a:ea typeface="Cambria" panose="02040503050406030204" pitchFamily="18" charset="0"/>
                            </a:rPr>
                            <a:t>FN = 10</a:t>
                          </a:r>
                          <a:endParaRPr lang="en-US" sz="1400" dirty="0">
                            <a:latin typeface="Cambria" panose="02040503050406030204" pitchFamily="18" charset="0"/>
                            <a:ea typeface="Cambria" panose="02040503050406030204" pitchFamily="18" charset="0"/>
                          </a:endParaRPr>
                        </a:p>
                      </a:txBody>
                      <a:tcPr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1577530090"/>
                      </a:ext>
                    </a:extLst>
                  </a:tr>
                  <a:tr h="1101502">
                    <a:tc>
                      <a:txBody>
                        <a:bodyPr/>
                        <a:lstStyle/>
                        <a:p>
                          <a:pPr algn="ctr"/>
                          <a:r>
                            <a:rPr lang="en-US" sz="1400" b="1">
                              <a:solidFill>
                                <a:schemeClr val="accent6"/>
                              </a:solidFill>
                              <a:latin typeface="Cambria" panose="02040503050406030204" pitchFamily="18" charset="0"/>
                              <a:ea typeface="Cambria" panose="02040503050406030204" pitchFamily="18" charset="0"/>
                            </a:rPr>
                            <a:t>Precision</a:t>
                          </a:r>
                        </a:p>
                      </a:txBody>
                      <a:tcPr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lgn="just"/>
                          <a:r>
                            <a:rPr lang="en-US" sz="1400" dirty="0">
                              <a:latin typeface="Cambria" panose="02040503050406030204" pitchFamily="18" charset="0"/>
                              <a:ea typeface="Cambria" panose="02040503050406030204" pitchFamily="18" charset="0"/>
                            </a:rPr>
                            <a:t>Trong </a:t>
                          </a:r>
                          <a:r>
                            <a:rPr lang="en-US" sz="1400" dirty="0" err="1">
                              <a:latin typeface="Cambria" panose="02040503050406030204" pitchFamily="18" charset="0"/>
                              <a:ea typeface="Cambria" panose="02040503050406030204" pitchFamily="18" charset="0"/>
                            </a:rPr>
                            <a:t>các</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ảnh</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mô</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hình</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dự</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đoán</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là</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có</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biển</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số</a:t>
                          </a:r>
                          <a:r>
                            <a:rPr lang="en-US" sz="1400" dirty="0">
                              <a:latin typeface="Cambria" panose="02040503050406030204" pitchFamily="18" charset="0"/>
                              <a:ea typeface="Cambria" panose="02040503050406030204" pitchFamily="18" charset="0"/>
                            </a:rPr>
                            <a:t>, bao </a:t>
                          </a:r>
                          <a:r>
                            <a:rPr lang="en-US" sz="1400" dirty="0" err="1">
                              <a:latin typeface="Cambria" panose="02040503050406030204" pitchFamily="18" charset="0"/>
                              <a:ea typeface="Cambria" panose="02040503050406030204" pitchFamily="18" charset="0"/>
                            </a:rPr>
                            <a:t>nhiêu</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là</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đúng</a:t>
                          </a:r>
                          <a:r>
                            <a:rPr lang="en-US" sz="1400" dirty="0">
                              <a:latin typeface="Cambria" panose="02040503050406030204" pitchFamily="18" charset="0"/>
                              <a:ea typeface="Cambria" panose="02040503050406030204" pitchFamily="18" charset="0"/>
                            </a:rPr>
                            <a:t> → </a:t>
                          </a:r>
                          <a:r>
                            <a:rPr lang="en-US" sz="1400" dirty="0" err="1">
                              <a:latin typeface="Cambria" panose="02040503050406030204" pitchFamily="18" charset="0"/>
                              <a:ea typeface="Cambria" panose="02040503050406030204" pitchFamily="18" charset="0"/>
                            </a:rPr>
                            <a:t>Tránh</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báo</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nhầm</a:t>
                          </a:r>
                          <a:r>
                            <a:rPr lang="en-US" sz="1400" dirty="0">
                              <a:latin typeface="Cambria" panose="02040503050406030204" pitchFamily="18" charset="0"/>
                              <a:ea typeface="Cambria" panose="02040503050406030204" pitchFamily="18" charset="0"/>
                            </a:rPr>
                            <a:t>. 𝐏 = TP / (TP + FP)</a:t>
                          </a:r>
                        </a:p>
                      </a:txBody>
                      <a:tcPr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1400" dirty="0" err="1">
                              <a:latin typeface="Cambria" panose="02040503050406030204" pitchFamily="18" charset="0"/>
                              <a:ea typeface="Cambria" panose="02040503050406030204" pitchFamily="18" charset="0"/>
                            </a:rPr>
                            <a:t>Dự</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đoán</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tổng</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cộng</a:t>
                          </a:r>
                          <a:r>
                            <a:rPr lang="en-US" sz="1400" dirty="0">
                              <a:latin typeface="Cambria" panose="02040503050406030204" pitchFamily="18" charset="0"/>
                              <a:ea typeface="Cambria" panose="02040503050406030204" pitchFamily="18" charset="0"/>
                            </a:rPr>
                            <a:t> 55 </a:t>
                          </a:r>
                          <a:r>
                            <a:rPr lang="en-US" sz="1400" dirty="0" err="1">
                              <a:latin typeface="Cambria" panose="02040503050406030204" pitchFamily="18" charset="0"/>
                              <a:ea typeface="Cambria" panose="02040503050406030204" pitchFamily="18" charset="0"/>
                            </a:rPr>
                            <a:t>ảnh</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có</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biển</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số</a:t>
                          </a:r>
                          <a:r>
                            <a:rPr lang="en-US" sz="1400" dirty="0">
                              <a:latin typeface="Cambria" panose="02040503050406030204" pitchFamily="18" charset="0"/>
                              <a:ea typeface="Cambria" panose="02040503050406030204" pitchFamily="18" charset="0"/>
                            </a:rPr>
                            <a:t> (TP + FP = 50 + 5), </a:t>
                          </a:r>
                          <a:r>
                            <a:rPr lang="en-US" sz="1400" dirty="0" err="1">
                              <a:latin typeface="Cambria" panose="02040503050406030204" pitchFamily="18" charset="0"/>
                              <a:ea typeface="Cambria" panose="02040503050406030204" pitchFamily="18" charset="0"/>
                            </a:rPr>
                            <a:t>đúng</a:t>
                          </a:r>
                          <a:r>
                            <a:rPr lang="en-US" sz="1400" dirty="0">
                              <a:latin typeface="Cambria" panose="02040503050406030204" pitchFamily="18" charset="0"/>
                              <a:ea typeface="Cambria" panose="02040503050406030204" pitchFamily="18" charset="0"/>
                            </a:rPr>
                            <a:t> 50 </a:t>
                          </a:r>
                          <a:r>
                            <a:rPr lang="en-US" sz="1400" dirty="0" err="1">
                              <a:latin typeface="Cambria" panose="02040503050406030204" pitchFamily="18" charset="0"/>
                              <a:ea typeface="Cambria" panose="02040503050406030204" pitchFamily="18" charset="0"/>
                            </a:rPr>
                            <a:t>ảnh</a:t>
                          </a:r>
                          <a:r>
                            <a:rPr lang="en-US" sz="1400" dirty="0">
                              <a:latin typeface="Cambria" panose="02040503050406030204" pitchFamily="18" charset="0"/>
                              <a:ea typeface="Cambria" panose="02040503050406030204" pitchFamily="18" charset="0"/>
                            </a:rPr>
                            <a:t> → </a:t>
                          </a:r>
                          <a:r>
                            <a:rPr lang="en-US" sz="1400" b="1" dirty="0">
                              <a:latin typeface="Cambria" panose="02040503050406030204" pitchFamily="18" charset="0"/>
                              <a:ea typeface="Cambria" panose="02040503050406030204" pitchFamily="18" charset="0"/>
                            </a:rPr>
                            <a:t>Precision = 50 / 55 ≈ 0.91</a:t>
                          </a:r>
                          <a:endParaRPr lang="en-US" sz="1400" dirty="0">
                            <a:latin typeface="Cambria" panose="02040503050406030204" pitchFamily="18" charset="0"/>
                            <a:ea typeface="Cambria" panose="02040503050406030204" pitchFamily="18" charset="0"/>
                          </a:endParaRPr>
                        </a:p>
                      </a:txBody>
                      <a:tcPr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21324627"/>
                      </a:ext>
                    </a:extLst>
                  </a:tr>
                  <a:tr h="944880">
                    <a:tc>
                      <a:txBody>
                        <a:bodyPr/>
                        <a:lstStyle/>
                        <a:p>
                          <a:pPr algn="ctr"/>
                          <a:r>
                            <a:rPr lang="en-US" sz="1400" b="1" dirty="0">
                              <a:solidFill>
                                <a:schemeClr val="accent6"/>
                              </a:solidFill>
                              <a:latin typeface="Cambria" panose="02040503050406030204" pitchFamily="18" charset="0"/>
                              <a:ea typeface="Cambria" panose="02040503050406030204" pitchFamily="18" charset="0"/>
                            </a:rPr>
                            <a:t>Recall</a:t>
                          </a:r>
                        </a:p>
                      </a:txBody>
                      <a:tcPr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round/>
                          <a:headEnd type="none" w="med" len="med"/>
                          <a:tailEnd type="none" w="med" len="med"/>
                        </a:lnB>
                        <a:noFill/>
                      </a:tcPr>
                    </a:tc>
                    <a:tc>
                      <a:txBody>
                        <a:bodyPr/>
                        <a:lstStyle/>
                        <a:p>
                          <a:pPr algn="just"/>
                          <a:r>
                            <a:rPr lang="vi-VN" sz="1400" dirty="0">
                              <a:latin typeface="Cambria" panose="02040503050406030204" pitchFamily="18" charset="0"/>
                              <a:ea typeface="Cambria" panose="02040503050406030204" pitchFamily="18" charset="0"/>
                            </a:rPr>
                            <a:t>Trong tất cả ảnh </a:t>
                          </a:r>
                          <a:r>
                            <a:rPr lang="en-US" sz="1400" dirty="0" err="1">
                              <a:latin typeface="Cambria" panose="02040503050406030204" pitchFamily="18" charset="0"/>
                              <a:ea typeface="Cambria" panose="02040503050406030204" pitchFamily="18" charset="0"/>
                            </a:rPr>
                            <a:t>thật</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sự</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có</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biển</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số</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mô</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hình</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dự</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đoán</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được</a:t>
                          </a:r>
                          <a:r>
                            <a:rPr lang="en-US" sz="1400" dirty="0">
                              <a:latin typeface="Cambria" panose="02040503050406030204" pitchFamily="18" charset="0"/>
                              <a:ea typeface="Cambria" panose="02040503050406030204" pitchFamily="18" charset="0"/>
                            </a:rPr>
                            <a:t> bao </a:t>
                          </a:r>
                          <a:r>
                            <a:rPr lang="en-US" sz="1400" dirty="0" err="1">
                              <a:latin typeface="Cambria" panose="02040503050406030204" pitchFamily="18" charset="0"/>
                              <a:ea typeface="Cambria" panose="02040503050406030204" pitchFamily="18" charset="0"/>
                            </a:rPr>
                            <a:t>nhiêu</a:t>
                          </a:r>
                          <a:r>
                            <a:rPr lang="en-US" sz="1400" dirty="0">
                              <a:latin typeface="Cambria" panose="02040503050406030204" pitchFamily="18" charset="0"/>
                              <a:ea typeface="Cambria" panose="02040503050406030204" pitchFamily="18" charset="0"/>
                            </a:rPr>
                            <a:t> </a:t>
                          </a:r>
                          <a:r>
                            <a:rPr lang="vi-VN" sz="1400" dirty="0">
                              <a:latin typeface="Cambria" panose="02040503050406030204" pitchFamily="18" charset="0"/>
                              <a:ea typeface="Cambria" panose="02040503050406030204" pitchFamily="18" charset="0"/>
                            </a:rPr>
                            <a:t>→ Tránh bỏ sót.</a:t>
                          </a:r>
                          <a:r>
                            <a:rPr lang="en-US" sz="1400" dirty="0">
                              <a:latin typeface="Cambria" panose="02040503050406030204" pitchFamily="18" charset="0"/>
                              <a:ea typeface="Cambria" panose="02040503050406030204" pitchFamily="18" charset="0"/>
                            </a:rPr>
                            <a:t> 𝐑 = TP / (TP + FN)</a:t>
                          </a:r>
                          <a:endParaRPr lang="vi-VN" sz="1400" dirty="0">
                            <a:latin typeface="Cambria" panose="02040503050406030204" pitchFamily="18" charset="0"/>
                            <a:ea typeface="Cambria" panose="02040503050406030204" pitchFamily="18" charset="0"/>
                          </a:endParaRPr>
                        </a:p>
                      </a:txBody>
                      <a:tcPr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round/>
                          <a:headEnd type="none" w="med" len="med"/>
                          <a:tailEnd type="none" w="med" len="med"/>
                        </a:lnB>
                        <a:noFill/>
                      </a:tcPr>
                    </a:tc>
                    <a:tc>
                      <a:txBody>
                        <a:bodyPr/>
                        <a:lstStyle/>
                        <a:p>
                          <a:r>
                            <a:rPr lang="en-US" sz="1400" dirty="0" err="1">
                              <a:latin typeface="Cambria" panose="02040503050406030204" pitchFamily="18" charset="0"/>
                              <a:ea typeface="Cambria" panose="02040503050406030204" pitchFamily="18" charset="0"/>
                            </a:rPr>
                            <a:t>Có</a:t>
                          </a:r>
                          <a:r>
                            <a:rPr lang="en-US" sz="1400" dirty="0">
                              <a:latin typeface="Cambria" panose="02040503050406030204" pitchFamily="18" charset="0"/>
                              <a:ea typeface="Cambria" panose="02040503050406030204" pitchFamily="18" charset="0"/>
                            </a:rPr>
                            <a:t> 60 </a:t>
                          </a:r>
                          <a:r>
                            <a:rPr lang="en-US" sz="1400" dirty="0" err="1">
                              <a:latin typeface="Cambria" panose="02040503050406030204" pitchFamily="18" charset="0"/>
                              <a:ea typeface="Cambria" panose="02040503050406030204" pitchFamily="18" charset="0"/>
                            </a:rPr>
                            <a:t>ảnh</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thực</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sự</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có</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biển</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phát</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hiện</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đúng</a:t>
                          </a:r>
                          <a:r>
                            <a:rPr lang="en-US" sz="1400" dirty="0">
                              <a:latin typeface="Cambria" panose="02040503050406030204" pitchFamily="18" charset="0"/>
                              <a:ea typeface="Cambria" panose="02040503050406030204" pitchFamily="18" charset="0"/>
                            </a:rPr>
                            <a:t> 50 </a:t>
                          </a:r>
                          <a:r>
                            <a:rPr lang="en-US" sz="1400" dirty="0" err="1">
                              <a:latin typeface="Cambria" panose="02040503050406030204" pitchFamily="18" charset="0"/>
                              <a:ea typeface="Cambria" panose="02040503050406030204" pitchFamily="18" charset="0"/>
                            </a:rPr>
                            <a:t>ảnh</a:t>
                          </a:r>
                          <a:r>
                            <a:rPr lang="en-US" sz="1400" dirty="0">
                              <a:latin typeface="Cambria" panose="02040503050406030204" pitchFamily="18" charset="0"/>
                              <a:ea typeface="Cambria" panose="02040503050406030204" pitchFamily="18" charset="0"/>
                            </a:rPr>
                            <a:t> → </a:t>
                          </a:r>
                          <a:r>
                            <a:rPr lang="en-US" sz="1400" b="1" dirty="0">
                              <a:latin typeface="Cambria" panose="02040503050406030204" pitchFamily="18" charset="0"/>
                              <a:ea typeface="Cambria" panose="02040503050406030204" pitchFamily="18" charset="0"/>
                            </a:rPr>
                            <a:t>Recall = 50 / 60 ≈ 0.83</a:t>
                          </a:r>
                          <a:endParaRPr lang="en-US" sz="1400" dirty="0">
                            <a:latin typeface="Cambria" panose="02040503050406030204" pitchFamily="18" charset="0"/>
                            <a:ea typeface="Cambria" panose="02040503050406030204" pitchFamily="18" charset="0"/>
                          </a:endParaRPr>
                        </a:p>
                      </a:txBody>
                      <a:tcPr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22104281"/>
                      </a:ext>
                    </a:extLst>
                  </a:tr>
                  <a:tr h="1584960">
                    <a:tc>
                      <a:txBody>
                        <a:bodyPr/>
                        <a:lstStyle/>
                        <a:p>
                          <a:pPr algn="ctr"/>
                          <a:r>
                            <a:rPr lang="en-US" sz="1400" b="1" dirty="0">
                              <a:solidFill>
                                <a:schemeClr val="accent6"/>
                              </a:solidFill>
                              <a:latin typeface="Cambria" panose="02040503050406030204" pitchFamily="18" charset="0"/>
                              <a:ea typeface="Cambria" panose="02040503050406030204" pitchFamily="18" charset="0"/>
                            </a:rPr>
                            <a:t>F1 – Score</a:t>
                          </a:r>
                        </a:p>
                      </a:txBody>
                      <a:tcPr anchor="ctr">
                        <a:lnL w="19050" cap="flat" cmpd="sng" algn="ctr">
                          <a:solidFill>
                            <a:schemeClr val="tx1"/>
                          </a:solidFill>
                          <a:prstDash val="solid"/>
                        </a:lnL>
                        <a:lnR w="6350" cap="flat" cmpd="sng" algn="ctr">
                          <a:solidFill>
                            <a:schemeClr val="tx1">
                              <a:lumMod val="50000"/>
                              <a:lumOff val="50000"/>
                            </a:schemeClr>
                          </a:solidFill>
                          <a:prstDash val="solid"/>
                          <a:round/>
                          <a:headEnd type="none" w="med" len="med"/>
                          <a:tailEnd type="none" w="med" len="med"/>
                        </a:lnR>
                        <a:lnT w="19050" cap="flat" cmpd="sng" algn="ctr">
                          <a:solidFill>
                            <a:schemeClr val="tx1"/>
                          </a:solidFill>
                          <a:prstDash val="solid"/>
                        </a:lnT>
                        <a:lnB w="19050" cap="flat" cmpd="sng" algn="ctr">
                          <a:solidFill>
                            <a:schemeClr val="tx1"/>
                          </a:solidFill>
                          <a:prstDash val="solid"/>
                        </a:lnB>
                        <a:noFill/>
                      </a:tcPr>
                    </a:tc>
                    <a:tc>
                      <a:txBody>
                        <a:bodyPr/>
                        <a:lstStyle/>
                        <a:p>
                          <a:pPr marL="0" marR="0" lvl="0" indent="0" algn="just" defTabSz="1097280" rtl="0" eaLnBrk="1" fontAlgn="auto" latinLnBrk="0" hangingPunct="1">
                            <a:lnSpc>
                              <a:spcPct val="100000"/>
                            </a:lnSpc>
                            <a:spcBef>
                              <a:spcPts val="0"/>
                            </a:spcBef>
                            <a:spcAft>
                              <a:spcPts val="0"/>
                            </a:spcAft>
                            <a:buClrTx/>
                            <a:buSzTx/>
                            <a:buFontTx/>
                            <a:buNone/>
                            <a:tabLst/>
                            <a:defRPr/>
                          </a:pPr>
                          <a:r>
                            <a:rPr lang="en-US" sz="1400" dirty="0" err="1">
                              <a:latin typeface="Cambria" panose="02040503050406030204" pitchFamily="18" charset="0"/>
                              <a:ea typeface="Cambria" panose="02040503050406030204" pitchFamily="18" charset="0"/>
                            </a:rPr>
                            <a:t>Phản</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ánh</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sự</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cân</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bằng</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giữa</a:t>
                          </a:r>
                          <a:r>
                            <a:rPr lang="en-US" sz="1400" dirty="0">
                              <a:latin typeface="Cambria" panose="02040503050406030204" pitchFamily="18" charset="0"/>
                              <a:ea typeface="Cambria" panose="02040503050406030204" pitchFamily="18" charset="0"/>
                            </a:rPr>
                            <a:t> Precision (</a:t>
                          </a:r>
                          <a:r>
                            <a:rPr lang="en-US" sz="1400" dirty="0" err="1">
                              <a:latin typeface="Cambria" panose="02040503050406030204" pitchFamily="18" charset="0"/>
                              <a:ea typeface="Cambria" panose="02040503050406030204" pitchFamily="18" charset="0"/>
                            </a:rPr>
                            <a:t>tránh</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báo</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nhầm</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và</a:t>
                          </a:r>
                          <a:r>
                            <a:rPr lang="en-US" sz="1400" dirty="0">
                              <a:latin typeface="Cambria" panose="02040503050406030204" pitchFamily="18" charset="0"/>
                              <a:ea typeface="Cambria" panose="02040503050406030204" pitchFamily="18" charset="0"/>
                            </a:rPr>
                            <a:t> Recall (</a:t>
                          </a:r>
                          <a:r>
                            <a:rPr lang="en-US" sz="1400" dirty="0" err="1">
                              <a:latin typeface="Cambria" panose="02040503050406030204" pitchFamily="18" charset="0"/>
                              <a:ea typeface="Cambria" panose="02040503050406030204" pitchFamily="18" charset="0"/>
                            </a:rPr>
                            <a:t>tránh</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bỏ</a:t>
                          </a:r>
                          <a:r>
                            <a:rPr lang="en-US" sz="1400" dirty="0">
                              <a:latin typeface="Cambria" panose="02040503050406030204" pitchFamily="18" charset="0"/>
                              <a:ea typeface="Cambria" panose="02040503050406030204" pitchFamily="18" charset="0"/>
                            </a:rPr>
                            <a:t> </a:t>
                          </a:r>
                          <a:r>
                            <a:rPr lang="en-US" sz="1400" dirty="0" err="1">
                              <a:latin typeface="Cambria" panose="02040503050406030204" pitchFamily="18" charset="0"/>
                              <a:ea typeface="Cambria" panose="02040503050406030204" pitchFamily="18" charset="0"/>
                            </a:rPr>
                            <a:t>xót</a:t>
                          </a:r>
                          <a:r>
                            <a:rPr lang="en-US" sz="1400" dirty="0">
                              <a:latin typeface="Cambria" panose="02040503050406030204" pitchFamily="18" charset="0"/>
                              <a:ea typeface="Cambria" panose="02040503050406030204" pitchFamily="18" charset="0"/>
                            </a:rPr>
                            <a:t>). </a:t>
                          </a:r>
                          <a:r>
                            <a:rPr lang="en-US" sz="1400" b="1" dirty="0"/>
                            <a:t>F1-score </a:t>
                          </a:r>
                          <a:r>
                            <a:rPr lang="en-US" sz="1400" b="1" dirty="0" err="1"/>
                            <a:t>càng</a:t>
                          </a:r>
                          <a:r>
                            <a:rPr lang="en-US" sz="1400" b="1" dirty="0"/>
                            <a:t> </a:t>
                          </a:r>
                          <a:r>
                            <a:rPr lang="en-US" sz="1400" b="1" dirty="0" err="1"/>
                            <a:t>cao</a:t>
                          </a:r>
                          <a:r>
                            <a:rPr lang="en-US" sz="1400" dirty="0"/>
                            <a:t> → </a:t>
                          </a:r>
                          <a:r>
                            <a:rPr lang="en-US" sz="1400" dirty="0" err="1"/>
                            <a:t>mô</a:t>
                          </a:r>
                          <a:r>
                            <a:rPr lang="en-US" sz="1400" dirty="0"/>
                            <a:t> </a:t>
                          </a:r>
                          <a:r>
                            <a:rPr lang="en-US" sz="1400" dirty="0" err="1"/>
                            <a:t>hình</a:t>
                          </a:r>
                          <a:r>
                            <a:rPr lang="en-US" sz="1400" dirty="0"/>
                            <a:t> </a:t>
                          </a:r>
                          <a:r>
                            <a:rPr lang="en-US" sz="1400" b="1" dirty="0" err="1"/>
                            <a:t>hiệu</a:t>
                          </a:r>
                          <a:r>
                            <a:rPr lang="en-US" sz="1400" b="1" dirty="0"/>
                            <a:t> </a:t>
                          </a:r>
                          <a:r>
                            <a:rPr lang="en-US" sz="1400" b="1" dirty="0" err="1"/>
                            <a:t>quả</a:t>
                          </a:r>
                          <a:r>
                            <a:rPr lang="en-US" sz="1400" b="1" dirty="0"/>
                            <a:t> </a:t>
                          </a:r>
                          <a:r>
                            <a:rPr lang="en-US" sz="1400" b="1" dirty="0" err="1"/>
                            <a:t>và</a:t>
                          </a:r>
                          <a:r>
                            <a:rPr lang="en-US" sz="1400" b="1" dirty="0"/>
                            <a:t> </a:t>
                          </a:r>
                          <a:r>
                            <a:rPr lang="en-US" sz="1400" b="1" dirty="0" err="1"/>
                            <a:t>ổn</a:t>
                          </a:r>
                          <a:r>
                            <a:rPr lang="en-US" sz="1400" b="1" dirty="0"/>
                            <a:t> </a:t>
                          </a:r>
                          <a:r>
                            <a:rPr lang="en-US" sz="1400" b="1" dirty="0" err="1"/>
                            <a:t>định</a:t>
                          </a:r>
                          <a:r>
                            <a:rPr lang="en-US" sz="1400" dirty="0"/>
                            <a:t> </a:t>
                          </a:r>
                          <a:r>
                            <a:rPr lang="en-US" sz="1400" dirty="0" err="1"/>
                            <a:t>trong</a:t>
                          </a:r>
                          <a:r>
                            <a:rPr lang="en-US" sz="1400" dirty="0"/>
                            <a:t> </a:t>
                          </a:r>
                          <a:r>
                            <a:rPr lang="en-US" sz="1400" dirty="0" err="1"/>
                            <a:t>việc</a:t>
                          </a:r>
                          <a:r>
                            <a:rPr lang="en-US" sz="1400" dirty="0"/>
                            <a:t> </a:t>
                          </a:r>
                          <a:r>
                            <a:rPr lang="en-US" sz="1400" dirty="0" err="1"/>
                            <a:t>vừa</a:t>
                          </a:r>
                          <a:r>
                            <a:rPr lang="en-US" sz="1400" dirty="0"/>
                            <a:t> </a:t>
                          </a:r>
                          <a:r>
                            <a:rPr lang="en-US" sz="1400" dirty="0" err="1"/>
                            <a:t>tránh</a:t>
                          </a:r>
                          <a:r>
                            <a:rPr lang="en-US" sz="1400" dirty="0"/>
                            <a:t> </a:t>
                          </a:r>
                          <a:r>
                            <a:rPr lang="en-US" sz="1400" dirty="0" err="1"/>
                            <a:t>báo</a:t>
                          </a:r>
                          <a:r>
                            <a:rPr lang="en-US" sz="1400" dirty="0"/>
                            <a:t> </a:t>
                          </a:r>
                          <a:r>
                            <a:rPr lang="en-US" sz="1400" dirty="0" err="1"/>
                            <a:t>nhầm</a:t>
                          </a:r>
                          <a:r>
                            <a:rPr lang="en-US" sz="1400" dirty="0"/>
                            <a:t> </a:t>
                          </a:r>
                          <a:r>
                            <a:rPr lang="en-US" sz="1400" dirty="0" err="1"/>
                            <a:t>vừa</a:t>
                          </a:r>
                          <a:r>
                            <a:rPr lang="en-US" sz="1400" dirty="0"/>
                            <a:t> </a:t>
                          </a:r>
                          <a:r>
                            <a:rPr lang="en-US" sz="1400" dirty="0" err="1"/>
                            <a:t>không</a:t>
                          </a:r>
                          <a:r>
                            <a:rPr lang="en-US" sz="1400" dirty="0"/>
                            <a:t> </a:t>
                          </a:r>
                          <a:r>
                            <a:rPr lang="en-US" sz="1400" dirty="0" err="1"/>
                            <a:t>bỏ</a:t>
                          </a:r>
                          <a:r>
                            <a:rPr lang="en-US" sz="1400" dirty="0"/>
                            <a:t> </a:t>
                          </a:r>
                          <a:r>
                            <a:rPr lang="en-US" sz="1400" dirty="0" err="1"/>
                            <a:t>sót</a:t>
                          </a:r>
                          <a:r>
                            <a:rPr lang="en-US" sz="1400" dirty="0"/>
                            <a:t>.</a:t>
                          </a:r>
                        </a:p>
                        <a:p>
                          <a:pPr algn="just"/>
                          <a:r>
                            <a:rPr lang="en-US" sz="1400" dirty="0">
                              <a:latin typeface="Cambria" panose="02040503050406030204" pitchFamily="18" charset="0"/>
                              <a:ea typeface="Cambria" panose="02040503050406030204" pitchFamily="18" charset="0"/>
                            </a:rPr>
                            <a:t>F1 = 2 x  P x R / P + R</a:t>
                          </a:r>
                          <a:endParaRPr lang="vi-VN" sz="1400" dirty="0">
                            <a:latin typeface="Cambria" panose="02040503050406030204" pitchFamily="18" charset="0"/>
                            <a:ea typeface="Cambria" panose="02040503050406030204" pitchFamily="18" charset="0"/>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19050" cap="flat" cmpd="sng" algn="ctr">
                          <a:solidFill>
                            <a:schemeClr val="tx1"/>
                          </a:solidFill>
                          <a:prstDash val="solid"/>
                        </a:lnT>
                        <a:lnB w="19050" cap="flat" cmpd="sng" algn="ctr">
                          <a:solidFill>
                            <a:schemeClr val="tx1"/>
                          </a:solidFill>
                          <a:prstDash val="solid"/>
                        </a:lnB>
                        <a:noFill/>
                      </a:tcPr>
                    </a:tc>
                    <a:tc>
                      <a:txBody>
                        <a:bodyPr/>
                        <a:lstStyle/>
                        <a:p>
                          <a:endParaRPr lang="en-US"/>
                        </a:p>
                      </a:txBody>
                      <a:tcPr anchor="ctr">
                        <a:lnL w="6350" cap="flat" cmpd="sng" algn="ctr">
                          <a:solidFill>
                            <a:schemeClr val="tx1">
                              <a:lumMod val="50000"/>
                              <a:lumOff val="50000"/>
                            </a:schemeClr>
                          </a:solidFill>
                          <a:prstDash val="solid"/>
                          <a:round/>
                          <a:headEnd type="none" w="med" len="med"/>
                          <a:tailEnd type="none" w="med" len="me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blipFill>
                          <a:blip r:embed="rId3"/>
                          <a:stretch>
                            <a:fillRect l="-140937" t="-331538" r="-611" b="-3462"/>
                          </a:stretch>
                        </a:blipFill>
                      </a:tcPr>
                    </a:tc>
                    <a:extLst>
                      <a:ext uri="{0D108BD9-81ED-4DB2-BD59-A6C34878D82A}">
                        <a16:rowId xmlns:a16="http://schemas.microsoft.com/office/drawing/2014/main" val="1105927110"/>
                      </a:ext>
                    </a:extLst>
                  </a:tr>
                </a:tbl>
              </a:graphicData>
            </a:graphic>
          </p:graphicFrame>
        </mc:Fallback>
      </mc:AlternateContent>
      <p:sp>
        <p:nvSpPr>
          <p:cNvPr id="5" name="TextBox 4">
            <a:extLst>
              <a:ext uri="{FF2B5EF4-FFF2-40B4-BE49-F238E27FC236}">
                <a16:creationId xmlns:a16="http://schemas.microsoft.com/office/drawing/2014/main" id="{48FAD67B-C1F2-AED4-3F18-18F4308788D1}"/>
              </a:ext>
            </a:extLst>
          </p:cNvPr>
          <p:cNvSpPr txBox="1"/>
          <p:nvPr/>
        </p:nvSpPr>
        <p:spPr>
          <a:xfrm>
            <a:off x="6824383" y="917895"/>
            <a:ext cx="8700246" cy="397032"/>
          </a:xfrm>
          <a:prstGeom prst="rect">
            <a:avLst/>
          </a:prstGeom>
          <a:noFill/>
        </p:spPr>
        <p:txBody>
          <a:bodyPr wrap="square">
            <a:spAutoFit/>
          </a:bodyPr>
          <a:lstStyle/>
          <a:p>
            <a:pPr algn="ctr">
              <a:lnSpc>
                <a:spcPct val="90000"/>
              </a:lnSpc>
              <a:spcBef>
                <a:spcPts val="1000"/>
              </a:spcBef>
            </a:pPr>
            <a:r>
              <a:rPr lang="en-US" sz="2200" dirty="0"/>
              <a:t>Các </a:t>
            </a:r>
            <a:r>
              <a:rPr lang="en-US" sz="2200" dirty="0" err="1"/>
              <a:t>chỉ</a:t>
            </a:r>
            <a:r>
              <a:rPr lang="en-US" sz="2200" dirty="0"/>
              <a:t> </a:t>
            </a:r>
            <a:r>
              <a:rPr lang="en-US" sz="2200" dirty="0" err="1"/>
              <a:t>số</a:t>
            </a:r>
            <a:r>
              <a:rPr lang="en-US" sz="2200" dirty="0"/>
              <a:t> </a:t>
            </a:r>
            <a:r>
              <a:rPr lang="en-US" sz="2200" dirty="0" err="1"/>
              <a:t>quan</a:t>
            </a:r>
            <a:r>
              <a:rPr lang="en-US" sz="2200" dirty="0"/>
              <a:t> </a:t>
            </a:r>
            <a:r>
              <a:rPr lang="en-US" sz="2200" dirty="0" err="1"/>
              <a:t>trọng</a:t>
            </a:r>
            <a:r>
              <a:rPr lang="en-US" sz="2200" dirty="0"/>
              <a:t> </a:t>
            </a:r>
            <a:r>
              <a:rPr lang="en-US" sz="2200" dirty="0" err="1"/>
              <a:t>để</a:t>
            </a:r>
            <a:r>
              <a:rPr lang="en-US" sz="2200" dirty="0"/>
              <a:t> </a:t>
            </a:r>
            <a:r>
              <a:rPr lang="en-US" sz="2200" dirty="0" err="1"/>
              <a:t>dánh</a:t>
            </a:r>
            <a:r>
              <a:rPr lang="en-US" sz="2200" dirty="0"/>
              <a:t> </a:t>
            </a:r>
            <a:r>
              <a:rPr lang="en-US" sz="2200" dirty="0" err="1"/>
              <a:t>giá</a:t>
            </a:r>
            <a:endParaRPr lang="en-US" sz="2200" dirty="0"/>
          </a:p>
        </p:txBody>
      </p:sp>
      <p:pic>
        <p:nvPicPr>
          <p:cNvPr id="9" name="Picture 8">
            <a:extLst>
              <a:ext uri="{FF2B5EF4-FFF2-40B4-BE49-F238E27FC236}">
                <a16:creationId xmlns:a16="http://schemas.microsoft.com/office/drawing/2014/main" id="{CB6CC5FA-684C-CF63-B400-6D251C81A0A3}"/>
              </a:ext>
            </a:extLst>
          </p:cNvPr>
          <p:cNvPicPr>
            <a:picLocks noChangeAspect="1"/>
          </p:cNvPicPr>
          <p:nvPr/>
        </p:nvPicPr>
        <p:blipFill>
          <a:blip r:embed="rId4"/>
          <a:stretch>
            <a:fillRect/>
          </a:stretch>
        </p:blipFill>
        <p:spPr>
          <a:xfrm>
            <a:off x="281298" y="4841405"/>
            <a:ext cx="6764961" cy="3146148"/>
          </a:xfrm>
          <a:prstGeom prst="rect">
            <a:avLst/>
          </a:prstGeom>
        </p:spPr>
      </p:pic>
      <p:pic>
        <p:nvPicPr>
          <p:cNvPr id="11" name="Picture 10">
            <a:extLst>
              <a:ext uri="{FF2B5EF4-FFF2-40B4-BE49-F238E27FC236}">
                <a16:creationId xmlns:a16="http://schemas.microsoft.com/office/drawing/2014/main" id="{6153C5B7-A25B-73D7-E71F-6AD91B384D52}"/>
              </a:ext>
            </a:extLst>
          </p:cNvPr>
          <p:cNvPicPr>
            <a:picLocks noChangeAspect="1"/>
          </p:cNvPicPr>
          <p:nvPr/>
        </p:nvPicPr>
        <p:blipFill>
          <a:blip r:embed="rId5"/>
          <a:stretch>
            <a:fillRect/>
          </a:stretch>
        </p:blipFill>
        <p:spPr>
          <a:xfrm>
            <a:off x="281298" y="1297488"/>
            <a:ext cx="6764961" cy="2885411"/>
          </a:xfrm>
          <a:prstGeom prst="rect">
            <a:avLst/>
          </a:prstGeom>
        </p:spPr>
      </p:pic>
      <p:sp>
        <p:nvSpPr>
          <p:cNvPr id="13" name="TextBox 12">
            <a:extLst>
              <a:ext uri="{FF2B5EF4-FFF2-40B4-BE49-F238E27FC236}">
                <a16:creationId xmlns:a16="http://schemas.microsoft.com/office/drawing/2014/main" id="{C5F42EE4-FB61-2E7D-88CE-D2C3186AA0B9}"/>
              </a:ext>
            </a:extLst>
          </p:cNvPr>
          <p:cNvSpPr txBox="1"/>
          <p:nvPr/>
        </p:nvSpPr>
        <p:spPr>
          <a:xfrm>
            <a:off x="-988626" y="4313636"/>
            <a:ext cx="8955740" cy="397032"/>
          </a:xfrm>
          <a:prstGeom prst="rect">
            <a:avLst/>
          </a:prstGeom>
          <a:noFill/>
        </p:spPr>
        <p:txBody>
          <a:bodyPr wrap="square">
            <a:spAutoFit/>
          </a:bodyPr>
          <a:lstStyle/>
          <a:p>
            <a:pPr algn="ctr">
              <a:lnSpc>
                <a:spcPct val="90000"/>
              </a:lnSpc>
              <a:spcBef>
                <a:spcPts val="1000"/>
              </a:spcBef>
            </a:pPr>
            <a:r>
              <a:rPr lang="en-US" sz="2200" dirty="0" err="1"/>
              <a:t>Đồ</a:t>
            </a:r>
            <a:r>
              <a:rPr lang="en-US" sz="2200" dirty="0"/>
              <a:t> </a:t>
            </a:r>
            <a:r>
              <a:rPr lang="en-US" sz="2200" dirty="0" err="1"/>
              <a:t>thị</a:t>
            </a:r>
            <a:r>
              <a:rPr lang="en-US" sz="2200" dirty="0"/>
              <a:t> </a:t>
            </a:r>
            <a:r>
              <a:rPr lang="en-US" sz="2200" dirty="0" err="1"/>
              <a:t>của</a:t>
            </a:r>
            <a:r>
              <a:rPr lang="en-US" sz="2200" dirty="0"/>
              <a:t> </a:t>
            </a:r>
            <a:r>
              <a:rPr lang="en-US" sz="2200" dirty="0" err="1"/>
              <a:t>mô</a:t>
            </a:r>
            <a:r>
              <a:rPr lang="en-US" sz="2200" dirty="0"/>
              <a:t> </a:t>
            </a:r>
            <a:r>
              <a:rPr lang="en-US" sz="2200" dirty="0" err="1"/>
              <a:t>hình</a:t>
            </a:r>
            <a:r>
              <a:rPr lang="en-US" sz="2200" dirty="0"/>
              <a:t> </a:t>
            </a:r>
            <a:r>
              <a:rPr lang="en-US" sz="2200" dirty="0" err="1"/>
              <a:t>nhận</a:t>
            </a:r>
            <a:r>
              <a:rPr lang="en-US" sz="2200" dirty="0"/>
              <a:t> </a:t>
            </a:r>
            <a:r>
              <a:rPr lang="en-US" sz="2200" dirty="0" err="1"/>
              <a:t>diện</a:t>
            </a:r>
            <a:r>
              <a:rPr lang="en-US" sz="2200" dirty="0"/>
              <a:t> </a:t>
            </a:r>
            <a:r>
              <a:rPr lang="en-US" sz="2200" dirty="0" err="1"/>
              <a:t>ký</a:t>
            </a:r>
            <a:r>
              <a:rPr lang="en-US" sz="2200" dirty="0"/>
              <a:t> </a:t>
            </a:r>
            <a:r>
              <a:rPr lang="en-US" sz="2200" dirty="0" err="1"/>
              <a:t>tự</a:t>
            </a:r>
            <a:endParaRPr lang="en-US" sz="2200" dirty="0"/>
          </a:p>
        </p:txBody>
      </p:sp>
    </p:spTree>
    <p:extLst>
      <p:ext uri="{BB962C8B-B14F-4D97-AF65-F5344CB8AC3E}">
        <p14:creationId xmlns:p14="http://schemas.microsoft.com/office/powerpoint/2010/main" val="31314296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C979672-7D25-1A92-F921-FCA1B963EE5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7789F3D-5596-2F92-DF19-EFFE9852996D}"/>
              </a:ext>
            </a:extLst>
          </p:cNvPr>
          <p:cNvSpPr/>
          <p:nvPr/>
        </p:nvSpPr>
        <p:spPr>
          <a:xfrm>
            <a:off x="1658048" y="51273"/>
            <a:ext cx="5876211" cy="620078"/>
          </a:xfrm>
          <a:prstGeom prst="rect">
            <a:avLst/>
          </a:prstGeom>
          <a:noFill/>
          <a:ln/>
        </p:spPr>
        <p:txBody>
          <a:bodyPr wrap="none" lIns="0" tIns="0" rIns="0" bIns="0" rtlCol="0" anchor="t"/>
          <a:lstStyle/>
          <a:p>
            <a:pPr marL="0" indent="0" algn="l">
              <a:lnSpc>
                <a:spcPts val="4850"/>
              </a:lnSpc>
              <a:buNone/>
            </a:pPr>
            <a:r>
              <a:rPr lang="en-US" sz="3600">
                <a:solidFill>
                  <a:srgbClr val="233E32"/>
                </a:solidFill>
                <a:latin typeface="Alice" pitchFamily="34" charset="0"/>
                <a:ea typeface="Alice" pitchFamily="34" charset="-122"/>
                <a:cs typeface="Alice" pitchFamily="34" charset="-120"/>
              </a:rPr>
              <a:t>Tóm tắt quá trình huấn luyện mô hình nhận diện ký tự</a:t>
            </a:r>
            <a:endParaRPr lang="en-US" sz="3600" dirty="0"/>
          </a:p>
        </p:txBody>
      </p:sp>
      <p:pic>
        <p:nvPicPr>
          <p:cNvPr id="4" name="Picture 3">
            <a:extLst>
              <a:ext uri="{FF2B5EF4-FFF2-40B4-BE49-F238E27FC236}">
                <a16:creationId xmlns:a16="http://schemas.microsoft.com/office/drawing/2014/main" id="{501F0148-6FA9-C3A8-33A9-85B0AA10703E}"/>
              </a:ext>
            </a:extLst>
          </p:cNvPr>
          <p:cNvPicPr>
            <a:picLocks noChangeAspect="1"/>
          </p:cNvPicPr>
          <p:nvPr/>
        </p:nvPicPr>
        <p:blipFill>
          <a:blip r:embed="rId3"/>
          <a:stretch>
            <a:fillRect/>
          </a:stretch>
        </p:blipFill>
        <p:spPr>
          <a:xfrm>
            <a:off x="792135" y="1506071"/>
            <a:ext cx="13046130" cy="6414247"/>
          </a:xfrm>
          <a:prstGeom prst="rect">
            <a:avLst/>
          </a:prstGeom>
        </p:spPr>
      </p:pic>
      <p:sp>
        <p:nvSpPr>
          <p:cNvPr id="5" name="TextBox 4">
            <a:extLst>
              <a:ext uri="{FF2B5EF4-FFF2-40B4-BE49-F238E27FC236}">
                <a16:creationId xmlns:a16="http://schemas.microsoft.com/office/drawing/2014/main" id="{64858F3D-412D-D006-B76B-D88752F5D958}"/>
              </a:ext>
            </a:extLst>
          </p:cNvPr>
          <p:cNvSpPr txBox="1"/>
          <p:nvPr/>
        </p:nvSpPr>
        <p:spPr>
          <a:xfrm>
            <a:off x="418795" y="558864"/>
            <a:ext cx="14230928" cy="830997"/>
          </a:xfrm>
          <a:prstGeom prst="rect">
            <a:avLst/>
          </a:prstGeom>
          <a:noFill/>
        </p:spPr>
        <p:txBody>
          <a:bodyPr wrap="square">
            <a:spAutoFit/>
          </a:bodyPr>
          <a:lstStyle/>
          <a:p>
            <a:r>
              <a:rPr lang="en-US" sz="2400" dirty="0">
                <a:latin typeface="Consolas" panose="020B0609020204030204" pitchFamily="49" charset="0"/>
              </a:rPr>
              <a:t>!python train.py --</a:t>
            </a:r>
            <a:r>
              <a:rPr lang="en-US" sz="2400" dirty="0" err="1">
                <a:latin typeface="Consolas" panose="020B0609020204030204" pitchFamily="49" charset="0"/>
              </a:rPr>
              <a:t>img</a:t>
            </a:r>
            <a:r>
              <a:rPr lang="en-US" sz="2400" dirty="0">
                <a:latin typeface="Consolas" panose="020B0609020204030204" pitchFamily="49" charset="0"/>
              </a:rPr>
              <a:t> 320 --batch 32 --epochs 50 --data </a:t>
            </a:r>
          </a:p>
          <a:p>
            <a:r>
              <a:rPr lang="en-US" sz="2400" dirty="0">
                <a:latin typeface="Consolas" panose="020B0609020204030204" pitchFamily="49" charset="0"/>
              </a:rPr>
              <a:t>/content/yolov5/data/</a:t>
            </a:r>
            <a:r>
              <a:rPr lang="en-US" sz="2400" dirty="0" err="1">
                <a:latin typeface="Consolas" panose="020B0609020204030204" pitchFamily="49" charset="0"/>
              </a:rPr>
              <a:t>Letter_detect.yaml</a:t>
            </a:r>
            <a:r>
              <a:rPr lang="en-US" sz="2400" dirty="0">
                <a:latin typeface="Consolas" panose="020B0609020204030204" pitchFamily="49" charset="0"/>
              </a:rPr>
              <a:t> --weights yolov5m.pt --cache</a:t>
            </a:r>
          </a:p>
        </p:txBody>
      </p:sp>
    </p:spTree>
    <p:extLst>
      <p:ext uri="{BB962C8B-B14F-4D97-AF65-F5344CB8AC3E}">
        <p14:creationId xmlns:p14="http://schemas.microsoft.com/office/powerpoint/2010/main" val="34707317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23FBD02C-131E-34D7-B69F-BD976658A8C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1AB99AB-8046-893D-E78F-C5CA2447C116}"/>
              </a:ext>
            </a:extLst>
          </p:cNvPr>
          <p:cNvSpPr txBox="1"/>
          <p:nvPr/>
        </p:nvSpPr>
        <p:spPr>
          <a:xfrm>
            <a:off x="-2772514" y="0"/>
            <a:ext cx="10739628" cy="842717"/>
          </a:xfrm>
          <a:prstGeom prst="rect">
            <a:avLst/>
          </a:prstGeom>
        </p:spPr>
        <p:txBody>
          <a:bodyPr vert="horz" lIns="91440" tIns="45720" rIns="91440" bIns="45720" rtlCol="0" anchor="b">
            <a:normAutofit/>
          </a:bodyPr>
          <a:lstStyle/>
          <a:p>
            <a:pPr marL="0" indent="0" algn="ctr">
              <a:lnSpc>
                <a:spcPct val="90000"/>
              </a:lnSpc>
              <a:spcBef>
                <a:spcPct val="0"/>
              </a:spcBef>
              <a:spcAft>
                <a:spcPts val="600"/>
              </a:spcAft>
            </a:pPr>
            <a:r>
              <a:rPr lang="en-US" sz="4300" dirty="0">
                <a:latin typeface="+mj-lt"/>
                <a:ea typeface="+mj-ea"/>
                <a:cs typeface="+mj-cs"/>
              </a:rPr>
              <a:t>4. </a:t>
            </a:r>
            <a:r>
              <a:rPr lang="en-US" sz="4300" dirty="0" err="1">
                <a:latin typeface="+mj-lt"/>
                <a:ea typeface="+mj-ea"/>
                <a:cs typeface="+mj-cs"/>
              </a:rPr>
              <a:t>Đánh</a:t>
            </a:r>
            <a:r>
              <a:rPr lang="en-US" sz="4300" dirty="0">
                <a:latin typeface="+mj-lt"/>
                <a:ea typeface="+mj-ea"/>
                <a:cs typeface="+mj-cs"/>
              </a:rPr>
              <a:t> </a:t>
            </a:r>
            <a:r>
              <a:rPr lang="en-US" sz="4300" dirty="0" err="1">
                <a:latin typeface="+mj-lt"/>
                <a:ea typeface="+mj-ea"/>
                <a:cs typeface="+mj-cs"/>
              </a:rPr>
              <a:t>giá</a:t>
            </a:r>
            <a:r>
              <a:rPr lang="en-US" sz="4300" dirty="0">
                <a:latin typeface="+mj-lt"/>
                <a:ea typeface="+mj-ea"/>
                <a:cs typeface="+mj-cs"/>
              </a:rPr>
              <a:t> </a:t>
            </a:r>
            <a:r>
              <a:rPr lang="en-US" sz="4300" dirty="0" err="1">
                <a:latin typeface="+mj-lt"/>
                <a:ea typeface="+mj-ea"/>
                <a:cs typeface="+mj-cs"/>
              </a:rPr>
              <a:t>mô</a:t>
            </a:r>
            <a:r>
              <a:rPr lang="en-US" sz="4300" dirty="0">
                <a:latin typeface="+mj-lt"/>
                <a:ea typeface="+mj-ea"/>
                <a:cs typeface="+mj-cs"/>
              </a:rPr>
              <a:t> </a:t>
            </a:r>
            <a:r>
              <a:rPr lang="en-US" sz="4300" dirty="0" err="1">
                <a:latin typeface="+mj-lt"/>
                <a:ea typeface="+mj-ea"/>
                <a:cs typeface="+mj-cs"/>
              </a:rPr>
              <a:t>hình</a:t>
            </a:r>
            <a:endParaRPr lang="en-US" sz="4300" dirty="0">
              <a:latin typeface="+mj-lt"/>
              <a:ea typeface="+mj-ea"/>
              <a:cs typeface="+mj-cs"/>
            </a:endParaRPr>
          </a:p>
        </p:txBody>
      </p:sp>
      <p:sp>
        <p:nvSpPr>
          <p:cNvPr id="26" name="Text 0">
            <a:extLst>
              <a:ext uri="{FF2B5EF4-FFF2-40B4-BE49-F238E27FC236}">
                <a16:creationId xmlns:a16="http://schemas.microsoft.com/office/drawing/2014/main" id="{86CA7D23-D779-43B7-F95D-D702A1041DE0}"/>
              </a:ext>
            </a:extLst>
          </p:cNvPr>
          <p:cNvSpPr/>
          <p:nvPr/>
        </p:nvSpPr>
        <p:spPr>
          <a:xfrm>
            <a:off x="-1727518" y="990634"/>
            <a:ext cx="10741543" cy="605574"/>
          </a:xfrm>
          <a:prstGeom prst="rect">
            <a:avLst/>
          </a:prstGeom>
        </p:spPr>
        <p:txBody>
          <a:bodyPr vert="horz" lIns="91440" tIns="45720" rIns="91440" bIns="45720" rtlCol="0" anchor="t">
            <a:normAutofit/>
          </a:bodyPr>
          <a:lstStyle/>
          <a:p>
            <a:pPr algn="ctr">
              <a:lnSpc>
                <a:spcPct val="90000"/>
              </a:lnSpc>
              <a:spcBef>
                <a:spcPts val="1000"/>
              </a:spcBef>
            </a:pPr>
            <a:r>
              <a:rPr lang="en-US" sz="2200" dirty="0" err="1"/>
              <a:t>Đồ</a:t>
            </a:r>
            <a:r>
              <a:rPr lang="en-US" sz="2200" dirty="0"/>
              <a:t> </a:t>
            </a:r>
            <a:r>
              <a:rPr lang="en-US" sz="2200" dirty="0" err="1"/>
              <a:t>thị</a:t>
            </a:r>
            <a:r>
              <a:rPr lang="en-US" sz="2200" dirty="0"/>
              <a:t> </a:t>
            </a:r>
            <a:r>
              <a:rPr lang="en-US" sz="2200" dirty="0" err="1"/>
              <a:t>của</a:t>
            </a:r>
            <a:r>
              <a:rPr lang="en-US" sz="2200" dirty="0"/>
              <a:t> </a:t>
            </a:r>
            <a:r>
              <a:rPr lang="en-US" sz="2200" dirty="0" err="1"/>
              <a:t>quá</a:t>
            </a:r>
            <a:r>
              <a:rPr lang="en-US" sz="2200" dirty="0"/>
              <a:t> </a:t>
            </a:r>
            <a:r>
              <a:rPr lang="en-US" sz="2200" dirty="0" err="1"/>
              <a:t>trình</a:t>
            </a:r>
            <a:r>
              <a:rPr lang="en-US" sz="2200" dirty="0"/>
              <a:t> training </a:t>
            </a:r>
            <a:r>
              <a:rPr lang="en-US" sz="2200" dirty="0" err="1"/>
              <a:t>nhận</a:t>
            </a:r>
            <a:r>
              <a:rPr lang="en-US" sz="2200" dirty="0"/>
              <a:t> </a:t>
            </a:r>
            <a:r>
              <a:rPr lang="en-US" sz="2200" dirty="0" err="1"/>
              <a:t>diện</a:t>
            </a:r>
            <a:r>
              <a:rPr lang="en-US" sz="2200" dirty="0"/>
              <a:t> </a:t>
            </a:r>
            <a:r>
              <a:rPr lang="en-US" sz="2200" dirty="0" err="1"/>
              <a:t>biển</a:t>
            </a:r>
            <a:r>
              <a:rPr lang="en-US" sz="2200" dirty="0"/>
              <a:t> </a:t>
            </a:r>
            <a:r>
              <a:rPr lang="en-US" sz="2200" dirty="0" err="1"/>
              <a:t>số</a:t>
            </a:r>
            <a:endParaRPr lang="en-US" sz="2200" dirty="0"/>
          </a:p>
        </p:txBody>
      </p:sp>
      <p:pic>
        <p:nvPicPr>
          <p:cNvPr id="4" name="Picture 3" descr="A graph of a function&#10;&#10;AI-generated content may be incorrect.">
            <a:extLst>
              <a:ext uri="{FF2B5EF4-FFF2-40B4-BE49-F238E27FC236}">
                <a16:creationId xmlns:a16="http://schemas.microsoft.com/office/drawing/2014/main" id="{0D361BED-5497-8347-0C58-BEC53A61851E}"/>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auto">
          <a:xfrm>
            <a:off x="215154" y="1448292"/>
            <a:ext cx="6856200" cy="6433904"/>
          </a:xfrm>
          <a:prstGeom prst="rect">
            <a:avLst/>
          </a:prstGeom>
          <a:noFill/>
        </p:spPr>
      </p:pic>
      <p:graphicFrame>
        <p:nvGraphicFramePr>
          <p:cNvPr id="7" name="Table 6">
            <a:extLst>
              <a:ext uri="{FF2B5EF4-FFF2-40B4-BE49-F238E27FC236}">
                <a16:creationId xmlns:a16="http://schemas.microsoft.com/office/drawing/2014/main" id="{E7EB300E-D87F-E1D8-E993-95ABC9EE001C}"/>
              </a:ext>
            </a:extLst>
          </p:cNvPr>
          <p:cNvGraphicFramePr>
            <a:graphicFrameLocks noGrp="1"/>
          </p:cNvGraphicFramePr>
          <p:nvPr>
            <p:extLst>
              <p:ext uri="{D42A27DB-BD31-4B8C-83A1-F6EECF244321}">
                <p14:modId xmlns:p14="http://schemas.microsoft.com/office/powerpoint/2010/main" val="3692309740"/>
              </p:ext>
            </p:extLst>
          </p:nvPr>
        </p:nvGraphicFramePr>
        <p:xfrm>
          <a:off x="7315200" y="1448291"/>
          <a:ext cx="7194176" cy="6433905"/>
        </p:xfrm>
        <a:graphic>
          <a:graphicData uri="http://schemas.openxmlformats.org/drawingml/2006/table">
            <a:tbl>
              <a:tblPr>
                <a:solidFill>
                  <a:schemeClr val="bg1"/>
                </a:solidFill>
              </a:tblPr>
              <a:tblGrid>
                <a:gridCol w="1675916">
                  <a:extLst>
                    <a:ext uri="{9D8B030D-6E8A-4147-A177-3AD203B41FA5}">
                      <a16:colId xmlns:a16="http://schemas.microsoft.com/office/drawing/2014/main" val="3981039613"/>
                    </a:ext>
                  </a:extLst>
                </a:gridCol>
                <a:gridCol w="2524576">
                  <a:extLst>
                    <a:ext uri="{9D8B030D-6E8A-4147-A177-3AD203B41FA5}">
                      <a16:colId xmlns:a16="http://schemas.microsoft.com/office/drawing/2014/main" val="579840019"/>
                    </a:ext>
                  </a:extLst>
                </a:gridCol>
                <a:gridCol w="2993684">
                  <a:extLst>
                    <a:ext uri="{9D8B030D-6E8A-4147-A177-3AD203B41FA5}">
                      <a16:colId xmlns:a16="http://schemas.microsoft.com/office/drawing/2014/main" val="679380279"/>
                    </a:ext>
                  </a:extLst>
                </a:gridCol>
              </a:tblGrid>
              <a:tr h="349682">
                <a:tc>
                  <a:txBody>
                    <a:bodyPr/>
                    <a:lstStyle/>
                    <a:p>
                      <a:pPr algn="ctr"/>
                      <a:r>
                        <a:rPr lang="en-US" sz="1600" b="1">
                          <a:latin typeface="Cambria" panose="02040503050406030204" pitchFamily="18" charset="0"/>
                          <a:ea typeface="Cambria" panose="02040503050406030204" pitchFamily="18" charset="0"/>
                        </a:rPr>
                        <a:t>Chỉ số</a:t>
                      </a:r>
                      <a:endParaRPr lang="en-US" sz="1600">
                        <a:latin typeface="Cambria" panose="02040503050406030204" pitchFamily="18" charset="0"/>
                        <a:ea typeface="Cambria" panose="02040503050406030204" pitchFamily="18" charset="0"/>
                      </a:endParaRPr>
                    </a:p>
                  </a:txBody>
                  <a:tcPr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lgn="ctr"/>
                      <a:r>
                        <a:rPr lang="en-US" sz="1600" b="1">
                          <a:latin typeface="Cambria" panose="02040503050406030204" pitchFamily="18" charset="0"/>
                          <a:ea typeface="Cambria" panose="02040503050406030204" pitchFamily="18" charset="0"/>
                        </a:rPr>
                        <a:t>Ý nghĩa &amp; Tác dụng</a:t>
                      </a:r>
                      <a:endParaRPr lang="en-US" sz="1600">
                        <a:latin typeface="Cambria" panose="02040503050406030204" pitchFamily="18" charset="0"/>
                        <a:ea typeface="Cambria" panose="02040503050406030204" pitchFamily="18" charset="0"/>
                      </a:endParaRPr>
                    </a:p>
                  </a:txBody>
                  <a:tcPr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lgn="ctr"/>
                      <a:r>
                        <a:rPr lang="en-US" sz="1600" b="1" dirty="0" err="1">
                          <a:latin typeface="Cambria" panose="02040503050406030204" pitchFamily="18" charset="0"/>
                          <a:ea typeface="Cambria" panose="02040503050406030204" pitchFamily="18" charset="0"/>
                        </a:rPr>
                        <a:t>Ví</a:t>
                      </a:r>
                      <a:r>
                        <a:rPr lang="en-US" sz="1600" b="1" dirty="0">
                          <a:latin typeface="Cambria" panose="02040503050406030204" pitchFamily="18" charset="0"/>
                          <a:ea typeface="Cambria" panose="02040503050406030204" pitchFamily="18" charset="0"/>
                        </a:rPr>
                        <a:t> </a:t>
                      </a:r>
                      <a:r>
                        <a:rPr lang="en-US" sz="1600" b="1" dirty="0" err="1">
                          <a:latin typeface="Cambria" panose="02040503050406030204" pitchFamily="18" charset="0"/>
                          <a:ea typeface="Cambria" panose="02040503050406030204" pitchFamily="18" charset="0"/>
                        </a:rPr>
                        <a:t>dụ</a:t>
                      </a:r>
                      <a:r>
                        <a:rPr lang="en-US" sz="1600" b="1" dirty="0">
                          <a:latin typeface="Cambria" panose="02040503050406030204" pitchFamily="18" charset="0"/>
                          <a:ea typeface="Cambria" panose="02040503050406030204" pitchFamily="18" charset="0"/>
                        </a:rPr>
                        <a:t> </a:t>
                      </a:r>
                      <a:r>
                        <a:rPr lang="en-US" sz="1600" b="1" dirty="0" err="1">
                          <a:latin typeface="Cambria" panose="02040503050406030204" pitchFamily="18" charset="0"/>
                          <a:ea typeface="Cambria" panose="02040503050406030204" pitchFamily="18" charset="0"/>
                        </a:rPr>
                        <a:t>trên</a:t>
                      </a:r>
                      <a:r>
                        <a:rPr lang="en-US" sz="1600" b="1" dirty="0">
                          <a:latin typeface="Cambria" panose="02040503050406030204" pitchFamily="18" charset="0"/>
                          <a:ea typeface="Cambria" panose="02040503050406030204" pitchFamily="18" charset="0"/>
                        </a:rPr>
                        <a:t> 100 </a:t>
                      </a:r>
                      <a:r>
                        <a:rPr lang="en-US" sz="1600" b="1" dirty="0" err="1">
                          <a:latin typeface="Cambria" panose="02040503050406030204" pitchFamily="18" charset="0"/>
                          <a:ea typeface="Cambria" panose="02040503050406030204" pitchFamily="18" charset="0"/>
                        </a:rPr>
                        <a:t>ảnh</a:t>
                      </a:r>
                      <a:endParaRPr lang="en-US" sz="1600" dirty="0">
                        <a:latin typeface="Cambria" panose="02040503050406030204" pitchFamily="18" charset="0"/>
                        <a:ea typeface="Cambria" panose="02040503050406030204" pitchFamily="18" charset="0"/>
                      </a:endParaRPr>
                    </a:p>
                  </a:txBody>
                  <a:tcPr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4024957430"/>
                  </a:ext>
                </a:extLst>
              </a:tr>
              <a:tr h="922392">
                <a:tc>
                  <a:txBody>
                    <a:bodyPr/>
                    <a:lstStyle/>
                    <a:p>
                      <a:pPr algn="ctr"/>
                      <a:r>
                        <a:rPr lang="en-US" sz="1600" b="1" dirty="0">
                          <a:latin typeface="Cambria" panose="02040503050406030204" pitchFamily="18" charset="0"/>
                          <a:ea typeface="Cambria" panose="02040503050406030204" pitchFamily="18" charset="0"/>
                        </a:rPr>
                        <a:t>TP (True Positive)</a:t>
                      </a:r>
                      <a:endParaRPr lang="en-US" sz="1600" dirty="0">
                        <a:latin typeface="Cambria" panose="02040503050406030204" pitchFamily="18" charset="0"/>
                        <a:ea typeface="Cambria" panose="02040503050406030204" pitchFamily="18" charset="0"/>
                      </a:endParaRPr>
                    </a:p>
                  </a:txBody>
                  <a:tcPr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1600" dirty="0" err="1">
                          <a:latin typeface="Cambria" panose="02040503050406030204" pitchFamily="18" charset="0"/>
                          <a:ea typeface="Cambria" panose="02040503050406030204" pitchFamily="18" charset="0"/>
                        </a:rPr>
                        <a:t>Dự</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đoán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đúng</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ảnh</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có</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biển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số</a:t>
                      </a:r>
                      <a:r>
                        <a:rPr lang="en-US" sz="1600" dirty="0">
                          <a:latin typeface="Cambria" panose="02040503050406030204" pitchFamily="18" charset="0"/>
                          <a:ea typeface="Cambria" panose="02040503050406030204" pitchFamily="18" charset="0"/>
                        </a:rPr>
                        <a:t> → </a:t>
                      </a:r>
                      <a:r>
                        <a:rPr lang="en-US" sz="1600" dirty="0" err="1">
                          <a:latin typeface="Cambria" panose="02040503050406030204" pitchFamily="18" charset="0"/>
                          <a:ea typeface="Cambria" panose="02040503050406030204" pitchFamily="18" charset="0"/>
                        </a:rPr>
                        <a:t>càng</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cao</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càng</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tốt</a:t>
                      </a:r>
                      <a:r>
                        <a:rPr lang="en-US" sz="1600" dirty="0">
                          <a:latin typeface="Cambria" panose="02040503050406030204" pitchFamily="18" charset="0"/>
                          <a:ea typeface="Cambria" panose="02040503050406030204" pitchFamily="18" charset="0"/>
                        </a:rPr>
                        <a:t>.</a:t>
                      </a:r>
                    </a:p>
                  </a:txBody>
                  <a:tcPr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1600" dirty="0" err="1">
                          <a:latin typeface="Cambria" panose="02040503050406030204" pitchFamily="18" charset="0"/>
                          <a:ea typeface="Cambria" panose="02040503050406030204" pitchFamily="18" charset="0"/>
                        </a:rPr>
                        <a:t>Có</a:t>
                      </a:r>
                      <a:r>
                        <a:rPr lang="en-US" sz="1600" dirty="0">
                          <a:latin typeface="Cambria" panose="02040503050406030204" pitchFamily="18" charset="0"/>
                          <a:ea typeface="Cambria" panose="02040503050406030204" pitchFamily="18" charset="0"/>
                        </a:rPr>
                        <a:t> 60 </a:t>
                      </a:r>
                      <a:r>
                        <a:rPr lang="en-US" sz="1600" dirty="0" err="1">
                          <a:latin typeface="Cambria" panose="02040503050406030204" pitchFamily="18" charset="0"/>
                          <a:ea typeface="Cambria" panose="02040503050406030204" pitchFamily="18" charset="0"/>
                        </a:rPr>
                        <a:t>ảnh</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thật</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sự</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có</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biển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số</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mô</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hình</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phát</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hiện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đúng</a:t>
                      </a:r>
                      <a:r>
                        <a:rPr lang="en-US" sz="1600" dirty="0">
                          <a:latin typeface="Cambria" panose="02040503050406030204" pitchFamily="18" charset="0"/>
                          <a:ea typeface="Cambria" panose="02040503050406030204" pitchFamily="18" charset="0"/>
                        </a:rPr>
                        <a:t> 50 </a:t>
                      </a:r>
                      <a:r>
                        <a:rPr lang="en-US" sz="1600" dirty="0" err="1">
                          <a:latin typeface="Cambria" panose="02040503050406030204" pitchFamily="18" charset="0"/>
                          <a:ea typeface="Cambria" panose="02040503050406030204" pitchFamily="18" charset="0"/>
                        </a:rPr>
                        <a:t>ảnh</a:t>
                      </a:r>
                      <a:r>
                        <a:rPr lang="en-US" sz="1600" dirty="0">
                          <a:latin typeface="Cambria" panose="02040503050406030204" pitchFamily="18" charset="0"/>
                          <a:ea typeface="Cambria" panose="02040503050406030204" pitchFamily="18" charset="0"/>
                        </a:rPr>
                        <a:t> → </a:t>
                      </a:r>
                      <a:r>
                        <a:rPr lang="en-US" sz="1600" b="1" dirty="0">
                          <a:latin typeface="Cambria" panose="02040503050406030204" pitchFamily="18" charset="0"/>
                          <a:ea typeface="Cambria" panose="02040503050406030204" pitchFamily="18" charset="0"/>
                        </a:rPr>
                        <a:t>TP = 50</a:t>
                      </a:r>
                      <a:endParaRPr lang="en-US" sz="1600" dirty="0">
                        <a:latin typeface="Cambria" panose="02040503050406030204" pitchFamily="18" charset="0"/>
                        <a:ea typeface="Cambria" panose="02040503050406030204" pitchFamily="18" charset="0"/>
                      </a:endParaRPr>
                    </a:p>
                  </a:txBody>
                  <a:tcPr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2091071657"/>
                  </a:ext>
                </a:extLst>
              </a:tr>
              <a:tr h="922392">
                <a:tc>
                  <a:txBody>
                    <a:bodyPr/>
                    <a:lstStyle/>
                    <a:p>
                      <a:pPr algn="ctr"/>
                      <a:r>
                        <a:rPr lang="en-US" sz="1600" b="1" dirty="0">
                          <a:latin typeface="Cambria" panose="02040503050406030204" pitchFamily="18" charset="0"/>
                          <a:ea typeface="Cambria" panose="02040503050406030204" pitchFamily="18" charset="0"/>
                        </a:rPr>
                        <a:t>FP (False Positive)</a:t>
                      </a:r>
                      <a:endParaRPr lang="en-US" sz="1600" dirty="0">
                        <a:latin typeface="Cambria" panose="02040503050406030204" pitchFamily="18" charset="0"/>
                        <a:ea typeface="Cambria" panose="02040503050406030204" pitchFamily="18" charset="0"/>
                      </a:endParaRPr>
                    </a:p>
                  </a:txBody>
                  <a:tcPr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1600" dirty="0" err="1">
                          <a:latin typeface="Cambria" panose="02040503050406030204" pitchFamily="18" charset="0"/>
                          <a:ea typeface="Cambria" panose="02040503050406030204" pitchFamily="18" charset="0"/>
                        </a:rPr>
                        <a:t>Dự</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đoán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sai</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ảnh</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không</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có</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biển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số</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là</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có</a:t>
                      </a:r>
                      <a:r>
                        <a:rPr lang="en-US" sz="1600" dirty="0">
                          <a:latin typeface="Cambria" panose="02040503050406030204" pitchFamily="18" charset="0"/>
                          <a:ea typeface="Cambria" panose="02040503050406030204" pitchFamily="18" charset="0"/>
                        </a:rPr>
                        <a:t> → </a:t>
                      </a:r>
                      <a:r>
                        <a:rPr lang="en-US" sz="1600" dirty="0" err="1">
                          <a:latin typeface="Cambria" panose="02040503050406030204" pitchFamily="18" charset="0"/>
                          <a:ea typeface="Cambria" panose="02040503050406030204" pitchFamily="18" charset="0"/>
                        </a:rPr>
                        <a:t>cần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giảm</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để</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tránh</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báo</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nhầm</a:t>
                      </a:r>
                      <a:r>
                        <a:rPr lang="en-US" sz="1600" dirty="0">
                          <a:latin typeface="Cambria" panose="02040503050406030204" pitchFamily="18" charset="0"/>
                          <a:ea typeface="Cambria" panose="02040503050406030204" pitchFamily="18" charset="0"/>
                        </a:rPr>
                        <a:t>.</a:t>
                      </a:r>
                    </a:p>
                  </a:txBody>
                  <a:tcPr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1600">
                          <a:latin typeface="Cambria" panose="02040503050406030204" pitchFamily="18" charset="0"/>
                          <a:ea typeface="Cambria" panose="02040503050406030204" pitchFamily="18" charset="0"/>
                        </a:rPr>
                        <a:t>Có 40 ảnh không có biển số, mô hình báo nhầm 5 ảnh là có → </a:t>
                      </a:r>
                      <a:r>
                        <a:rPr lang="en-US" sz="1600" b="1">
                          <a:latin typeface="Cambria" panose="02040503050406030204" pitchFamily="18" charset="0"/>
                          <a:ea typeface="Cambria" panose="02040503050406030204" pitchFamily="18" charset="0"/>
                        </a:rPr>
                        <a:t>FP = 5</a:t>
                      </a:r>
                      <a:endParaRPr lang="en-US" sz="1600">
                        <a:latin typeface="Cambria" panose="02040503050406030204" pitchFamily="18" charset="0"/>
                        <a:ea typeface="Cambria" panose="02040503050406030204" pitchFamily="18" charset="0"/>
                      </a:endParaRPr>
                    </a:p>
                  </a:txBody>
                  <a:tcPr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2862836060"/>
                  </a:ext>
                </a:extLst>
              </a:tr>
              <a:tr h="922392">
                <a:tc>
                  <a:txBody>
                    <a:bodyPr/>
                    <a:lstStyle/>
                    <a:p>
                      <a:pPr algn="ctr"/>
                      <a:r>
                        <a:rPr lang="en-US" sz="1600" b="1" dirty="0">
                          <a:latin typeface="Cambria" panose="02040503050406030204" pitchFamily="18" charset="0"/>
                          <a:ea typeface="Cambria" panose="02040503050406030204" pitchFamily="18" charset="0"/>
                        </a:rPr>
                        <a:t>TN (True Negative)</a:t>
                      </a:r>
                      <a:endParaRPr lang="en-US" sz="1600" dirty="0">
                        <a:latin typeface="Cambria" panose="02040503050406030204" pitchFamily="18" charset="0"/>
                        <a:ea typeface="Cambria" panose="02040503050406030204" pitchFamily="18" charset="0"/>
                      </a:endParaRPr>
                    </a:p>
                  </a:txBody>
                  <a:tcPr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1600" dirty="0" err="1">
                          <a:latin typeface="Cambria" panose="02040503050406030204" pitchFamily="18" charset="0"/>
                          <a:ea typeface="Cambria" panose="02040503050406030204" pitchFamily="18" charset="0"/>
                        </a:rPr>
                        <a:t>Dự</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đoán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đúng</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ảnh</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không</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có</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biển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số</a:t>
                      </a:r>
                      <a:r>
                        <a:rPr lang="en-US" sz="1600" dirty="0">
                          <a:latin typeface="Cambria" panose="02040503050406030204" pitchFamily="18" charset="0"/>
                          <a:ea typeface="Cambria" panose="02040503050406030204" pitchFamily="18" charset="0"/>
                        </a:rPr>
                        <a:t> → </a:t>
                      </a:r>
                      <a:r>
                        <a:rPr lang="en-US" sz="1600" dirty="0" err="1">
                          <a:latin typeface="Cambria" panose="02040503050406030204" pitchFamily="18" charset="0"/>
                          <a:ea typeface="Cambria" panose="02040503050406030204" pitchFamily="18" charset="0"/>
                        </a:rPr>
                        <a:t>càng</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cao</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càng</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tốt</a:t>
                      </a:r>
                      <a:r>
                        <a:rPr lang="en-US" sz="1600" dirty="0">
                          <a:latin typeface="Cambria" panose="02040503050406030204" pitchFamily="18" charset="0"/>
                          <a:ea typeface="Cambria" panose="02040503050406030204" pitchFamily="18" charset="0"/>
                        </a:rPr>
                        <a:t>.</a:t>
                      </a:r>
                    </a:p>
                  </a:txBody>
                  <a:tcPr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1600" dirty="0">
                          <a:latin typeface="Cambria" panose="02040503050406030204" pitchFamily="18" charset="0"/>
                          <a:ea typeface="Cambria" panose="02040503050406030204" pitchFamily="18" charset="0"/>
                        </a:rPr>
                        <a:t>Trong 40 </a:t>
                      </a:r>
                      <a:r>
                        <a:rPr lang="en-US" sz="1600" dirty="0" err="1">
                          <a:latin typeface="Cambria" panose="02040503050406030204" pitchFamily="18" charset="0"/>
                          <a:ea typeface="Cambria" panose="02040503050406030204" pitchFamily="18" charset="0"/>
                        </a:rPr>
                        <a:t>ảnh</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không</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có</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biển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số</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mô</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hình</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đoán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đúng</a:t>
                      </a:r>
                      <a:r>
                        <a:rPr lang="en-US" sz="1600" dirty="0">
                          <a:latin typeface="Cambria" panose="02040503050406030204" pitchFamily="18" charset="0"/>
                          <a:ea typeface="Cambria" panose="02040503050406030204" pitchFamily="18" charset="0"/>
                        </a:rPr>
                        <a:t> 35 </a:t>
                      </a:r>
                      <a:r>
                        <a:rPr lang="en-US" sz="1600" dirty="0" err="1">
                          <a:latin typeface="Cambria" panose="02040503050406030204" pitchFamily="18" charset="0"/>
                          <a:ea typeface="Cambria" panose="02040503050406030204" pitchFamily="18" charset="0"/>
                        </a:rPr>
                        <a:t>ảnh</a:t>
                      </a:r>
                      <a:r>
                        <a:rPr lang="en-US" sz="1600" dirty="0">
                          <a:latin typeface="Cambria" panose="02040503050406030204" pitchFamily="18" charset="0"/>
                          <a:ea typeface="Cambria" panose="02040503050406030204" pitchFamily="18" charset="0"/>
                        </a:rPr>
                        <a:t> → </a:t>
                      </a:r>
                      <a:r>
                        <a:rPr lang="en-US" sz="1600" b="1" dirty="0">
                          <a:latin typeface="Cambria" panose="02040503050406030204" pitchFamily="18" charset="0"/>
                          <a:ea typeface="Cambria" panose="02040503050406030204" pitchFamily="18" charset="0"/>
                        </a:rPr>
                        <a:t>TN = 35</a:t>
                      </a:r>
                      <a:endParaRPr lang="en-US" sz="1600" dirty="0">
                        <a:latin typeface="Cambria" panose="02040503050406030204" pitchFamily="18" charset="0"/>
                        <a:ea typeface="Cambria" panose="02040503050406030204" pitchFamily="18" charset="0"/>
                      </a:endParaRPr>
                    </a:p>
                  </a:txBody>
                  <a:tcPr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3544684912"/>
                  </a:ext>
                </a:extLst>
              </a:tr>
              <a:tr h="922392">
                <a:tc>
                  <a:txBody>
                    <a:bodyPr/>
                    <a:lstStyle/>
                    <a:p>
                      <a:pPr algn="ctr"/>
                      <a:r>
                        <a:rPr lang="en-US" sz="1600" b="1" dirty="0">
                          <a:latin typeface="Cambria" panose="02040503050406030204" pitchFamily="18" charset="0"/>
                          <a:ea typeface="Cambria" panose="02040503050406030204" pitchFamily="18" charset="0"/>
                        </a:rPr>
                        <a:t>FN (False Negative)</a:t>
                      </a:r>
                      <a:endParaRPr lang="en-US" sz="1600" dirty="0">
                        <a:latin typeface="Cambria" panose="02040503050406030204" pitchFamily="18" charset="0"/>
                        <a:ea typeface="Cambria" panose="02040503050406030204" pitchFamily="18" charset="0"/>
                      </a:endParaRPr>
                    </a:p>
                  </a:txBody>
                  <a:tcPr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vi-VN" sz="1600" dirty="0">
                          <a:latin typeface="Cambria" panose="02040503050406030204" pitchFamily="18" charset="0"/>
                          <a:ea typeface="Cambria" panose="02040503050406030204" pitchFamily="18" charset="0"/>
                        </a:rPr>
                        <a:t>Bỏ sót ảnh có biển số → cần giảm để không bỏ lọt</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đối</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tượng</a:t>
                      </a:r>
                      <a:r>
                        <a:rPr lang="vi-VN" sz="1600" dirty="0">
                          <a:latin typeface="Cambria" panose="02040503050406030204" pitchFamily="18" charset="0"/>
                          <a:ea typeface="Cambria" panose="02040503050406030204" pitchFamily="18" charset="0"/>
                        </a:rPr>
                        <a:t>.</a:t>
                      </a:r>
                    </a:p>
                  </a:txBody>
                  <a:tcPr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1600" dirty="0">
                          <a:latin typeface="Cambria" panose="02040503050406030204" pitchFamily="18" charset="0"/>
                          <a:ea typeface="Cambria" panose="02040503050406030204" pitchFamily="18" charset="0"/>
                        </a:rPr>
                        <a:t>Trong 60 </a:t>
                      </a:r>
                      <a:r>
                        <a:rPr lang="en-US" sz="1600" dirty="0" err="1">
                          <a:latin typeface="Cambria" panose="02040503050406030204" pitchFamily="18" charset="0"/>
                          <a:ea typeface="Cambria" panose="02040503050406030204" pitchFamily="18" charset="0"/>
                        </a:rPr>
                        <a:t>ảnh</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có</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biển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số</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mô</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hình</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bỏ</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sót</a:t>
                      </a:r>
                      <a:r>
                        <a:rPr lang="en-US" sz="1600" dirty="0">
                          <a:latin typeface="Cambria" panose="02040503050406030204" pitchFamily="18" charset="0"/>
                          <a:ea typeface="Cambria" panose="02040503050406030204" pitchFamily="18" charset="0"/>
                        </a:rPr>
                        <a:t> 10 </a:t>
                      </a:r>
                      <a:r>
                        <a:rPr lang="en-US" sz="1600" dirty="0" err="1">
                          <a:latin typeface="Cambria" panose="02040503050406030204" pitchFamily="18" charset="0"/>
                          <a:ea typeface="Cambria" panose="02040503050406030204" pitchFamily="18" charset="0"/>
                        </a:rPr>
                        <a:t>ảnh</a:t>
                      </a:r>
                      <a:r>
                        <a:rPr lang="en-US" sz="1600" dirty="0">
                          <a:latin typeface="Cambria" panose="02040503050406030204" pitchFamily="18" charset="0"/>
                          <a:ea typeface="Cambria" panose="02040503050406030204" pitchFamily="18" charset="0"/>
                        </a:rPr>
                        <a:t> → </a:t>
                      </a:r>
                      <a:r>
                        <a:rPr lang="en-US" sz="1600" b="1" dirty="0">
                          <a:latin typeface="Cambria" panose="02040503050406030204" pitchFamily="18" charset="0"/>
                          <a:ea typeface="Cambria" panose="02040503050406030204" pitchFamily="18" charset="0"/>
                        </a:rPr>
                        <a:t>FN = 10</a:t>
                      </a:r>
                      <a:endParaRPr lang="en-US" sz="1600" dirty="0">
                        <a:latin typeface="Cambria" panose="02040503050406030204" pitchFamily="18" charset="0"/>
                        <a:ea typeface="Cambria" panose="02040503050406030204" pitchFamily="18" charset="0"/>
                      </a:endParaRPr>
                    </a:p>
                  </a:txBody>
                  <a:tcPr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1577530090"/>
                  </a:ext>
                </a:extLst>
              </a:tr>
              <a:tr h="1084015">
                <a:tc>
                  <a:txBody>
                    <a:bodyPr/>
                    <a:lstStyle/>
                    <a:p>
                      <a:pPr algn="ctr"/>
                      <a:r>
                        <a:rPr lang="en-US" sz="1600" b="1">
                          <a:solidFill>
                            <a:schemeClr val="accent6"/>
                          </a:solidFill>
                          <a:latin typeface="Cambria" panose="02040503050406030204" pitchFamily="18" charset="0"/>
                          <a:ea typeface="Cambria" panose="02040503050406030204" pitchFamily="18" charset="0"/>
                        </a:rPr>
                        <a:t>Precision</a:t>
                      </a:r>
                      <a:endParaRPr lang="en-US" sz="1600">
                        <a:solidFill>
                          <a:schemeClr val="accent6"/>
                        </a:solidFill>
                        <a:latin typeface="Cambria" panose="02040503050406030204" pitchFamily="18" charset="0"/>
                        <a:ea typeface="Cambria" panose="02040503050406030204" pitchFamily="18" charset="0"/>
                      </a:endParaRPr>
                    </a:p>
                  </a:txBody>
                  <a:tcPr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1600" dirty="0">
                          <a:latin typeface="Cambria" panose="02040503050406030204" pitchFamily="18" charset="0"/>
                          <a:ea typeface="Cambria" panose="02040503050406030204" pitchFamily="18" charset="0"/>
                        </a:rPr>
                        <a:t>Trong </a:t>
                      </a:r>
                      <a:r>
                        <a:rPr lang="en-US" sz="1600" dirty="0" err="1">
                          <a:latin typeface="Cambria" panose="02040503050406030204" pitchFamily="18" charset="0"/>
                          <a:ea typeface="Cambria" panose="02040503050406030204" pitchFamily="18" charset="0"/>
                        </a:rPr>
                        <a:t>các</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ảnh</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mô</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hình</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dự</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đoán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là</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có</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biển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số</a:t>
                      </a:r>
                      <a:r>
                        <a:rPr lang="en-US" sz="1600" dirty="0">
                          <a:latin typeface="Cambria" panose="02040503050406030204" pitchFamily="18" charset="0"/>
                          <a:ea typeface="Cambria" panose="02040503050406030204" pitchFamily="18" charset="0"/>
                        </a:rPr>
                        <a:t>, bao </a:t>
                      </a:r>
                      <a:r>
                        <a:rPr lang="en-US" sz="1600" dirty="0" err="1">
                          <a:latin typeface="Cambria" panose="02040503050406030204" pitchFamily="18" charset="0"/>
                          <a:ea typeface="Cambria" panose="02040503050406030204" pitchFamily="18" charset="0"/>
                        </a:rPr>
                        <a:t>nhiêu</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là</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đúng</a:t>
                      </a:r>
                      <a:r>
                        <a:rPr lang="en-US" sz="1600" dirty="0">
                          <a:latin typeface="Cambria" panose="02040503050406030204" pitchFamily="18" charset="0"/>
                          <a:ea typeface="Cambria" panose="02040503050406030204" pitchFamily="18" charset="0"/>
                        </a:rPr>
                        <a:t>. → </a:t>
                      </a:r>
                      <a:r>
                        <a:rPr lang="en-US" sz="1600" dirty="0" err="1">
                          <a:latin typeface="Cambria" panose="02040503050406030204" pitchFamily="18" charset="0"/>
                          <a:ea typeface="Cambria" panose="02040503050406030204" pitchFamily="18" charset="0"/>
                        </a:rPr>
                        <a:t>Tránh</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báo</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nhầm</a:t>
                      </a:r>
                      <a:r>
                        <a:rPr lang="en-US" sz="1600" dirty="0">
                          <a:latin typeface="Cambria" panose="02040503050406030204" pitchFamily="18" charset="0"/>
                          <a:ea typeface="Cambria" panose="02040503050406030204" pitchFamily="18" charset="0"/>
                        </a:rPr>
                        <a:t>. 𝐏 = TP / (TP + FP)</a:t>
                      </a:r>
                    </a:p>
                  </a:txBody>
                  <a:tcPr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1600" dirty="0" err="1">
                          <a:latin typeface="Cambria" panose="02040503050406030204" pitchFamily="18" charset="0"/>
                          <a:ea typeface="Cambria" panose="02040503050406030204" pitchFamily="18" charset="0"/>
                        </a:rPr>
                        <a:t>Dự</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đoán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tổng</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cộng</a:t>
                      </a:r>
                      <a:r>
                        <a:rPr lang="en-US" sz="1600" dirty="0">
                          <a:latin typeface="Cambria" panose="02040503050406030204" pitchFamily="18" charset="0"/>
                          <a:ea typeface="Cambria" panose="02040503050406030204" pitchFamily="18" charset="0"/>
                        </a:rPr>
                        <a:t> 55 </a:t>
                      </a:r>
                      <a:r>
                        <a:rPr lang="en-US" sz="1600" dirty="0" err="1">
                          <a:latin typeface="Cambria" panose="02040503050406030204" pitchFamily="18" charset="0"/>
                          <a:ea typeface="Cambria" panose="02040503050406030204" pitchFamily="18" charset="0"/>
                        </a:rPr>
                        <a:t>ảnh</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có</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biển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số</a:t>
                      </a:r>
                      <a:r>
                        <a:rPr lang="en-US" sz="1600" dirty="0">
                          <a:latin typeface="Cambria" panose="02040503050406030204" pitchFamily="18" charset="0"/>
                          <a:ea typeface="Cambria" panose="02040503050406030204" pitchFamily="18" charset="0"/>
                        </a:rPr>
                        <a:t> (TP + FP = 50 + 5), </a:t>
                      </a:r>
                      <a:r>
                        <a:rPr lang="en-US" sz="1600" dirty="0" err="1">
                          <a:latin typeface="Cambria" panose="02040503050406030204" pitchFamily="18" charset="0"/>
                          <a:ea typeface="Cambria" panose="02040503050406030204" pitchFamily="18" charset="0"/>
                        </a:rPr>
                        <a:t>đúng</a:t>
                      </a:r>
                      <a:r>
                        <a:rPr lang="en-US" sz="1600" dirty="0">
                          <a:latin typeface="Cambria" panose="02040503050406030204" pitchFamily="18" charset="0"/>
                          <a:ea typeface="Cambria" panose="02040503050406030204" pitchFamily="18" charset="0"/>
                        </a:rPr>
                        <a:t> 50 </a:t>
                      </a:r>
                      <a:r>
                        <a:rPr lang="en-US" sz="1600" dirty="0" err="1">
                          <a:latin typeface="Cambria" panose="02040503050406030204" pitchFamily="18" charset="0"/>
                          <a:ea typeface="Cambria" panose="02040503050406030204" pitchFamily="18" charset="0"/>
                        </a:rPr>
                        <a:t>ảnh</a:t>
                      </a:r>
                      <a:r>
                        <a:rPr lang="en-US" sz="1600" dirty="0">
                          <a:latin typeface="Cambria" panose="02040503050406030204" pitchFamily="18" charset="0"/>
                          <a:ea typeface="Cambria" panose="02040503050406030204" pitchFamily="18" charset="0"/>
                        </a:rPr>
                        <a:t> → </a:t>
                      </a:r>
                      <a:r>
                        <a:rPr lang="en-US" sz="1600" b="1" dirty="0">
                          <a:latin typeface="Cambria" panose="02040503050406030204" pitchFamily="18" charset="0"/>
                          <a:ea typeface="Cambria" panose="02040503050406030204" pitchFamily="18" charset="0"/>
                        </a:rPr>
                        <a:t>Precision = 50 / 55 ≈ 0.91</a:t>
                      </a:r>
                      <a:endParaRPr lang="en-US" sz="1600" dirty="0">
                        <a:latin typeface="Cambria" panose="02040503050406030204" pitchFamily="18" charset="0"/>
                        <a:ea typeface="Cambria" panose="02040503050406030204" pitchFamily="18" charset="0"/>
                      </a:endParaRPr>
                    </a:p>
                  </a:txBody>
                  <a:tcPr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21324627"/>
                  </a:ext>
                </a:extLst>
              </a:tr>
              <a:tr h="1084015">
                <a:tc>
                  <a:txBody>
                    <a:bodyPr/>
                    <a:lstStyle/>
                    <a:p>
                      <a:pPr algn="ctr"/>
                      <a:r>
                        <a:rPr lang="en-US" sz="1600" b="1" dirty="0">
                          <a:solidFill>
                            <a:schemeClr val="accent6"/>
                          </a:solidFill>
                          <a:latin typeface="Cambria" panose="02040503050406030204" pitchFamily="18" charset="0"/>
                          <a:ea typeface="Cambria" panose="02040503050406030204" pitchFamily="18" charset="0"/>
                        </a:rPr>
                        <a:t>Recall</a:t>
                      </a:r>
                      <a:endParaRPr lang="en-US" sz="1600" dirty="0">
                        <a:solidFill>
                          <a:schemeClr val="accent6"/>
                        </a:solidFill>
                        <a:latin typeface="Cambria" panose="02040503050406030204" pitchFamily="18" charset="0"/>
                        <a:ea typeface="Cambria" panose="02040503050406030204" pitchFamily="18" charset="0"/>
                      </a:endParaRPr>
                    </a:p>
                  </a:txBody>
                  <a:tcPr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vi-VN" sz="1600" dirty="0">
                          <a:latin typeface="Cambria" panose="02040503050406030204" pitchFamily="18" charset="0"/>
                          <a:ea typeface="Cambria" panose="02040503050406030204" pitchFamily="18" charset="0"/>
                        </a:rPr>
                        <a:t>Trong tất cả ảnh có biển số thật, mô hình phát hiện được bao nhiêu. → Tránh bỏ sót.</a:t>
                      </a:r>
                      <a:r>
                        <a:rPr lang="en-US" sz="1600" dirty="0">
                          <a:latin typeface="Cambria" panose="02040503050406030204" pitchFamily="18" charset="0"/>
                          <a:ea typeface="Cambria" panose="02040503050406030204" pitchFamily="18" charset="0"/>
                        </a:rPr>
                        <a:t> 𝐑 = TP / (TP + FN)</a:t>
                      </a:r>
                      <a:endParaRPr lang="vi-VN" sz="1600" dirty="0">
                        <a:latin typeface="Cambria" panose="02040503050406030204" pitchFamily="18" charset="0"/>
                        <a:ea typeface="Cambria" panose="02040503050406030204" pitchFamily="18" charset="0"/>
                      </a:endParaRPr>
                    </a:p>
                  </a:txBody>
                  <a:tcPr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1600" dirty="0" err="1">
                          <a:latin typeface="Cambria" panose="02040503050406030204" pitchFamily="18" charset="0"/>
                          <a:ea typeface="Cambria" panose="02040503050406030204" pitchFamily="18" charset="0"/>
                        </a:rPr>
                        <a:t>Có</a:t>
                      </a:r>
                      <a:r>
                        <a:rPr lang="en-US" sz="1600" dirty="0">
                          <a:latin typeface="Cambria" panose="02040503050406030204" pitchFamily="18" charset="0"/>
                          <a:ea typeface="Cambria" panose="02040503050406030204" pitchFamily="18" charset="0"/>
                        </a:rPr>
                        <a:t> 60 </a:t>
                      </a:r>
                      <a:r>
                        <a:rPr lang="en-US" sz="1600" dirty="0" err="1">
                          <a:latin typeface="Cambria" panose="02040503050406030204" pitchFamily="18" charset="0"/>
                          <a:ea typeface="Cambria" panose="02040503050406030204" pitchFamily="18" charset="0"/>
                        </a:rPr>
                        <a:t>ảnh</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thực</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sự</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có</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biển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phát</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hiện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đúng</a:t>
                      </a:r>
                      <a:r>
                        <a:rPr lang="en-US" sz="1600" dirty="0">
                          <a:latin typeface="Cambria" panose="02040503050406030204" pitchFamily="18" charset="0"/>
                          <a:ea typeface="Cambria" panose="02040503050406030204" pitchFamily="18" charset="0"/>
                        </a:rPr>
                        <a:t> 50 </a:t>
                      </a:r>
                      <a:r>
                        <a:rPr lang="en-US" sz="1600" dirty="0" err="1">
                          <a:latin typeface="Cambria" panose="02040503050406030204" pitchFamily="18" charset="0"/>
                          <a:ea typeface="Cambria" panose="02040503050406030204" pitchFamily="18" charset="0"/>
                        </a:rPr>
                        <a:t>ảnh</a:t>
                      </a:r>
                      <a:r>
                        <a:rPr lang="en-US" sz="1600" dirty="0">
                          <a:latin typeface="Cambria" panose="02040503050406030204" pitchFamily="18" charset="0"/>
                          <a:ea typeface="Cambria" panose="02040503050406030204" pitchFamily="18" charset="0"/>
                        </a:rPr>
                        <a:t> → </a:t>
                      </a:r>
                      <a:r>
                        <a:rPr lang="en-US" sz="1600" b="1" dirty="0">
                          <a:latin typeface="Cambria" panose="02040503050406030204" pitchFamily="18" charset="0"/>
                          <a:ea typeface="Cambria" panose="02040503050406030204" pitchFamily="18" charset="0"/>
                        </a:rPr>
                        <a:t>Recall = 50 / 60 ≈ 0.83</a:t>
                      </a:r>
                      <a:endParaRPr lang="en-US" sz="1600" dirty="0">
                        <a:latin typeface="Cambria" panose="02040503050406030204" pitchFamily="18" charset="0"/>
                        <a:ea typeface="Cambria" panose="02040503050406030204" pitchFamily="18" charset="0"/>
                      </a:endParaRPr>
                    </a:p>
                  </a:txBody>
                  <a:tcPr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2622104281"/>
                  </a:ext>
                </a:extLst>
              </a:tr>
            </a:tbl>
          </a:graphicData>
        </a:graphic>
      </p:graphicFrame>
      <p:sp>
        <p:nvSpPr>
          <p:cNvPr id="5" name="TextBox 4">
            <a:extLst>
              <a:ext uri="{FF2B5EF4-FFF2-40B4-BE49-F238E27FC236}">
                <a16:creationId xmlns:a16="http://schemas.microsoft.com/office/drawing/2014/main" id="{24B3BF43-4ADC-1996-D34E-46674C9F970C}"/>
              </a:ext>
            </a:extLst>
          </p:cNvPr>
          <p:cNvSpPr txBox="1"/>
          <p:nvPr/>
        </p:nvSpPr>
        <p:spPr>
          <a:xfrm>
            <a:off x="6447865" y="990634"/>
            <a:ext cx="8700246" cy="397032"/>
          </a:xfrm>
          <a:prstGeom prst="rect">
            <a:avLst/>
          </a:prstGeom>
          <a:noFill/>
        </p:spPr>
        <p:txBody>
          <a:bodyPr wrap="square">
            <a:spAutoFit/>
          </a:bodyPr>
          <a:lstStyle/>
          <a:p>
            <a:pPr algn="ctr">
              <a:lnSpc>
                <a:spcPct val="90000"/>
              </a:lnSpc>
              <a:spcBef>
                <a:spcPts val="1000"/>
              </a:spcBef>
            </a:pPr>
            <a:r>
              <a:rPr lang="en-US" sz="2200" dirty="0"/>
              <a:t>Các </a:t>
            </a:r>
            <a:r>
              <a:rPr lang="en-US" sz="2200" dirty="0" err="1"/>
              <a:t>chỉ</a:t>
            </a:r>
            <a:r>
              <a:rPr lang="en-US" sz="2200" dirty="0"/>
              <a:t> </a:t>
            </a:r>
            <a:r>
              <a:rPr lang="en-US" sz="2200" dirty="0" err="1"/>
              <a:t>số</a:t>
            </a:r>
            <a:r>
              <a:rPr lang="en-US" sz="2200" dirty="0"/>
              <a:t> </a:t>
            </a:r>
            <a:r>
              <a:rPr lang="en-US" sz="2200" dirty="0" err="1"/>
              <a:t>quan</a:t>
            </a:r>
            <a:r>
              <a:rPr lang="en-US" sz="2200" dirty="0"/>
              <a:t> </a:t>
            </a:r>
            <a:r>
              <a:rPr lang="en-US" sz="2200" dirty="0" err="1"/>
              <a:t>trọng</a:t>
            </a:r>
            <a:r>
              <a:rPr lang="en-US" sz="2200" dirty="0"/>
              <a:t> </a:t>
            </a:r>
            <a:r>
              <a:rPr lang="en-US" sz="2200" dirty="0" err="1"/>
              <a:t>để</a:t>
            </a:r>
            <a:r>
              <a:rPr lang="en-US" sz="2200" dirty="0"/>
              <a:t> </a:t>
            </a:r>
            <a:r>
              <a:rPr lang="en-US" sz="2200" dirty="0" err="1"/>
              <a:t>dánh</a:t>
            </a:r>
            <a:r>
              <a:rPr lang="en-US" sz="2200" dirty="0"/>
              <a:t> </a:t>
            </a:r>
            <a:r>
              <a:rPr lang="en-US" sz="2200" dirty="0" err="1"/>
              <a:t>giá</a:t>
            </a:r>
            <a:endParaRPr lang="en-US" sz="2200" dirty="0"/>
          </a:p>
        </p:txBody>
      </p:sp>
    </p:spTree>
    <p:extLst>
      <p:ext uri="{BB962C8B-B14F-4D97-AF65-F5344CB8AC3E}">
        <p14:creationId xmlns:p14="http://schemas.microsoft.com/office/powerpoint/2010/main" val="25878542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pic>
        <p:nvPicPr>
          <p:cNvPr id="3" name="Picture 2" descr="A graph of a graph&#10;&#10;AI-generated content may be incorrect.">
            <a:extLst>
              <a:ext uri="{FF2B5EF4-FFF2-40B4-BE49-F238E27FC236}">
                <a16:creationId xmlns:a16="http://schemas.microsoft.com/office/drawing/2014/main" id="{76439F02-2A0B-8C58-0368-E28B2D5D560E}"/>
              </a:ext>
            </a:extLst>
          </p:cNvPr>
          <p:cNvPicPr>
            <a:picLocks/>
          </p:cNvPicPr>
          <p:nvPr/>
        </p:nvPicPr>
        <p:blipFill>
          <a:blip r:embed="rId3"/>
          <a:stretch>
            <a:fillRect/>
          </a:stretch>
        </p:blipFill>
        <p:spPr>
          <a:xfrm>
            <a:off x="636037" y="1200041"/>
            <a:ext cx="6679163" cy="6414248"/>
          </a:xfrm>
          <a:prstGeom prst="rect">
            <a:avLst/>
          </a:prstGeom>
          <a:ln>
            <a:noFill/>
          </a:ln>
        </p:spPr>
      </p:pic>
      <p:sp>
        <p:nvSpPr>
          <p:cNvPr id="26" name="Text 0">
            <a:extLst>
              <a:ext uri="{FF2B5EF4-FFF2-40B4-BE49-F238E27FC236}">
                <a16:creationId xmlns:a16="http://schemas.microsoft.com/office/drawing/2014/main" id="{92D0F596-869E-49BB-7FD1-DF22840EFB62}"/>
              </a:ext>
            </a:extLst>
          </p:cNvPr>
          <p:cNvSpPr/>
          <p:nvPr/>
        </p:nvSpPr>
        <p:spPr>
          <a:xfrm>
            <a:off x="4509429" y="-4767"/>
            <a:ext cx="5876211" cy="620078"/>
          </a:xfrm>
          <a:prstGeom prst="rect">
            <a:avLst/>
          </a:prstGeom>
          <a:noFill/>
          <a:ln/>
        </p:spPr>
        <p:txBody>
          <a:bodyPr wrap="none" lIns="0" tIns="0" rIns="0" bIns="0" rtlCol="0" anchor="t"/>
          <a:lstStyle/>
          <a:p>
            <a:pPr marL="0" indent="0" algn="l">
              <a:lnSpc>
                <a:spcPts val="4850"/>
              </a:lnSpc>
              <a:buNone/>
            </a:pPr>
            <a:r>
              <a:rPr lang="en-US" sz="2400" dirty="0" err="1">
                <a:solidFill>
                  <a:srgbClr val="233E32"/>
                </a:solidFill>
                <a:latin typeface="Alice" pitchFamily="34" charset="0"/>
                <a:ea typeface="Alice" pitchFamily="34" charset="-122"/>
                <a:cs typeface="Alice" pitchFamily="34" charset="-120"/>
              </a:rPr>
              <a:t>Đánh</a:t>
            </a:r>
            <a:r>
              <a:rPr lang="en-US" sz="2400" dirty="0">
                <a:solidFill>
                  <a:srgbClr val="233E32"/>
                </a:solidFill>
                <a:latin typeface="Alice" pitchFamily="34" charset="0"/>
                <a:ea typeface="Alice" pitchFamily="34" charset="-122"/>
                <a:cs typeface="Alice" pitchFamily="34" charset="-120"/>
              </a:rPr>
              <a:t> </a:t>
            </a:r>
            <a:r>
              <a:rPr lang="en-US" sz="2400" dirty="0" err="1">
                <a:solidFill>
                  <a:srgbClr val="233E32"/>
                </a:solidFill>
                <a:latin typeface="Alice" pitchFamily="34" charset="0"/>
                <a:ea typeface="Alice" pitchFamily="34" charset="-122"/>
                <a:cs typeface="Alice" pitchFamily="34" charset="-120"/>
              </a:rPr>
              <a:t>giá</a:t>
            </a:r>
            <a:r>
              <a:rPr lang="en-US" sz="2400" dirty="0">
                <a:solidFill>
                  <a:srgbClr val="233E32"/>
                </a:solidFill>
                <a:latin typeface="Alice" pitchFamily="34" charset="0"/>
                <a:ea typeface="Alice" pitchFamily="34" charset="-122"/>
                <a:cs typeface="Alice" pitchFamily="34" charset="-120"/>
              </a:rPr>
              <a:t> </a:t>
            </a:r>
            <a:r>
              <a:rPr lang="en-US" sz="2400" dirty="0" err="1">
                <a:solidFill>
                  <a:srgbClr val="233E32"/>
                </a:solidFill>
                <a:latin typeface="Alice" pitchFamily="34" charset="0"/>
                <a:ea typeface="Alice" pitchFamily="34" charset="-122"/>
                <a:cs typeface="Alice" pitchFamily="34" charset="-120"/>
              </a:rPr>
              <a:t>kết</a:t>
            </a:r>
            <a:r>
              <a:rPr lang="en-US" sz="2400" dirty="0">
                <a:solidFill>
                  <a:srgbClr val="233E32"/>
                </a:solidFill>
                <a:latin typeface="Alice" pitchFamily="34" charset="0"/>
                <a:ea typeface="Alice" pitchFamily="34" charset="-122"/>
                <a:cs typeface="Alice" pitchFamily="34" charset="-120"/>
              </a:rPr>
              <a:t> </a:t>
            </a:r>
            <a:r>
              <a:rPr lang="en-US" sz="2400" dirty="0" err="1">
                <a:solidFill>
                  <a:srgbClr val="233E32"/>
                </a:solidFill>
                <a:latin typeface="Alice" pitchFamily="34" charset="0"/>
                <a:ea typeface="Alice" pitchFamily="34" charset="-122"/>
                <a:cs typeface="Alice" pitchFamily="34" charset="-120"/>
              </a:rPr>
              <a:t>quả</a:t>
            </a:r>
            <a:r>
              <a:rPr lang="en-US" sz="2400" dirty="0">
                <a:solidFill>
                  <a:srgbClr val="233E32"/>
                </a:solidFill>
                <a:latin typeface="Alice" pitchFamily="34" charset="0"/>
                <a:ea typeface="Alice" pitchFamily="34" charset="-122"/>
                <a:cs typeface="Alice" pitchFamily="34" charset="-120"/>
              </a:rPr>
              <a:t> </a:t>
            </a:r>
            <a:r>
              <a:rPr lang="en-US" sz="2400" dirty="0" err="1">
                <a:solidFill>
                  <a:srgbClr val="233E32"/>
                </a:solidFill>
                <a:latin typeface="Alice" pitchFamily="34" charset="0"/>
                <a:ea typeface="Alice" pitchFamily="34" charset="-122"/>
                <a:cs typeface="Alice" pitchFamily="34" charset="-120"/>
              </a:rPr>
              <a:t>mô</a:t>
            </a:r>
            <a:r>
              <a:rPr lang="en-US" sz="2400" dirty="0">
                <a:solidFill>
                  <a:srgbClr val="233E32"/>
                </a:solidFill>
                <a:latin typeface="Alice" pitchFamily="34" charset="0"/>
                <a:ea typeface="Alice" pitchFamily="34" charset="-122"/>
                <a:cs typeface="Alice" pitchFamily="34" charset="-120"/>
              </a:rPr>
              <a:t> </a:t>
            </a:r>
            <a:r>
              <a:rPr lang="en-US" sz="2400" dirty="0" err="1">
                <a:solidFill>
                  <a:srgbClr val="233E32"/>
                </a:solidFill>
                <a:latin typeface="Alice" pitchFamily="34" charset="0"/>
                <a:ea typeface="Alice" pitchFamily="34" charset="-122"/>
                <a:cs typeface="Alice" pitchFamily="34" charset="-120"/>
              </a:rPr>
              <a:t>hình</a:t>
            </a:r>
            <a:r>
              <a:rPr lang="en-US" sz="2400" dirty="0">
                <a:solidFill>
                  <a:srgbClr val="233E32"/>
                </a:solidFill>
                <a:latin typeface="Alice" pitchFamily="34" charset="0"/>
                <a:ea typeface="Alice" pitchFamily="34" charset="-122"/>
                <a:cs typeface="Alice" pitchFamily="34" charset="-120"/>
              </a:rPr>
              <a:t> </a:t>
            </a:r>
            <a:r>
              <a:rPr lang="en-US" sz="2400" dirty="0" err="1">
                <a:solidFill>
                  <a:srgbClr val="233E32"/>
                </a:solidFill>
                <a:latin typeface="Alice" pitchFamily="34" charset="0"/>
                <a:ea typeface="Alice" pitchFamily="34" charset="-122"/>
                <a:cs typeface="Alice" pitchFamily="34" charset="-120"/>
              </a:rPr>
              <a:t>nhận</a:t>
            </a:r>
            <a:r>
              <a:rPr lang="en-US" sz="2400" dirty="0">
                <a:solidFill>
                  <a:srgbClr val="233E32"/>
                </a:solidFill>
                <a:latin typeface="Alice" pitchFamily="34" charset="0"/>
                <a:ea typeface="Alice" pitchFamily="34" charset="-122"/>
                <a:cs typeface="Alice" pitchFamily="34" charset="-120"/>
              </a:rPr>
              <a:t> </a:t>
            </a:r>
            <a:r>
              <a:rPr lang="en-US" sz="2400" dirty="0" err="1">
                <a:solidFill>
                  <a:srgbClr val="233E32"/>
                </a:solidFill>
                <a:latin typeface="Alice" pitchFamily="34" charset="0"/>
                <a:ea typeface="Alice" pitchFamily="34" charset="-122"/>
                <a:cs typeface="Alice" pitchFamily="34" charset="-120"/>
              </a:rPr>
              <a:t>diện</a:t>
            </a:r>
            <a:r>
              <a:rPr lang="en-US" sz="2400" dirty="0">
                <a:solidFill>
                  <a:srgbClr val="233E32"/>
                </a:solidFill>
                <a:latin typeface="Alice" pitchFamily="34" charset="0"/>
                <a:ea typeface="Alice" pitchFamily="34" charset="-122"/>
                <a:cs typeface="Alice" pitchFamily="34" charset="-120"/>
              </a:rPr>
              <a:t> </a:t>
            </a:r>
            <a:r>
              <a:rPr lang="en-US" sz="2400" dirty="0" err="1">
                <a:solidFill>
                  <a:srgbClr val="233E32"/>
                </a:solidFill>
                <a:latin typeface="Alice" pitchFamily="34" charset="0"/>
                <a:ea typeface="Alice" pitchFamily="34" charset="-122"/>
                <a:cs typeface="Alice" pitchFamily="34" charset="-120"/>
              </a:rPr>
              <a:t>ký</a:t>
            </a:r>
            <a:r>
              <a:rPr lang="en-US" sz="2400" dirty="0">
                <a:solidFill>
                  <a:srgbClr val="233E32"/>
                </a:solidFill>
                <a:latin typeface="Alice" pitchFamily="34" charset="0"/>
                <a:ea typeface="Alice" pitchFamily="34" charset="-122"/>
                <a:cs typeface="Alice" pitchFamily="34" charset="-120"/>
              </a:rPr>
              <a:t> </a:t>
            </a:r>
            <a:r>
              <a:rPr lang="en-US" sz="2400" dirty="0" err="1">
                <a:solidFill>
                  <a:srgbClr val="233E32"/>
                </a:solidFill>
                <a:latin typeface="Alice" pitchFamily="34" charset="0"/>
                <a:ea typeface="Alice" pitchFamily="34" charset="-122"/>
                <a:cs typeface="Alice" pitchFamily="34" charset="-120"/>
              </a:rPr>
              <a:t>tự</a:t>
            </a:r>
            <a:endParaRPr lang="en-US" sz="2400" dirty="0"/>
          </a:p>
        </p:txBody>
      </p:sp>
      <p:pic>
        <p:nvPicPr>
          <p:cNvPr id="8" name="Picture 7">
            <a:extLst>
              <a:ext uri="{FF2B5EF4-FFF2-40B4-BE49-F238E27FC236}">
                <a16:creationId xmlns:a16="http://schemas.microsoft.com/office/drawing/2014/main" id="{E56092EE-8640-94EC-A20F-ACC691CF7A58}"/>
              </a:ext>
            </a:extLst>
          </p:cNvPr>
          <p:cNvPicPr>
            <a:picLocks noChangeAspect="1"/>
          </p:cNvPicPr>
          <p:nvPr/>
        </p:nvPicPr>
        <p:blipFill>
          <a:blip r:embed="rId4"/>
          <a:stretch>
            <a:fillRect/>
          </a:stretch>
        </p:blipFill>
        <p:spPr>
          <a:xfrm>
            <a:off x="7602300" y="1201160"/>
            <a:ext cx="7024076" cy="6282692"/>
          </a:xfrm>
          <a:prstGeom prst="rect">
            <a:avLst/>
          </a:prstGeom>
        </p:spPr>
      </p:pic>
      <p:sp>
        <p:nvSpPr>
          <p:cNvPr id="4" name="TextBox 3">
            <a:extLst>
              <a:ext uri="{FF2B5EF4-FFF2-40B4-BE49-F238E27FC236}">
                <a16:creationId xmlns:a16="http://schemas.microsoft.com/office/drawing/2014/main" id="{E6FB6520-A799-8487-E843-FE7CF986E08C}"/>
              </a:ext>
            </a:extLst>
          </p:cNvPr>
          <p:cNvSpPr txBox="1"/>
          <p:nvPr/>
        </p:nvSpPr>
        <p:spPr>
          <a:xfrm>
            <a:off x="132334" y="831828"/>
            <a:ext cx="7315200" cy="369332"/>
          </a:xfrm>
          <a:prstGeom prst="rect">
            <a:avLst/>
          </a:prstGeom>
          <a:noFill/>
        </p:spPr>
        <p:txBody>
          <a:bodyPr wrap="square">
            <a:spAutoFit/>
          </a:bodyPr>
          <a:lstStyle/>
          <a:p>
            <a:pPr algn="ctr">
              <a:lnSpc>
                <a:spcPct val="90000"/>
              </a:lnSpc>
              <a:spcBef>
                <a:spcPts val="1000"/>
              </a:spcBef>
            </a:pPr>
            <a:r>
              <a:rPr lang="en-US" sz="2000" dirty="0" err="1"/>
              <a:t>Đồ</a:t>
            </a:r>
            <a:r>
              <a:rPr lang="en-US" sz="2000" dirty="0"/>
              <a:t> </a:t>
            </a:r>
            <a:r>
              <a:rPr lang="en-US" sz="2000" dirty="0" err="1"/>
              <a:t>thị</a:t>
            </a:r>
            <a:r>
              <a:rPr lang="en-US" sz="2000" dirty="0"/>
              <a:t> </a:t>
            </a:r>
            <a:r>
              <a:rPr lang="en-US" sz="2000" dirty="0" err="1"/>
              <a:t>của</a:t>
            </a:r>
            <a:r>
              <a:rPr lang="en-US" sz="2000" dirty="0"/>
              <a:t> </a:t>
            </a:r>
            <a:r>
              <a:rPr lang="en-US" sz="2000" dirty="0" err="1"/>
              <a:t>quá</a:t>
            </a:r>
            <a:r>
              <a:rPr lang="en-US" sz="2000" dirty="0"/>
              <a:t> </a:t>
            </a:r>
            <a:r>
              <a:rPr lang="en-US" sz="2000" dirty="0" err="1"/>
              <a:t>trình</a:t>
            </a:r>
            <a:r>
              <a:rPr lang="en-US" sz="2000" dirty="0"/>
              <a:t> training </a:t>
            </a:r>
            <a:r>
              <a:rPr lang="en-US" sz="2000" dirty="0" err="1"/>
              <a:t>nhận</a:t>
            </a:r>
            <a:r>
              <a:rPr lang="en-US" sz="2000" dirty="0"/>
              <a:t> </a:t>
            </a:r>
            <a:r>
              <a:rPr lang="en-US" sz="2000" dirty="0" err="1"/>
              <a:t>diện</a:t>
            </a:r>
            <a:r>
              <a:rPr lang="en-US" sz="2000" dirty="0"/>
              <a:t> </a:t>
            </a:r>
            <a:r>
              <a:rPr lang="en-US" sz="2000" dirty="0" err="1"/>
              <a:t>ký</a:t>
            </a:r>
            <a:r>
              <a:rPr lang="en-US" sz="2000" dirty="0"/>
              <a:t> </a:t>
            </a:r>
            <a:r>
              <a:rPr lang="en-US" sz="2000" dirty="0" err="1"/>
              <a:t>tự</a:t>
            </a:r>
            <a:endParaRPr lang="en-US" sz="2000" dirty="0"/>
          </a:p>
        </p:txBody>
      </p:sp>
      <p:sp>
        <p:nvSpPr>
          <p:cNvPr id="6" name="TextBox 5">
            <a:extLst>
              <a:ext uri="{FF2B5EF4-FFF2-40B4-BE49-F238E27FC236}">
                <a16:creationId xmlns:a16="http://schemas.microsoft.com/office/drawing/2014/main" id="{5E3F26B2-FA0E-C7C4-0B58-A09E1D3FB633}"/>
              </a:ext>
            </a:extLst>
          </p:cNvPr>
          <p:cNvSpPr txBox="1"/>
          <p:nvPr/>
        </p:nvSpPr>
        <p:spPr>
          <a:xfrm>
            <a:off x="7602299" y="831828"/>
            <a:ext cx="7368988" cy="369332"/>
          </a:xfrm>
          <a:prstGeom prst="rect">
            <a:avLst/>
          </a:prstGeom>
          <a:noFill/>
        </p:spPr>
        <p:txBody>
          <a:bodyPr wrap="square">
            <a:spAutoFit/>
          </a:bodyPr>
          <a:lstStyle/>
          <a:p>
            <a:pPr algn="ctr">
              <a:lnSpc>
                <a:spcPct val="90000"/>
              </a:lnSpc>
              <a:spcBef>
                <a:spcPts val="1000"/>
              </a:spcBef>
            </a:pPr>
            <a:r>
              <a:rPr lang="en-US" sz="2000" dirty="0"/>
              <a:t>Ma </a:t>
            </a:r>
            <a:r>
              <a:rPr lang="en-US" sz="2000" dirty="0" err="1"/>
              <a:t>trận</a:t>
            </a:r>
            <a:r>
              <a:rPr lang="en-US" sz="2000" dirty="0"/>
              <a:t> </a:t>
            </a:r>
            <a:r>
              <a:rPr lang="en-US" sz="2000" dirty="0" err="1"/>
              <a:t>nhầm</a:t>
            </a:r>
            <a:r>
              <a:rPr lang="en-US" sz="2000" dirty="0"/>
              <a:t> </a:t>
            </a:r>
            <a:r>
              <a:rPr lang="en-US" sz="2000" dirty="0" err="1"/>
              <a:t>lẫn</a:t>
            </a:r>
            <a:endParaRPr lang="en-US" sz="2000" dirty="0"/>
          </a:p>
        </p:txBody>
      </p:sp>
    </p:spTree>
    <p:extLst>
      <p:ext uri="{BB962C8B-B14F-4D97-AF65-F5344CB8AC3E}">
        <p14:creationId xmlns:p14="http://schemas.microsoft.com/office/powerpoint/2010/main" val="34566641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32209" y="2020014"/>
            <a:ext cx="6782991" cy="620078"/>
          </a:xfrm>
          <a:prstGeom prst="rect">
            <a:avLst/>
          </a:prstGeom>
          <a:noFill/>
          <a:ln/>
        </p:spPr>
        <p:txBody>
          <a:bodyPr wrap="none" lIns="0" tIns="0" rIns="0" bIns="0" rtlCol="0" anchor="t"/>
          <a:lstStyle/>
          <a:p>
            <a:pPr marL="0" indent="0" algn="l">
              <a:lnSpc>
                <a:spcPts val="4850"/>
              </a:lnSpc>
              <a:buNone/>
            </a:pPr>
            <a:r>
              <a:rPr lang="en-US" sz="3900" dirty="0">
                <a:solidFill>
                  <a:srgbClr val="233E32"/>
                </a:solidFill>
                <a:latin typeface="Alice" pitchFamily="34" charset="0"/>
                <a:ea typeface="Alice" pitchFamily="34" charset="-122"/>
                <a:cs typeface="Alice" pitchFamily="34" charset="-120"/>
              </a:rPr>
              <a:t>5. </a:t>
            </a:r>
            <a:r>
              <a:rPr lang="en-US" sz="3900" dirty="0" err="1">
                <a:solidFill>
                  <a:srgbClr val="233E32"/>
                </a:solidFill>
                <a:latin typeface="Alice" pitchFamily="34" charset="0"/>
                <a:ea typeface="Alice" pitchFamily="34" charset="-122"/>
                <a:cs typeface="Alice" pitchFamily="34" charset="-120"/>
              </a:rPr>
              <a:t>Kết</a:t>
            </a:r>
            <a:r>
              <a:rPr lang="en-US" sz="3900" dirty="0">
                <a:solidFill>
                  <a:srgbClr val="233E32"/>
                </a:solidFill>
                <a:latin typeface="Alice" pitchFamily="34" charset="0"/>
                <a:ea typeface="Alice" pitchFamily="34" charset="-122"/>
                <a:cs typeface="Alice" pitchFamily="34" charset="-120"/>
              </a:rPr>
              <a:t> Luận và Hướng Phát Triển</a:t>
            </a:r>
            <a:endParaRPr lang="en-US" sz="3900" dirty="0"/>
          </a:p>
        </p:txBody>
      </p:sp>
      <p:sp>
        <p:nvSpPr>
          <p:cNvPr id="4" name="Text 2"/>
          <p:cNvSpPr/>
          <p:nvPr/>
        </p:nvSpPr>
        <p:spPr>
          <a:xfrm>
            <a:off x="793790" y="3353803"/>
            <a:ext cx="2480905" cy="310158"/>
          </a:xfrm>
          <a:prstGeom prst="rect">
            <a:avLst/>
          </a:prstGeom>
          <a:noFill/>
          <a:ln/>
        </p:spPr>
        <p:txBody>
          <a:bodyPr wrap="none" lIns="0" tIns="0" rIns="0" bIns="0" rtlCol="0" anchor="t"/>
          <a:lstStyle/>
          <a:p>
            <a:pPr marL="0" indent="0" algn="l">
              <a:lnSpc>
                <a:spcPts val="2400"/>
              </a:lnSpc>
              <a:buNone/>
            </a:pPr>
            <a:r>
              <a:rPr lang="en-US" sz="1950" dirty="0" err="1">
                <a:solidFill>
                  <a:srgbClr val="233E32"/>
                </a:solidFill>
                <a:latin typeface="Alice" pitchFamily="34" charset="0"/>
                <a:ea typeface="Alice" pitchFamily="34" charset="-122"/>
              </a:rPr>
              <a:t>Kết</a:t>
            </a:r>
            <a:r>
              <a:rPr lang="en-US" sz="1950" dirty="0">
                <a:solidFill>
                  <a:srgbClr val="233E32"/>
                </a:solidFill>
                <a:latin typeface="Alice" pitchFamily="34" charset="0"/>
                <a:ea typeface="Alice" pitchFamily="34" charset="-122"/>
              </a:rPr>
              <a:t> </a:t>
            </a:r>
            <a:r>
              <a:rPr lang="en-US" sz="1950" dirty="0" err="1">
                <a:solidFill>
                  <a:srgbClr val="233E32"/>
                </a:solidFill>
                <a:latin typeface="Alice" pitchFamily="34" charset="0"/>
                <a:ea typeface="Alice" pitchFamily="34" charset="-122"/>
              </a:rPr>
              <a:t>luận</a:t>
            </a:r>
            <a:endParaRPr lang="en-US" sz="1950" dirty="0"/>
          </a:p>
        </p:txBody>
      </p:sp>
      <p:sp>
        <p:nvSpPr>
          <p:cNvPr id="5" name="Text 3"/>
          <p:cNvSpPr/>
          <p:nvPr/>
        </p:nvSpPr>
        <p:spPr>
          <a:xfrm>
            <a:off x="793790" y="3794676"/>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err="1">
                <a:solidFill>
                  <a:srgbClr val="2C2821"/>
                </a:solidFill>
                <a:latin typeface="Lora" pitchFamily="34" charset="0"/>
                <a:ea typeface="Lora" pitchFamily="34" charset="-122"/>
                <a:cs typeface="Lora" pitchFamily="34" charset="-120"/>
              </a:rPr>
              <a:t>Mô</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hình</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nhận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diện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biển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số</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hoạt</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động</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ổn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định</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độ</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chính</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xác</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cao</a:t>
            </a:r>
            <a:endParaRPr lang="en-US" sz="1550" dirty="0"/>
          </a:p>
        </p:txBody>
      </p:sp>
      <p:sp>
        <p:nvSpPr>
          <p:cNvPr id="6" name="Text 4"/>
          <p:cNvSpPr/>
          <p:nvPr/>
        </p:nvSpPr>
        <p:spPr>
          <a:xfrm>
            <a:off x="793790" y="4181628"/>
            <a:ext cx="6279356" cy="1085171"/>
          </a:xfrm>
          <a:prstGeom prst="rect">
            <a:avLst/>
          </a:prstGeom>
          <a:noFill/>
          <a:ln/>
        </p:spPr>
        <p:txBody>
          <a:bodyPr wrap="none" lIns="0" tIns="0" rIns="0" bIns="0" rtlCol="0" anchor="t"/>
          <a:lstStyle/>
          <a:p>
            <a:pPr marL="342900" indent="-342900">
              <a:lnSpc>
                <a:spcPts val="2500"/>
              </a:lnSpc>
              <a:buSzPct val="100000"/>
              <a:buChar char="•"/>
            </a:pPr>
            <a:r>
              <a:rPr lang="en-US" sz="1550" dirty="0">
                <a:solidFill>
                  <a:srgbClr val="2C2821"/>
                </a:solidFill>
                <a:latin typeface="Lora" pitchFamily="34" charset="0"/>
                <a:ea typeface="Lora" pitchFamily="34" charset="-122"/>
                <a:cs typeface="Lora" pitchFamily="34" charset="-120"/>
              </a:rPr>
              <a:t>Giao </a:t>
            </a:r>
            <a:r>
              <a:rPr lang="en-US" sz="1550" dirty="0" err="1">
                <a:solidFill>
                  <a:srgbClr val="2C2821"/>
                </a:solidFill>
                <a:latin typeface="Lora" pitchFamily="34" charset="0"/>
                <a:ea typeface="Lora" pitchFamily="34" charset="-122"/>
                <a:cs typeface="Lora" pitchFamily="34" charset="-120"/>
              </a:rPr>
              <a:t>diện</a:t>
            </a:r>
            <a:r>
              <a:rPr lang="en-US" sz="1550" dirty="0">
                <a:solidFill>
                  <a:srgbClr val="2C2821"/>
                </a:solidFill>
                <a:latin typeface="Lora" pitchFamily="34" charset="0"/>
                <a:ea typeface="Lora" pitchFamily="34" charset="-122"/>
                <a:cs typeface="Lora" pitchFamily="34" charset="-120"/>
              </a:rPr>
              <a:t> website </a:t>
            </a:r>
            <a:r>
              <a:rPr lang="en-US" sz="1550" dirty="0" err="1">
                <a:solidFill>
                  <a:srgbClr val="2C2821"/>
                </a:solidFill>
                <a:latin typeface="Lora" pitchFamily="34" charset="0"/>
                <a:ea typeface="Lora" pitchFamily="34" charset="-122"/>
                <a:cs typeface="Lora" pitchFamily="34" charset="-120"/>
              </a:rPr>
              <a:t>trực</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quan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các</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chức</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năng</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đăng</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ký</a:t>
            </a:r>
            <a:r>
              <a:rPr lang="en-US" sz="1550" dirty="0">
                <a:solidFill>
                  <a:srgbClr val="2C2821"/>
                </a:solidFill>
                <a:latin typeface="Lora" pitchFamily="34" charset="0"/>
                <a:ea typeface="Lora" pitchFamily="34" charset="-122"/>
                <a:cs typeface="Lora" pitchFamily="34" charset="-120"/>
              </a:rPr>
              <a:t> </a:t>
            </a:r>
          </a:p>
          <a:p>
            <a:pPr>
              <a:lnSpc>
                <a:spcPts val="2500"/>
              </a:lnSpc>
              <a:buSzPct val="100000"/>
            </a:pP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và</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tạo</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tài</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khoản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đáp</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ứng</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đầy</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đủ</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yêu</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cầu</a:t>
            </a:r>
            <a:r>
              <a:rPr lang="en-US" sz="1550" dirty="0">
                <a:solidFill>
                  <a:srgbClr val="2C2821"/>
                </a:solidFill>
                <a:latin typeface="Lora" pitchFamily="34" charset="0"/>
                <a:ea typeface="Lora" pitchFamily="34" charset="-122"/>
                <a:cs typeface="Lora" pitchFamily="34" charset="-120"/>
              </a:rPr>
              <a:t>.</a:t>
            </a:r>
            <a:endParaRPr lang="en-US" sz="1550" dirty="0"/>
          </a:p>
        </p:txBody>
      </p:sp>
      <p:sp>
        <p:nvSpPr>
          <p:cNvPr id="7" name="Text 5"/>
          <p:cNvSpPr/>
          <p:nvPr/>
        </p:nvSpPr>
        <p:spPr>
          <a:xfrm>
            <a:off x="793790" y="4860916"/>
            <a:ext cx="6279356" cy="317540"/>
          </a:xfrm>
          <a:prstGeom prst="rect">
            <a:avLst/>
          </a:prstGeom>
          <a:noFill/>
          <a:ln/>
        </p:spPr>
        <p:txBody>
          <a:bodyPr wrap="none" lIns="0" tIns="0" rIns="0" bIns="0" rtlCol="0" anchor="t"/>
          <a:lstStyle/>
          <a:p>
            <a:pPr marL="342900" indent="-342900">
              <a:lnSpc>
                <a:spcPts val="2500"/>
              </a:lnSpc>
              <a:buSzPct val="100000"/>
              <a:buChar char="•"/>
            </a:pPr>
            <a:r>
              <a:rPr lang="vi-VN" sz="1550" dirty="0">
                <a:solidFill>
                  <a:srgbClr val="2C2821"/>
                </a:solidFill>
                <a:latin typeface="Lora" pitchFamily="34" charset="0"/>
                <a:ea typeface="Lora" pitchFamily="34" charset="-122"/>
                <a:cs typeface="Lora" pitchFamily="34" charset="-120"/>
              </a:rPr>
              <a:t>Cơ sở dữ liệu được thiết kế đơn giản, mạch lạc, với mối quan </a:t>
            </a:r>
            <a:endParaRPr lang="en-US" sz="1550" dirty="0">
              <a:solidFill>
                <a:srgbClr val="2C2821"/>
              </a:solidFill>
              <a:latin typeface="Lora" pitchFamily="34" charset="0"/>
              <a:ea typeface="Lora" pitchFamily="34" charset="-122"/>
              <a:cs typeface="Lora" pitchFamily="34" charset="-120"/>
            </a:endParaRPr>
          </a:p>
          <a:p>
            <a:pPr>
              <a:lnSpc>
                <a:spcPts val="2500"/>
              </a:lnSpc>
              <a:buSzPct val="100000"/>
            </a:pPr>
            <a:r>
              <a:rPr lang="en-US" sz="1550" dirty="0">
                <a:solidFill>
                  <a:srgbClr val="2C2821"/>
                </a:solidFill>
                <a:latin typeface="Lora" pitchFamily="34" charset="0"/>
                <a:ea typeface="Lora" pitchFamily="34" charset="-122"/>
                <a:cs typeface="Lora" pitchFamily="34" charset="-120"/>
              </a:rPr>
              <a:t>       </a:t>
            </a:r>
            <a:r>
              <a:rPr lang="vi-VN" sz="1550" dirty="0">
                <a:solidFill>
                  <a:srgbClr val="2C2821"/>
                </a:solidFill>
                <a:latin typeface="Lora" pitchFamily="34" charset="0"/>
                <a:ea typeface="Lora" pitchFamily="34" charset="-122"/>
                <a:cs typeface="Lora" pitchFamily="34" charset="-120"/>
              </a:rPr>
              <a:t>hệ giữa các thực thể rõ ràng và hợp lý. </a:t>
            </a:r>
            <a:endParaRPr lang="en-US" sz="1550" dirty="0"/>
          </a:p>
        </p:txBody>
      </p:sp>
      <p:sp>
        <p:nvSpPr>
          <p:cNvPr id="8" name="Text 6"/>
          <p:cNvSpPr/>
          <p:nvPr/>
        </p:nvSpPr>
        <p:spPr>
          <a:xfrm>
            <a:off x="7564874" y="3341675"/>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233E32"/>
                </a:solidFill>
                <a:latin typeface="Alice" pitchFamily="34" charset="0"/>
                <a:ea typeface="Alice" pitchFamily="34" charset="-122"/>
                <a:cs typeface="Alice" pitchFamily="34" charset="-120"/>
              </a:rPr>
              <a:t>Hướng Phát Triển</a:t>
            </a:r>
            <a:endParaRPr lang="en-US" sz="1950" dirty="0"/>
          </a:p>
        </p:txBody>
      </p:sp>
      <p:sp>
        <p:nvSpPr>
          <p:cNvPr id="9" name="Text 7"/>
          <p:cNvSpPr/>
          <p:nvPr/>
        </p:nvSpPr>
        <p:spPr>
          <a:xfrm>
            <a:off x="7564873" y="3794676"/>
            <a:ext cx="6514197" cy="63507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2C2821"/>
                </a:solidFill>
                <a:latin typeface="Lora" pitchFamily="34" charset="0"/>
                <a:ea typeface="Lora" pitchFamily="34" charset="-122"/>
                <a:cs typeface="Lora" pitchFamily="34" charset="-120"/>
              </a:rPr>
              <a:t>Cải thiện hiệu suất trong điều kiện ánh sáng yếu hoặc thời tiết xấu.</a:t>
            </a:r>
            <a:endParaRPr lang="en-US" sz="1550" dirty="0"/>
          </a:p>
        </p:txBody>
      </p:sp>
      <p:sp>
        <p:nvSpPr>
          <p:cNvPr id="10" name="Text 8"/>
          <p:cNvSpPr/>
          <p:nvPr/>
        </p:nvSpPr>
        <p:spPr>
          <a:xfrm>
            <a:off x="7564874" y="4208894"/>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2C2821"/>
                </a:solidFill>
                <a:latin typeface="Lora" pitchFamily="34" charset="0"/>
                <a:ea typeface="Lora" pitchFamily="34" charset="-122"/>
                <a:cs typeface="Lora" pitchFamily="34" charset="-120"/>
              </a:rPr>
              <a:t>Hỗ trợ nhận diện biển số bị che khuất một phần hoặc bị hỏng.</a:t>
            </a:r>
            <a:endParaRPr lang="en-US" sz="1550" dirty="0"/>
          </a:p>
        </p:txBody>
      </p:sp>
      <p:sp>
        <p:nvSpPr>
          <p:cNvPr id="11" name="Text 9"/>
          <p:cNvSpPr/>
          <p:nvPr/>
        </p:nvSpPr>
        <p:spPr>
          <a:xfrm>
            <a:off x="7576781" y="4623112"/>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2C2821"/>
                </a:solidFill>
                <a:latin typeface="Lora" pitchFamily="34" charset="0"/>
                <a:ea typeface="Lora" pitchFamily="34" charset="-122"/>
                <a:cs typeface="Lora" pitchFamily="34" charset="-120"/>
              </a:rPr>
              <a:t>Tích hợp thêm các tính năng phân tích dữ liệu </a:t>
            </a:r>
            <a:r>
              <a:rPr lang="en-US" sz="1550" dirty="0" err="1">
                <a:solidFill>
                  <a:srgbClr val="2C2821"/>
                </a:solidFill>
                <a:latin typeface="Lora" pitchFamily="34" charset="0"/>
                <a:ea typeface="Lora" pitchFamily="34" charset="-122"/>
                <a:cs typeface="Lora" pitchFamily="34" charset="-120"/>
              </a:rPr>
              <a:t>nâng</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cao</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triển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khai</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hệ</a:t>
            </a:r>
            <a:r>
              <a:rPr lang="en-US" sz="1550" dirty="0">
                <a:solidFill>
                  <a:srgbClr val="2C2821"/>
                </a:solidFill>
                <a:latin typeface="Lora" pitchFamily="34" charset="0"/>
                <a:ea typeface="Lora" pitchFamily="34" charset="-122"/>
                <a:cs typeface="Lora" pitchFamily="34" charset="-120"/>
              </a:rPr>
              <a:t>    </a:t>
            </a:r>
          </a:p>
          <a:p>
            <a:pPr algn="l">
              <a:lnSpc>
                <a:spcPts val="2500"/>
              </a:lnSpc>
              <a:buSzPct val="100000"/>
            </a:pP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thống</a:t>
            </a:r>
            <a:r>
              <a:rPr lang="en-US" sz="1550" dirty="0">
                <a:solidFill>
                  <a:srgbClr val="2C2821"/>
                </a:solidFill>
                <a:latin typeface="Lora" pitchFamily="34" charset="0"/>
                <a:ea typeface="Lora" pitchFamily="34" charset="-122"/>
                <a:cs typeface="Lora" pitchFamily="34" charset="-120"/>
              </a:rPr>
              <a:t> website </a:t>
            </a:r>
            <a:r>
              <a:rPr lang="en-US" sz="1550" dirty="0" err="1">
                <a:solidFill>
                  <a:srgbClr val="2C2821"/>
                </a:solidFill>
                <a:latin typeface="Lora" pitchFamily="34" charset="0"/>
                <a:ea typeface="Lora" pitchFamily="34" charset="-122"/>
                <a:cs typeface="Lora" pitchFamily="34" charset="-120"/>
              </a:rPr>
              <a:t>lên</a:t>
            </a:r>
            <a:r>
              <a:rPr lang="en-US" sz="1550" dirty="0">
                <a:solidFill>
                  <a:srgbClr val="2C2821"/>
                </a:solidFill>
                <a:latin typeface="Lora" pitchFamily="34" charset="0"/>
                <a:ea typeface="Lora" pitchFamily="34" charset="-122"/>
                <a:cs typeface="Lora" pitchFamily="34" charset="-120"/>
              </a:rPr>
              <a:t> internet.</a:t>
            </a:r>
            <a:endParaRPr lang="en-US" sz="1550" dirty="0"/>
          </a:p>
        </p:txBody>
      </p:sp>
      <p:sp>
        <p:nvSpPr>
          <p:cNvPr id="14" name="Text 9">
            <a:extLst>
              <a:ext uri="{FF2B5EF4-FFF2-40B4-BE49-F238E27FC236}">
                <a16:creationId xmlns:a16="http://schemas.microsoft.com/office/drawing/2014/main" id="{7E013052-D22E-7F7F-817C-A490E2D3F681}"/>
              </a:ext>
            </a:extLst>
          </p:cNvPr>
          <p:cNvSpPr/>
          <p:nvPr/>
        </p:nvSpPr>
        <p:spPr>
          <a:xfrm>
            <a:off x="7564873" y="5311154"/>
            <a:ext cx="8398325"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err="1">
                <a:solidFill>
                  <a:srgbClr val="2C2821"/>
                </a:solidFill>
                <a:latin typeface="Lora" pitchFamily="34" charset="0"/>
                <a:ea typeface="Lora" pitchFamily="34" charset="-122"/>
                <a:cs typeface="Lora" pitchFamily="34" charset="-120"/>
              </a:rPr>
              <a:t>Sử</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dụng</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các</a:t>
            </a:r>
            <a:r>
              <a:rPr lang="en-US" sz="1550" dirty="0">
                <a:solidFill>
                  <a:srgbClr val="2C2821"/>
                </a:solidFill>
                <a:latin typeface="Lora" pitchFamily="34" charset="0"/>
                <a:ea typeface="Lora" pitchFamily="34" charset="-122"/>
                <a:cs typeface="Lora" pitchFamily="34" charset="-120"/>
              </a:rPr>
              <a:t> camera </a:t>
            </a:r>
            <a:r>
              <a:rPr lang="en-US" sz="1550" dirty="0" err="1">
                <a:solidFill>
                  <a:srgbClr val="2C2821"/>
                </a:solidFill>
                <a:latin typeface="Lora" pitchFamily="34" charset="0"/>
                <a:ea typeface="Lora" pitchFamily="34" charset="-122"/>
                <a:cs typeface="Lora" pitchFamily="34" charset="-120"/>
              </a:rPr>
              <a:t>cao</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cấp</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hơn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để</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mang</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lại</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hiệu</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suất</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cao</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hơn</a:t>
            </a:r>
            <a:endParaRPr lang="en-US" sz="1550" dirty="0">
              <a:solidFill>
                <a:srgbClr val="2C2821"/>
              </a:solidFill>
              <a:latin typeface="Lora" pitchFamily="34" charset="0"/>
              <a:ea typeface="Lora" pitchFamily="34" charset="-122"/>
              <a:cs typeface="Lora" pitchFamily="34" charset="-12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08B94-D64F-E060-5F2C-05C56ED9BD19}"/>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CB98A35C-B25C-907D-748A-33C867FE1171}"/>
              </a:ext>
            </a:extLst>
          </p:cNvPr>
          <p:cNvSpPr txBox="1"/>
          <p:nvPr/>
        </p:nvSpPr>
        <p:spPr>
          <a:xfrm>
            <a:off x="6172199" y="3766307"/>
            <a:ext cx="7315200" cy="696986"/>
          </a:xfrm>
          <a:prstGeom prst="rect">
            <a:avLst/>
          </a:prstGeom>
          <a:noFill/>
        </p:spPr>
        <p:txBody>
          <a:bodyPr wrap="square">
            <a:spAutoFit/>
          </a:bodyPr>
          <a:lstStyle/>
          <a:p>
            <a:pPr marL="0" indent="0" algn="l">
              <a:lnSpc>
                <a:spcPts val="4850"/>
              </a:lnSpc>
              <a:buNone/>
            </a:pPr>
            <a:r>
              <a:rPr lang="en-US" sz="4000" dirty="0">
                <a:solidFill>
                  <a:srgbClr val="233E32"/>
                </a:solidFill>
                <a:latin typeface="Alice" pitchFamily="34" charset="0"/>
                <a:ea typeface="Alice" pitchFamily="34" charset="-122"/>
                <a:cs typeface="Alice" pitchFamily="34" charset="-120"/>
              </a:rPr>
              <a:t>6. DEMO</a:t>
            </a:r>
            <a:endParaRPr lang="en-US" sz="4000" dirty="0"/>
          </a:p>
        </p:txBody>
      </p:sp>
    </p:spTree>
    <p:extLst>
      <p:ext uri="{BB962C8B-B14F-4D97-AF65-F5344CB8AC3E}">
        <p14:creationId xmlns:p14="http://schemas.microsoft.com/office/powerpoint/2010/main" val="3640780060"/>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491</TotalTime>
  <Words>3134</Words>
  <Application>Microsoft Office PowerPoint</Application>
  <PresentationFormat>Custom</PresentationFormat>
  <Paragraphs>195</Paragraphs>
  <Slides>15</Slides>
  <Notes>14</Notes>
  <HiddenSlides>6</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15</vt:i4>
      </vt:variant>
    </vt:vector>
  </HeadingPairs>
  <TitlesOfParts>
    <vt:vector size="26" baseType="lpstr">
      <vt:lpstr>Consolas</vt:lpstr>
      <vt:lpstr>Figtree Black</vt:lpstr>
      <vt:lpstr>Calibri Light</vt:lpstr>
      <vt:lpstr>Alice</vt:lpstr>
      <vt:lpstr>Hanken Grotesk</vt:lpstr>
      <vt:lpstr>Calibri</vt:lpstr>
      <vt:lpstr>Cambria</vt:lpstr>
      <vt:lpstr>Arial</vt:lpstr>
      <vt:lpstr>Lora</vt:lpstr>
      <vt:lpstr>Cambria Math</vt:lpstr>
      <vt:lpstr>Office 2013 - 2022 Theme</vt:lpstr>
      <vt:lpstr>PowerPoint Presentation</vt:lpstr>
      <vt:lpstr>Mục lục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NGUYỄN MINH TRÍ</cp:lastModifiedBy>
  <cp:revision>350</cp:revision>
  <dcterms:created xsi:type="dcterms:W3CDTF">2025-07-06T23:46:08Z</dcterms:created>
  <dcterms:modified xsi:type="dcterms:W3CDTF">2025-08-07T02:18:36Z</dcterms:modified>
</cp:coreProperties>
</file>