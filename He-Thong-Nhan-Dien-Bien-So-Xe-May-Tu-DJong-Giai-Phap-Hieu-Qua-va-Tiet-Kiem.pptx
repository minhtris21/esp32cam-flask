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Alice"/>
      <p:regular r:id="rId17"/>
    </p:embeddedFont>
    <p:embeddedFont>
      <p:font typeface="Alice"/>
      <p:regular r:id="rId18"/>
    </p:embeddedFont>
    <p:embeddedFont>
      <p:font typeface="Lora"/>
      <p:regular r:id="rId19"/>
    </p:embeddedFont>
    <p:embeddedFont>
      <p:font typeface="Lora"/>
      <p:regular r:id="rId20"/>
    </p:embeddedFont>
    <p:embeddedFont>
      <p:font typeface="Lora"/>
      <p:regular r:id="rId21"/>
    </p:embeddedFont>
    <p:embeddedFont>
      <p:font typeface="Lora"/>
      <p:regular r:id="rId22"/>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a:ln/>
        </p:spPr>
      </p:sp>
      <p:sp>
        <p:nvSpPr>
          <p:cNvPr id="3" name="Shape 1"/>
          <p:cNvSpPr/>
          <p:nvPr/>
        </p:nvSpPr>
        <p:spPr>
          <a:xfrm>
            <a:off x="0" y="0"/>
            <a:ext cx="14630400" cy="8229600"/>
          </a:xfrm>
          <a:prstGeom prst="rect">
            <a:avLst/>
          </a:prstGeom>
          <a:solidFill>
            <a:srgbClr val="FCFBF8"/>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6.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0.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2559487"/>
            <a:ext cx="7556421" cy="1860233"/>
          </a:xfrm>
          <a:prstGeom prst="rect">
            <a:avLst/>
          </a:prstGeom>
          <a:noFill/>
          <a:ln/>
        </p:spPr>
        <p:txBody>
          <a:bodyPr wrap="square" lIns="0" tIns="0" rIns="0" bIns="0" rtlCol="0" anchor="t"/>
          <a:lstStyle/>
          <a:p>
            <a:pPr algn="l" indent="0" marL="0">
              <a:lnSpc>
                <a:spcPts val="4850"/>
              </a:lnSpc>
              <a:buNone/>
            </a:pPr>
            <a:r>
              <a:rPr lang="en-US" sz="3900" dirty="0">
                <a:solidFill>
                  <a:srgbClr val="233E32"/>
                </a:solidFill>
                <a:latin typeface="Alice" pitchFamily="34" charset="0"/>
                <a:ea typeface="Alice" pitchFamily="34" charset="-122"/>
                <a:cs typeface="Alice" pitchFamily="34" charset="-120"/>
              </a:rPr>
              <a:t>Hệ Thống Nhận Diện Biển Số Xe Máy Tự Động: Giải Pháp Hiệu Quả và Tiết Kiệm</a:t>
            </a:r>
            <a:endParaRPr lang="en-US" sz="3900" dirty="0"/>
          </a:p>
        </p:txBody>
      </p:sp>
      <p:sp>
        <p:nvSpPr>
          <p:cNvPr id="4" name="Text 1"/>
          <p:cNvSpPr/>
          <p:nvPr/>
        </p:nvSpPr>
        <p:spPr>
          <a:xfrm>
            <a:off x="6280190" y="4717375"/>
            <a:ext cx="7556421" cy="952619"/>
          </a:xfrm>
          <a:prstGeom prst="rect">
            <a:avLst/>
          </a:prstGeom>
          <a:noFill/>
          <a:ln/>
        </p:spPr>
        <p:txBody>
          <a:bodyPr wrap="square" lIns="0" tIns="0" rIns="0" bIns="0" rtlCol="0" anchor="t"/>
          <a:lstStyle/>
          <a:p>
            <a:pPr algn="l" indent="0" marL="0">
              <a:lnSpc>
                <a:spcPts val="2500"/>
              </a:lnSpc>
              <a:buNone/>
            </a:pPr>
            <a:r>
              <a:rPr lang="en-US" sz="1550" dirty="0">
                <a:solidFill>
                  <a:srgbClr val="2C2821"/>
                </a:solidFill>
                <a:latin typeface="Lora" pitchFamily="34" charset="0"/>
                <a:ea typeface="Lora" pitchFamily="34" charset="-122"/>
                <a:cs typeface="Lora" pitchFamily="34" charset="-120"/>
              </a:rPr>
              <a:t>Bài thuyết trình này sẽ giới thiệu một hệ thống tự động hỗ trợ đăng ký và nhận diện biển số xe máy trong điều kiện thực tế, hướng đến một giải pháp đơn giản, chi phí thấp nhưng mang lại hiệu quả cao.</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2722483"/>
            <a:ext cx="8166497" cy="620078"/>
          </a:xfrm>
          <a:prstGeom prst="rect">
            <a:avLst/>
          </a:prstGeom>
          <a:noFill/>
          <a:ln/>
        </p:spPr>
        <p:txBody>
          <a:bodyPr wrap="none" lIns="0" tIns="0" rIns="0" bIns="0" rtlCol="0" anchor="t"/>
          <a:lstStyle/>
          <a:p>
            <a:pPr algn="l" indent="0" marL="0">
              <a:lnSpc>
                <a:spcPts val="4850"/>
              </a:lnSpc>
              <a:buNone/>
            </a:pPr>
            <a:r>
              <a:rPr lang="en-US" sz="3900" dirty="0">
                <a:solidFill>
                  <a:srgbClr val="233E32"/>
                </a:solidFill>
                <a:latin typeface="Alice" pitchFamily="34" charset="0"/>
                <a:ea typeface="Alice" pitchFamily="34" charset="-122"/>
                <a:cs typeface="Alice" pitchFamily="34" charset="-120"/>
              </a:rPr>
              <a:t>Mục Tiêu và Tầm Nhìn của Hệ Thống</a:t>
            </a:r>
            <a:endParaRPr lang="en-US" sz="3900" dirty="0"/>
          </a:p>
        </p:txBody>
      </p:sp>
      <p:sp>
        <p:nvSpPr>
          <p:cNvPr id="3" name="Shape 1"/>
          <p:cNvSpPr/>
          <p:nvPr/>
        </p:nvSpPr>
        <p:spPr>
          <a:xfrm>
            <a:off x="793790" y="3739396"/>
            <a:ext cx="446484" cy="446484"/>
          </a:xfrm>
          <a:prstGeom prst="roundRect">
            <a:avLst>
              <a:gd name="adj" fmla="val 6668"/>
            </a:avLst>
          </a:prstGeom>
          <a:solidFill>
            <a:srgbClr val="F0EDE6"/>
          </a:solidFill>
          <a:ln/>
        </p:spPr>
      </p:sp>
      <p:pic>
        <p:nvPicPr>
          <p:cNvPr id="4" name="Image 0" descr="preencoded.png">    </p:cNvPr>
          <p:cNvPicPr>
            <a:picLocks noChangeAspect="1"/>
          </p:cNvPicPr>
          <p:nvPr/>
        </p:nvPicPr>
        <p:blipFill>
          <a:blip r:embed="rId1"/>
          <a:stretch>
            <a:fillRect/>
          </a:stretch>
        </p:blipFill>
        <p:spPr>
          <a:xfrm>
            <a:off x="868204" y="3776603"/>
            <a:ext cx="297656" cy="372070"/>
          </a:xfrm>
          <a:prstGeom prst="rect">
            <a:avLst/>
          </a:prstGeom>
        </p:spPr>
      </p:pic>
      <p:sp>
        <p:nvSpPr>
          <p:cNvPr id="5" name="Text 2"/>
          <p:cNvSpPr/>
          <p:nvPr/>
        </p:nvSpPr>
        <p:spPr>
          <a:xfrm>
            <a:off x="1438632" y="3807619"/>
            <a:ext cx="2506266" cy="310158"/>
          </a:xfrm>
          <a:prstGeom prst="rect">
            <a:avLst/>
          </a:prstGeom>
          <a:noFill/>
          <a:ln/>
        </p:spPr>
        <p:txBody>
          <a:bodyPr wrap="none" lIns="0" tIns="0" rIns="0" bIns="0" rtlCol="0" anchor="t"/>
          <a:lstStyle/>
          <a:p>
            <a:pPr algn="l" indent="0" marL="0">
              <a:lnSpc>
                <a:spcPts val="2400"/>
              </a:lnSpc>
              <a:buNone/>
            </a:pPr>
            <a:r>
              <a:rPr lang="en-US" sz="1950" dirty="0">
                <a:solidFill>
                  <a:srgbClr val="2C2821"/>
                </a:solidFill>
                <a:latin typeface="Alice" pitchFamily="34" charset="0"/>
                <a:ea typeface="Alice" pitchFamily="34" charset="-122"/>
                <a:cs typeface="Alice" pitchFamily="34" charset="-120"/>
              </a:rPr>
              <a:t>Đơn Giản và Hiệu Quả</a:t>
            </a:r>
            <a:endParaRPr lang="en-US" sz="1950" dirty="0"/>
          </a:p>
        </p:txBody>
      </p:sp>
      <p:sp>
        <p:nvSpPr>
          <p:cNvPr id="6" name="Text 3"/>
          <p:cNvSpPr/>
          <p:nvPr/>
        </p:nvSpPr>
        <p:spPr>
          <a:xfrm>
            <a:off x="1438632" y="4236839"/>
            <a:ext cx="3537347" cy="1270159"/>
          </a:xfrm>
          <a:prstGeom prst="rect">
            <a:avLst/>
          </a:prstGeom>
          <a:noFill/>
          <a:ln/>
        </p:spPr>
        <p:txBody>
          <a:bodyPr wrap="square" lIns="0" tIns="0" rIns="0" bIns="0" rtlCol="0" anchor="t"/>
          <a:lstStyle/>
          <a:p>
            <a:pPr algn="l" indent="0" marL="0">
              <a:lnSpc>
                <a:spcPts val="2500"/>
              </a:lnSpc>
              <a:buNone/>
            </a:pPr>
            <a:r>
              <a:rPr lang="en-US" sz="1550" dirty="0">
                <a:solidFill>
                  <a:srgbClr val="2C2821"/>
                </a:solidFill>
                <a:latin typeface="Lora" pitchFamily="34" charset="0"/>
                <a:ea typeface="Lora" pitchFamily="34" charset="-122"/>
                <a:cs typeface="Lora" pitchFamily="34" charset="-120"/>
              </a:rPr>
              <a:t>Xây dựng một hệ thống dễ triển khai, dễ sử dụng nhưng vẫn đảm bảo độ chính xác cao trong việc nhận diện biển số xe máy.</a:t>
            </a:r>
            <a:endParaRPr lang="en-US" sz="1550" dirty="0"/>
          </a:p>
        </p:txBody>
      </p:sp>
      <p:sp>
        <p:nvSpPr>
          <p:cNvPr id="7" name="Shape 4"/>
          <p:cNvSpPr/>
          <p:nvPr/>
        </p:nvSpPr>
        <p:spPr>
          <a:xfrm>
            <a:off x="5223986" y="3739396"/>
            <a:ext cx="446484" cy="446484"/>
          </a:xfrm>
          <a:prstGeom prst="roundRect">
            <a:avLst>
              <a:gd name="adj" fmla="val 6668"/>
            </a:avLst>
          </a:prstGeom>
          <a:solidFill>
            <a:srgbClr val="F0EDE6"/>
          </a:solidFill>
          <a:ln/>
        </p:spPr>
      </p:sp>
      <p:pic>
        <p:nvPicPr>
          <p:cNvPr id="8" name="Image 1" descr="preencoded.png">    </p:cNvPr>
          <p:cNvPicPr>
            <a:picLocks noChangeAspect="1"/>
          </p:cNvPicPr>
          <p:nvPr/>
        </p:nvPicPr>
        <p:blipFill>
          <a:blip r:embed="rId2"/>
          <a:stretch>
            <a:fillRect/>
          </a:stretch>
        </p:blipFill>
        <p:spPr>
          <a:xfrm>
            <a:off x="5298400" y="3776603"/>
            <a:ext cx="297656" cy="372070"/>
          </a:xfrm>
          <a:prstGeom prst="rect">
            <a:avLst/>
          </a:prstGeom>
        </p:spPr>
      </p:pic>
      <p:sp>
        <p:nvSpPr>
          <p:cNvPr id="9" name="Text 5"/>
          <p:cNvSpPr/>
          <p:nvPr/>
        </p:nvSpPr>
        <p:spPr>
          <a:xfrm>
            <a:off x="5868829" y="3807619"/>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2821"/>
                </a:solidFill>
                <a:latin typeface="Alice" pitchFamily="34" charset="0"/>
                <a:ea typeface="Alice" pitchFamily="34" charset="-122"/>
                <a:cs typeface="Alice" pitchFamily="34" charset="-120"/>
              </a:rPr>
              <a:t>Chi Phí Thấp</a:t>
            </a:r>
            <a:endParaRPr lang="en-US" sz="1950" dirty="0"/>
          </a:p>
        </p:txBody>
      </p:sp>
      <p:sp>
        <p:nvSpPr>
          <p:cNvPr id="10" name="Text 6"/>
          <p:cNvSpPr/>
          <p:nvPr/>
        </p:nvSpPr>
        <p:spPr>
          <a:xfrm>
            <a:off x="5868829" y="4236839"/>
            <a:ext cx="3537466" cy="952619"/>
          </a:xfrm>
          <a:prstGeom prst="rect">
            <a:avLst/>
          </a:prstGeom>
          <a:noFill/>
          <a:ln/>
        </p:spPr>
        <p:txBody>
          <a:bodyPr wrap="square" lIns="0" tIns="0" rIns="0" bIns="0" rtlCol="0" anchor="t"/>
          <a:lstStyle/>
          <a:p>
            <a:pPr algn="l" indent="0" marL="0">
              <a:lnSpc>
                <a:spcPts val="2500"/>
              </a:lnSpc>
              <a:buNone/>
            </a:pPr>
            <a:r>
              <a:rPr lang="en-US" sz="1550" dirty="0">
                <a:solidFill>
                  <a:srgbClr val="2C2821"/>
                </a:solidFill>
                <a:latin typeface="Lora" pitchFamily="34" charset="0"/>
                <a:ea typeface="Lora" pitchFamily="34" charset="-122"/>
                <a:cs typeface="Lora" pitchFamily="34" charset="-120"/>
              </a:rPr>
              <a:t>Tối ưu hóa chi phí phần cứng và phần mềm, phù hợp với nhiều đối tượng người dùng và ứng dụng khác nhau.</a:t>
            </a:r>
            <a:endParaRPr lang="en-US" sz="1550" dirty="0"/>
          </a:p>
        </p:txBody>
      </p:sp>
      <p:sp>
        <p:nvSpPr>
          <p:cNvPr id="11" name="Shape 7"/>
          <p:cNvSpPr/>
          <p:nvPr/>
        </p:nvSpPr>
        <p:spPr>
          <a:xfrm>
            <a:off x="9654302" y="3739396"/>
            <a:ext cx="446484" cy="446484"/>
          </a:xfrm>
          <a:prstGeom prst="roundRect">
            <a:avLst>
              <a:gd name="adj" fmla="val 6668"/>
            </a:avLst>
          </a:prstGeom>
          <a:solidFill>
            <a:srgbClr val="F0EDE6"/>
          </a:solidFill>
          <a:ln/>
        </p:spPr>
      </p:sp>
      <p:pic>
        <p:nvPicPr>
          <p:cNvPr id="12" name="Image 2" descr="preencoded.png">    </p:cNvPr>
          <p:cNvPicPr>
            <a:picLocks noChangeAspect="1"/>
          </p:cNvPicPr>
          <p:nvPr/>
        </p:nvPicPr>
        <p:blipFill>
          <a:blip r:embed="rId3"/>
          <a:stretch>
            <a:fillRect/>
          </a:stretch>
        </p:blipFill>
        <p:spPr>
          <a:xfrm>
            <a:off x="9728716" y="3776603"/>
            <a:ext cx="297656" cy="372070"/>
          </a:xfrm>
          <a:prstGeom prst="rect">
            <a:avLst/>
          </a:prstGeom>
        </p:spPr>
      </p:pic>
      <p:sp>
        <p:nvSpPr>
          <p:cNvPr id="13" name="Text 8"/>
          <p:cNvSpPr/>
          <p:nvPr/>
        </p:nvSpPr>
        <p:spPr>
          <a:xfrm>
            <a:off x="10299144" y="3807619"/>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2821"/>
                </a:solidFill>
                <a:latin typeface="Alice" pitchFamily="34" charset="0"/>
                <a:ea typeface="Alice" pitchFamily="34" charset="-122"/>
                <a:cs typeface="Alice" pitchFamily="34" charset="-120"/>
              </a:rPr>
              <a:t>Ứng Dụng Thực Tế</a:t>
            </a:r>
            <a:endParaRPr lang="en-US" sz="1950" dirty="0"/>
          </a:p>
        </p:txBody>
      </p:sp>
      <p:sp>
        <p:nvSpPr>
          <p:cNvPr id="14" name="Text 9"/>
          <p:cNvSpPr/>
          <p:nvPr/>
        </p:nvSpPr>
        <p:spPr>
          <a:xfrm>
            <a:off x="10299144" y="4236839"/>
            <a:ext cx="3537466" cy="952619"/>
          </a:xfrm>
          <a:prstGeom prst="rect">
            <a:avLst/>
          </a:prstGeom>
          <a:noFill/>
          <a:ln/>
        </p:spPr>
        <p:txBody>
          <a:bodyPr wrap="square" lIns="0" tIns="0" rIns="0" bIns="0" rtlCol="0" anchor="t"/>
          <a:lstStyle/>
          <a:p>
            <a:pPr algn="l" indent="0" marL="0">
              <a:lnSpc>
                <a:spcPts val="2500"/>
              </a:lnSpc>
              <a:buNone/>
            </a:pPr>
            <a:r>
              <a:rPr lang="en-US" sz="1550" dirty="0">
                <a:solidFill>
                  <a:srgbClr val="2C2821"/>
                </a:solidFill>
                <a:latin typeface="Lora" pitchFamily="34" charset="0"/>
                <a:ea typeface="Lora" pitchFamily="34" charset="-122"/>
                <a:cs typeface="Lora" pitchFamily="34" charset="-120"/>
              </a:rPr>
              <a:t>Hệ thống có khả năng hoạt động tốt trong các điều kiện thực tế như bãi giữ xe, cổng cơ quan, khu dân cư, v.v.</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3338393"/>
            <a:ext cx="6700599" cy="620078"/>
          </a:xfrm>
          <a:prstGeom prst="rect">
            <a:avLst/>
          </a:prstGeom>
          <a:noFill/>
          <a:ln/>
        </p:spPr>
        <p:txBody>
          <a:bodyPr wrap="none" lIns="0" tIns="0" rIns="0" bIns="0" rtlCol="0" anchor="t"/>
          <a:lstStyle/>
          <a:p>
            <a:pPr algn="l" indent="0" marL="0">
              <a:lnSpc>
                <a:spcPts val="4850"/>
              </a:lnSpc>
              <a:buNone/>
            </a:pPr>
            <a:r>
              <a:rPr lang="en-US" sz="3900" dirty="0">
                <a:solidFill>
                  <a:srgbClr val="233E32"/>
                </a:solidFill>
                <a:latin typeface="Alice" pitchFamily="34" charset="0"/>
                <a:ea typeface="Alice" pitchFamily="34" charset="-122"/>
                <a:cs typeface="Alice" pitchFamily="34" charset="-120"/>
              </a:rPr>
              <a:t>Kiến Trúc Tổng Thể Hệ Thống</a:t>
            </a:r>
            <a:endParaRPr lang="en-US" sz="3900" dirty="0"/>
          </a:p>
        </p:txBody>
      </p:sp>
      <p:sp>
        <p:nvSpPr>
          <p:cNvPr id="4" name="Text 1"/>
          <p:cNvSpPr/>
          <p:nvPr/>
        </p:nvSpPr>
        <p:spPr>
          <a:xfrm>
            <a:off x="793790" y="4256127"/>
            <a:ext cx="7556421" cy="635079"/>
          </a:xfrm>
          <a:prstGeom prst="rect">
            <a:avLst/>
          </a:prstGeom>
          <a:noFill/>
          <a:ln/>
        </p:spPr>
        <p:txBody>
          <a:bodyPr wrap="square" lIns="0" tIns="0" rIns="0" bIns="0" rtlCol="0" anchor="t"/>
          <a:lstStyle/>
          <a:p>
            <a:pPr algn="l" indent="0" marL="0">
              <a:lnSpc>
                <a:spcPts val="2500"/>
              </a:lnSpc>
              <a:buNone/>
            </a:pPr>
            <a:r>
              <a:rPr lang="en-US" sz="1550" dirty="0">
                <a:solidFill>
                  <a:srgbClr val="2C2821"/>
                </a:solidFill>
                <a:latin typeface="Lora" pitchFamily="34" charset="0"/>
                <a:ea typeface="Lora" pitchFamily="34" charset="-122"/>
                <a:cs typeface="Lora" pitchFamily="34" charset="-120"/>
              </a:rPr>
              <a:t>Hệ thống bao gồm hai thành phần chính: phần cứng để thu thập hình ảnh và phần mềm để xử lý, nhận diện biển số và quản lý dữ liệu.</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48070" y="514350"/>
            <a:ext cx="7551896" cy="584359"/>
          </a:xfrm>
          <a:prstGeom prst="rect">
            <a:avLst/>
          </a:prstGeom>
          <a:noFill/>
          <a:ln/>
        </p:spPr>
        <p:txBody>
          <a:bodyPr wrap="none" lIns="0" tIns="0" rIns="0" bIns="0" rtlCol="0" anchor="t"/>
          <a:lstStyle/>
          <a:p>
            <a:pPr algn="l" indent="0" marL="0">
              <a:lnSpc>
                <a:spcPts val="4600"/>
              </a:lnSpc>
              <a:buNone/>
            </a:pPr>
            <a:r>
              <a:rPr lang="en-US" sz="3650" dirty="0">
                <a:solidFill>
                  <a:srgbClr val="233E32"/>
                </a:solidFill>
                <a:latin typeface="Alice" pitchFamily="34" charset="0"/>
                <a:ea typeface="Alice" pitchFamily="34" charset="-122"/>
                <a:cs typeface="Alice" pitchFamily="34" charset="-120"/>
              </a:rPr>
              <a:t>Thành Phần Phần Cứng: ESP32-CAM</a:t>
            </a:r>
            <a:endParaRPr lang="en-US" sz="3650" dirty="0"/>
          </a:p>
        </p:txBody>
      </p:sp>
      <p:sp>
        <p:nvSpPr>
          <p:cNvPr id="3" name="Text 1"/>
          <p:cNvSpPr/>
          <p:nvPr/>
        </p:nvSpPr>
        <p:spPr>
          <a:xfrm>
            <a:off x="748070" y="1566148"/>
            <a:ext cx="3770471" cy="292298"/>
          </a:xfrm>
          <a:prstGeom prst="rect">
            <a:avLst/>
          </a:prstGeom>
          <a:noFill/>
          <a:ln/>
        </p:spPr>
        <p:txBody>
          <a:bodyPr wrap="none" lIns="0" tIns="0" rIns="0" bIns="0" rtlCol="0" anchor="t"/>
          <a:lstStyle/>
          <a:p>
            <a:pPr algn="l" indent="0" marL="0">
              <a:lnSpc>
                <a:spcPts val="2300"/>
              </a:lnSpc>
              <a:buNone/>
            </a:pPr>
            <a:r>
              <a:rPr lang="en-US" sz="1800" dirty="0">
                <a:solidFill>
                  <a:srgbClr val="233E32"/>
                </a:solidFill>
                <a:latin typeface="Alice" pitchFamily="34" charset="0"/>
                <a:ea typeface="Alice" pitchFamily="34" charset="-122"/>
                <a:cs typeface="Alice" pitchFamily="34" charset="-120"/>
              </a:rPr>
              <a:t>Thu Nhận Hình Ảnh Thời Gian Thực</a:t>
            </a:r>
            <a:endParaRPr lang="en-US" sz="1800" dirty="0"/>
          </a:p>
        </p:txBody>
      </p:sp>
      <p:sp>
        <p:nvSpPr>
          <p:cNvPr id="4" name="Text 2"/>
          <p:cNvSpPr/>
          <p:nvPr/>
        </p:nvSpPr>
        <p:spPr>
          <a:xfrm>
            <a:off x="748070" y="2045375"/>
            <a:ext cx="6339007" cy="598408"/>
          </a:xfrm>
          <a:prstGeom prst="rect">
            <a:avLst/>
          </a:prstGeom>
          <a:noFill/>
          <a:ln/>
        </p:spPr>
        <p:txBody>
          <a:bodyPr wrap="square" lIns="0" tIns="0" rIns="0" bIns="0" rtlCol="0" anchor="t"/>
          <a:lstStyle/>
          <a:p>
            <a:pPr algn="l" indent="0" marL="0">
              <a:lnSpc>
                <a:spcPts val="2350"/>
              </a:lnSpc>
              <a:buNone/>
            </a:pPr>
            <a:r>
              <a:rPr lang="en-US" sz="1450" dirty="0">
                <a:solidFill>
                  <a:srgbClr val="2C2821"/>
                </a:solidFill>
                <a:latin typeface="Lora" pitchFamily="34" charset="0"/>
                <a:ea typeface="Lora" pitchFamily="34" charset="-122"/>
                <a:cs typeface="Lora" pitchFamily="34" charset="-120"/>
              </a:rPr>
              <a:t>ESP32-CAM được lựa chọn vì khả năng thu nhận hình ảnh liên tục, độ phân giải tốt và đặc biệt là chi phí thấp, phù hợp với mục tiêu của dự án.</a:t>
            </a:r>
            <a:endParaRPr lang="en-US" sz="1450" dirty="0"/>
          </a:p>
        </p:txBody>
      </p:sp>
      <p:sp>
        <p:nvSpPr>
          <p:cNvPr id="5" name="Text 3"/>
          <p:cNvSpPr/>
          <p:nvPr/>
        </p:nvSpPr>
        <p:spPr>
          <a:xfrm>
            <a:off x="748070" y="2812018"/>
            <a:ext cx="6339007" cy="897612"/>
          </a:xfrm>
          <a:prstGeom prst="rect">
            <a:avLst/>
          </a:prstGeom>
          <a:noFill/>
          <a:ln/>
        </p:spPr>
        <p:txBody>
          <a:bodyPr wrap="square" lIns="0" tIns="0" rIns="0" bIns="0" rtlCol="0" anchor="t"/>
          <a:lstStyle/>
          <a:p>
            <a:pPr algn="l" indent="0" marL="0">
              <a:lnSpc>
                <a:spcPts val="2350"/>
              </a:lnSpc>
              <a:buNone/>
            </a:pPr>
            <a:r>
              <a:rPr lang="en-US" sz="1450" dirty="0">
                <a:solidFill>
                  <a:srgbClr val="2C2821"/>
                </a:solidFill>
                <a:latin typeface="Lora" pitchFamily="34" charset="0"/>
                <a:ea typeface="Lora" pitchFamily="34" charset="-122"/>
                <a:cs typeface="Lora" pitchFamily="34" charset="-120"/>
              </a:rPr>
              <a:t>Thiết bị này tích hợp Wi-Fi và Bluetooth, cho phép truyền dữ liệu hình ảnh không dây một cách hiệu quả, dễ dàng kết nối với các thành phần phần mềm.</a:t>
            </a:r>
            <a:endParaRPr lang="en-US" sz="1450" dirty="0"/>
          </a:p>
        </p:txBody>
      </p:sp>
      <p:pic>
        <p:nvPicPr>
          <p:cNvPr id="6" name="Image 0" descr="preencoded.png">    </p:cNvPr>
          <p:cNvPicPr>
            <a:picLocks noChangeAspect="1"/>
          </p:cNvPicPr>
          <p:nvPr/>
        </p:nvPicPr>
        <p:blipFill>
          <a:blip r:embed="rId1"/>
          <a:stretch>
            <a:fillRect/>
          </a:stretch>
        </p:blipFill>
        <p:spPr>
          <a:xfrm>
            <a:off x="7550944" y="1589603"/>
            <a:ext cx="6339007" cy="633900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351478"/>
            <a:ext cx="10844332" cy="620078"/>
          </a:xfrm>
          <a:prstGeom prst="rect">
            <a:avLst/>
          </a:prstGeom>
          <a:noFill/>
          <a:ln/>
        </p:spPr>
        <p:txBody>
          <a:bodyPr wrap="none" lIns="0" tIns="0" rIns="0" bIns="0" rtlCol="0" anchor="t"/>
          <a:lstStyle/>
          <a:p>
            <a:pPr algn="l" indent="0" marL="0">
              <a:lnSpc>
                <a:spcPts val="4850"/>
              </a:lnSpc>
              <a:buNone/>
            </a:pPr>
            <a:r>
              <a:rPr lang="en-US" sz="3900" dirty="0">
                <a:solidFill>
                  <a:srgbClr val="233E32"/>
                </a:solidFill>
                <a:latin typeface="Alice" pitchFamily="34" charset="0"/>
                <a:ea typeface="Alice" pitchFamily="34" charset="-122"/>
                <a:cs typeface="Alice" pitchFamily="34" charset="-120"/>
              </a:rPr>
              <a:t>Quy Trình Xử Lý Hình Ảnh và Nhận Diện Biển Số</a:t>
            </a:r>
            <a:endParaRPr lang="en-US" sz="3900" dirty="0"/>
          </a:p>
        </p:txBody>
      </p:sp>
      <p:pic>
        <p:nvPicPr>
          <p:cNvPr id="3" name="Image 0" descr="preencoded.png">    </p:cNvPr>
          <p:cNvPicPr>
            <a:picLocks noChangeAspect="1"/>
          </p:cNvPicPr>
          <p:nvPr/>
        </p:nvPicPr>
        <p:blipFill>
          <a:blip r:embed="rId1"/>
          <a:stretch>
            <a:fillRect/>
          </a:stretch>
        </p:blipFill>
        <p:spPr>
          <a:xfrm>
            <a:off x="793790" y="2368391"/>
            <a:ext cx="6521410" cy="793790"/>
          </a:xfrm>
          <a:prstGeom prst="rect">
            <a:avLst/>
          </a:prstGeom>
        </p:spPr>
      </p:pic>
      <p:sp>
        <p:nvSpPr>
          <p:cNvPr id="4" name="Text 1"/>
          <p:cNvSpPr/>
          <p:nvPr/>
        </p:nvSpPr>
        <p:spPr>
          <a:xfrm>
            <a:off x="992148" y="3360539"/>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2821"/>
                </a:solidFill>
                <a:latin typeface="Alice" pitchFamily="34" charset="0"/>
                <a:ea typeface="Alice" pitchFamily="34" charset="-122"/>
                <a:cs typeface="Alice" pitchFamily="34" charset="-120"/>
              </a:rPr>
              <a:t>1. Thu Nhận Ảnh</a:t>
            </a:r>
            <a:endParaRPr lang="en-US" sz="1950" dirty="0"/>
          </a:p>
        </p:txBody>
      </p:sp>
      <p:sp>
        <p:nvSpPr>
          <p:cNvPr id="5" name="Text 2"/>
          <p:cNvSpPr/>
          <p:nvPr/>
        </p:nvSpPr>
        <p:spPr>
          <a:xfrm>
            <a:off x="992148" y="3789759"/>
            <a:ext cx="6124694" cy="635079"/>
          </a:xfrm>
          <a:prstGeom prst="rect">
            <a:avLst/>
          </a:prstGeom>
          <a:noFill/>
          <a:ln/>
        </p:spPr>
        <p:txBody>
          <a:bodyPr wrap="square" lIns="0" tIns="0" rIns="0" bIns="0" rtlCol="0" anchor="t"/>
          <a:lstStyle/>
          <a:p>
            <a:pPr algn="l" indent="0" marL="0">
              <a:lnSpc>
                <a:spcPts val="2500"/>
              </a:lnSpc>
              <a:buNone/>
            </a:pPr>
            <a:r>
              <a:rPr lang="en-US" sz="1550" dirty="0">
                <a:solidFill>
                  <a:srgbClr val="2C2821"/>
                </a:solidFill>
                <a:latin typeface="Lora" pitchFamily="34" charset="0"/>
                <a:ea typeface="Lora" pitchFamily="34" charset="-122"/>
                <a:cs typeface="Lora" pitchFamily="34" charset="-120"/>
              </a:rPr>
              <a:t>ESP32-CAM chụp ảnh biển số xe máy khi xe đi qua khu vực giám sát.</a:t>
            </a:r>
            <a:endParaRPr lang="en-US" sz="1550" dirty="0"/>
          </a:p>
        </p:txBody>
      </p:sp>
      <p:pic>
        <p:nvPicPr>
          <p:cNvPr id="6" name="Image 1" descr="preencoded.png">    </p:cNvPr>
          <p:cNvPicPr>
            <a:picLocks noChangeAspect="1"/>
          </p:cNvPicPr>
          <p:nvPr/>
        </p:nvPicPr>
        <p:blipFill>
          <a:blip r:embed="rId2"/>
          <a:stretch>
            <a:fillRect/>
          </a:stretch>
        </p:blipFill>
        <p:spPr>
          <a:xfrm>
            <a:off x="7315200" y="2368391"/>
            <a:ext cx="6521410" cy="793790"/>
          </a:xfrm>
          <a:prstGeom prst="rect">
            <a:avLst/>
          </a:prstGeom>
        </p:spPr>
      </p:pic>
      <p:sp>
        <p:nvSpPr>
          <p:cNvPr id="7" name="Text 3"/>
          <p:cNvSpPr/>
          <p:nvPr/>
        </p:nvSpPr>
        <p:spPr>
          <a:xfrm>
            <a:off x="7513558" y="3360539"/>
            <a:ext cx="3104912" cy="310158"/>
          </a:xfrm>
          <a:prstGeom prst="rect">
            <a:avLst/>
          </a:prstGeom>
          <a:noFill/>
          <a:ln/>
        </p:spPr>
        <p:txBody>
          <a:bodyPr wrap="none" lIns="0" tIns="0" rIns="0" bIns="0" rtlCol="0" anchor="t"/>
          <a:lstStyle/>
          <a:p>
            <a:pPr algn="l" indent="0" marL="0">
              <a:lnSpc>
                <a:spcPts val="2400"/>
              </a:lnSpc>
              <a:buNone/>
            </a:pPr>
            <a:r>
              <a:rPr lang="en-US" sz="1950" dirty="0">
                <a:solidFill>
                  <a:srgbClr val="2C2821"/>
                </a:solidFill>
                <a:latin typeface="Alice" pitchFamily="34" charset="0"/>
                <a:ea typeface="Alice" pitchFamily="34" charset="-122"/>
                <a:cs typeface="Alice" pitchFamily="34" charset="-120"/>
              </a:rPr>
              <a:t>2. Phát Hiện Biển Số (YOLO)</a:t>
            </a:r>
            <a:endParaRPr lang="en-US" sz="1950" dirty="0"/>
          </a:p>
        </p:txBody>
      </p:sp>
      <p:sp>
        <p:nvSpPr>
          <p:cNvPr id="8" name="Text 4"/>
          <p:cNvSpPr/>
          <p:nvPr/>
        </p:nvSpPr>
        <p:spPr>
          <a:xfrm>
            <a:off x="7513558" y="3789759"/>
            <a:ext cx="6124694" cy="635079"/>
          </a:xfrm>
          <a:prstGeom prst="rect">
            <a:avLst/>
          </a:prstGeom>
          <a:noFill/>
          <a:ln/>
        </p:spPr>
        <p:txBody>
          <a:bodyPr wrap="square" lIns="0" tIns="0" rIns="0" bIns="0" rtlCol="0" anchor="t"/>
          <a:lstStyle/>
          <a:p>
            <a:pPr algn="l" indent="0" marL="0">
              <a:lnSpc>
                <a:spcPts val="2500"/>
              </a:lnSpc>
              <a:buNone/>
            </a:pPr>
            <a:r>
              <a:rPr lang="en-US" sz="1550" dirty="0">
                <a:solidFill>
                  <a:srgbClr val="2C2821"/>
                </a:solidFill>
                <a:latin typeface="Lora" pitchFamily="34" charset="0"/>
                <a:ea typeface="Lora" pitchFamily="34" charset="-122"/>
                <a:cs typeface="Lora" pitchFamily="34" charset="-120"/>
              </a:rPr>
              <a:t>Mô hình YOLO được sử dụng để nhanh chóng xác định và khoanh vùng chính xác khu vực chứa biển số trong ảnh.</a:t>
            </a:r>
            <a:endParaRPr lang="en-US" sz="1550" dirty="0"/>
          </a:p>
        </p:txBody>
      </p:sp>
      <p:pic>
        <p:nvPicPr>
          <p:cNvPr id="9" name="Image 2" descr="preencoded.png">    </p:cNvPr>
          <p:cNvPicPr>
            <a:picLocks noChangeAspect="1"/>
          </p:cNvPicPr>
          <p:nvPr/>
        </p:nvPicPr>
        <p:blipFill>
          <a:blip r:embed="rId3"/>
          <a:stretch>
            <a:fillRect/>
          </a:stretch>
        </p:blipFill>
        <p:spPr>
          <a:xfrm>
            <a:off x="793790" y="4623197"/>
            <a:ext cx="6521410" cy="793790"/>
          </a:xfrm>
          <a:prstGeom prst="rect">
            <a:avLst/>
          </a:prstGeom>
        </p:spPr>
      </p:pic>
      <p:sp>
        <p:nvSpPr>
          <p:cNvPr id="10" name="Text 5"/>
          <p:cNvSpPr/>
          <p:nvPr/>
        </p:nvSpPr>
        <p:spPr>
          <a:xfrm>
            <a:off x="992148" y="5615345"/>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2821"/>
                </a:solidFill>
                <a:latin typeface="Alice" pitchFamily="34" charset="0"/>
                <a:ea typeface="Alice" pitchFamily="34" charset="-122"/>
                <a:cs typeface="Alice" pitchFamily="34" charset="-120"/>
              </a:rPr>
              <a:t>3. Tiền Xử Lý Ảnh</a:t>
            </a:r>
            <a:endParaRPr lang="en-US" sz="1950" dirty="0"/>
          </a:p>
        </p:txBody>
      </p:sp>
      <p:sp>
        <p:nvSpPr>
          <p:cNvPr id="11" name="Text 6"/>
          <p:cNvSpPr/>
          <p:nvPr/>
        </p:nvSpPr>
        <p:spPr>
          <a:xfrm>
            <a:off x="992148" y="6044565"/>
            <a:ext cx="6124694" cy="635079"/>
          </a:xfrm>
          <a:prstGeom prst="rect">
            <a:avLst/>
          </a:prstGeom>
          <a:noFill/>
          <a:ln/>
        </p:spPr>
        <p:txBody>
          <a:bodyPr wrap="square" lIns="0" tIns="0" rIns="0" bIns="0" rtlCol="0" anchor="t"/>
          <a:lstStyle/>
          <a:p>
            <a:pPr algn="l" indent="0" marL="0">
              <a:lnSpc>
                <a:spcPts val="2500"/>
              </a:lnSpc>
              <a:buNone/>
            </a:pPr>
            <a:r>
              <a:rPr lang="en-US" sz="1550" dirty="0">
                <a:solidFill>
                  <a:srgbClr val="2C2821"/>
                </a:solidFill>
                <a:latin typeface="Lora" pitchFamily="34" charset="0"/>
                <a:ea typeface="Lora" pitchFamily="34" charset="-122"/>
                <a:cs typeface="Lora" pitchFamily="34" charset="-120"/>
              </a:rPr>
              <a:t>Ảnh biển số được cắt, sau đó chuyển đổi sang ảnh xám để tối ưu hóa quá trình nhận diện ký tự.</a:t>
            </a:r>
            <a:endParaRPr lang="en-US" sz="1550" dirty="0"/>
          </a:p>
        </p:txBody>
      </p:sp>
      <p:pic>
        <p:nvPicPr>
          <p:cNvPr id="12" name="Image 3" descr="preencoded.png">    </p:cNvPr>
          <p:cNvPicPr>
            <a:picLocks noChangeAspect="1"/>
          </p:cNvPicPr>
          <p:nvPr/>
        </p:nvPicPr>
        <p:blipFill>
          <a:blip r:embed="rId4"/>
          <a:stretch>
            <a:fillRect/>
          </a:stretch>
        </p:blipFill>
        <p:spPr>
          <a:xfrm>
            <a:off x="7315200" y="4623197"/>
            <a:ext cx="6521410" cy="793790"/>
          </a:xfrm>
          <a:prstGeom prst="rect">
            <a:avLst/>
          </a:prstGeom>
        </p:spPr>
      </p:pic>
      <p:sp>
        <p:nvSpPr>
          <p:cNvPr id="13" name="Text 7"/>
          <p:cNvSpPr/>
          <p:nvPr/>
        </p:nvSpPr>
        <p:spPr>
          <a:xfrm>
            <a:off x="7513558" y="5615345"/>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2821"/>
                </a:solidFill>
                <a:latin typeface="Alice" pitchFamily="34" charset="0"/>
                <a:ea typeface="Alice" pitchFamily="34" charset="-122"/>
                <a:cs typeface="Alice" pitchFamily="34" charset="-120"/>
              </a:rPr>
              <a:t>4. Nhận Diện Ký Tự</a:t>
            </a:r>
            <a:endParaRPr lang="en-US" sz="1950" dirty="0"/>
          </a:p>
        </p:txBody>
      </p:sp>
      <p:sp>
        <p:nvSpPr>
          <p:cNvPr id="14" name="Text 8"/>
          <p:cNvSpPr/>
          <p:nvPr/>
        </p:nvSpPr>
        <p:spPr>
          <a:xfrm>
            <a:off x="7513558" y="6044565"/>
            <a:ext cx="6124694" cy="635079"/>
          </a:xfrm>
          <a:prstGeom prst="rect">
            <a:avLst/>
          </a:prstGeom>
          <a:noFill/>
          <a:ln/>
        </p:spPr>
        <p:txBody>
          <a:bodyPr wrap="square" lIns="0" tIns="0" rIns="0" bIns="0" rtlCol="0" anchor="t"/>
          <a:lstStyle/>
          <a:p>
            <a:pPr algn="l" indent="0" marL="0">
              <a:lnSpc>
                <a:spcPts val="2500"/>
              </a:lnSpc>
              <a:buNone/>
            </a:pPr>
            <a:r>
              <a:rPr lang="en-US" sz="1550" dirty="0">
                <a:solidFill>
                  <a:srgbClr val="2C2821"/>
                </a:solidFill>
                <a:latin typeface="Lora" pitchFamily="34" charset="0"/>
                <a:ea typeface="Lora" pitchFamily="34" charset="-122"/>
                <a:cs typeface="Lora" pitchFamily="34" charset="-120"/>
              </a:rPr>
              <a:t>Ảnh biển số đã xử lý được đưa vào mô hình nhận diện ký tự đã huấn luyện để dự đoán chuỗi ký tự.</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598289"/>
            <a:ext cx="7811929" cy="620078"/>
          </a:xfrm>
          <a:prstGeom prst="rect">
            <a:avLst/>
          </a:prstGeom>
          <a:noFill/>
          <a:ln/>
        </p:spPr>
        <p:txBody>
          <a:bodyPr wrap="none" lIns="0" tIns="0" rIns="0" bIns="0" rtlCol="0" anchor="t"/>
          <a:lstStyle/>
          <a:p>
            <a:pPr algn="l" indent="0" marL="0">
              <a:lnSpc>
                <a:spcPts val="4850"/>
              </a:lnSpc>
              <a:buNone/>
            </a:pPr>
            <a:r>
              <a:rPr lang="en-US" sz="3900" dirty="0">
                <a:solidFill>
                  <a:srgbClr val="233E32"/>
                </a:solidFill>
                <a:latin typeface="Alice" pitchFamily="34" charset="0"/>
                <a:ea typeface="Alice" pitchFamily="34" charset="-122"/>
                <a:cs typeface="Alice" pitchFamily="34" charset="-120"/>
              </a:rPr>
              <a:t>YOLO: Phát Hiện Vật Thể Mạnh Mẽ</a:t>
            </a:r>
            <a:endParaRPr lang="en-US" sz="3900" dirty="0"/>
          </a:p>
        </p:txBody>
      </p:sp>
      <p:sp>
        <p:nvSpPr>
          <p:cNvPr id="3" name="Text 1"/>
          <p:cNvSpPr/>
          <p:nvPr/>
        </p:nvSpPr>
        <p:spPr>
          <a:xfrm>
            <a:off x="793790" y="1714381"/>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33E32"/>
                </a:solidFill>
                <a:latin typeface="Alice" pitchFamily="34" charset="0"/>
                <a:ea typeface="Alice" pitchFamily="34" charset="-122"/>
                <a:cs typeface="Alice" pitchFamily="34" charset="-120"/>
              </a:rPr>
              <a:t>You Only Look Once</a:t>
            </a:r>
            <a:endParaRPr lang="en-US" sz="1950" dirty="0"/>
          </a:p>
        </p:txBody>
      </p:sp>
      <p:sp>
        <p:nvSpPr>
          <p:cNvPr id="4" name="Text 2"/>
          <p:cNvSpPr/>
          <p:nvPr/>
        </p:nvSpPr>
        <p:spPr>
          <a:xfrm>
            <a:off x="793790" y="2222897"/>
            <a:ext cx="6279356" cy="952619"/>
          </a:xfrm>
          <a:prstGeom prst="rect">
            <a:avLst/>
          </a:prstGeom>
          <a:noFill/>
          <a:ln/>
        </p:spPr>
        <p:txBody>
          <a:bodyPr wrap="square" lIns="0" tIns="0" rIns="0" bIns="0" rtlCol="0" anchor="t"/>
          <a:lstStyle/>
          <a:p>
            <a:pPr algn="l" indent="0" marL="0">
              <a:lnSpc>
                <a:spcPts val="2500"/>
              </a:lnSpc>
              <a:buNone/>
            </a:pPr>
            <a:r>
              <a:rPr lang="en-US" sz="1550" dirty="0">
                <a:solidFill>
                  <a:srgbClr val="2C2821"/>
                </a:solidFill>
                <a:latin typeface="Lora" pitchFamily="34" charset="0"/>
                <a:ea typeface="Lora" pitchFamily="34" charset="-122"/>
                <a:cs typeface="Lora" pitchFamily="34" charset="-120"/>
              </a:rPr>
              <a:t>YOLO là một thuật toán phát hiện vật thể mạnh mẽ, nổi tiếng với tốc độ xử lý nhanh và độ chính xác cao. Nó cho phép hệ thống xác định vị trí biển số ngay lập tức trong luồng dữ liệu thời gian thực.</a:t>
            </a:r>
            <a:endParaRPr lang="en-US" sz="1550" dirty="0"/>
          </a:p>
        </p:txBody>
      </p:sp>
      <p:sp>
        <p:nvSpPr>
          <p:cNvPr id="5" name="Text 3"/>
          <p:cNvSpPr/>
          <p:nvPr/>
        </p:nvSpPr>
        <p:spPr>
          <a:xfrm>
            <a:off x="793790" y="3354110"/>
            <a:ext cx="6279356" cy="635079"/>
          </a:xfrm>
          <a:prstGeom prst="rect">
            <a:avLst/>
          </a:prstGeom>
          <a:noFill/>
          <a:ln/>
        </p:spPr>
        <p:txBody>
          <a:bodyPr wrap="square" lIns="0" tIns="0" rIns="0" bIns="0" rtlCol="0" anchor="t"/>
          <a:lstStyle/>
          <a:p>
            <a:pPr algn="l" indent="0" marL="0">
              <a:lnSpc>
                <a:spcPts val="2500"/>
              </a:lnSpc>
              <a:buNone/>
            </a:pPr>
            <a:r>
              <a:rPr lang="en-US" sz="1550" dirty="0">
                <a:solidFill>
                  <a:srgbClr val="2C2821"/>
                </a:solidFill>
                <a:latin typeface="Lora" pitchFamily="34" charset="0"/>
                <a:ea typeface="Lora" pitchFamily="34" charset="-122"/>
                <a:cs typeface="Lora" pitchFamily="34" charset="-120"/>
              </a:rPr>
              <a:t>Việc tích hợp YOLO giúp giảm thiểu thời gian phản hồi, là yếu tố then chốt cho các ứng dụng tự động.</a:t>
            </a:r>
            <a:endParaRPr lang="en-US" sz="1550" dirty="0"/>
          </a:p>
        </p:txBody>
      </p:sp>
      <p:pic>
        <p:nvPicPr>
          <p:cNvPr id="6" name="Image 0" descr="preencoded.png">    </p:cNvPr>
          <p:cNvPicPr>
            <a:picLocks noChangeAspect="1"/>
          </p:cNvPicPr>
          <p:nvPr/>
        </p:nvPicPr>
        <p:blipFill>
          <a:blip r:embed="rId1"/>
          <a:stretch>
            <a:fillRect/>
          </a:stretch>
        </p:blipFill>
        <p:spPr>
          <a:xfrm>
            <a:off x="7564874" y="1739265"/>
            <a:ext cx="5172670" cy="5172670"/>
          </a:xfrm>
          <a:prstGeom prst="rect">
            <a:avLst/>
          </a:prstGeom>
        </p:spPr>
      </p:pic>
      <p:sp>
        <p:nvSpPr>
          <p:cNvPr id="7" name="Text 4"/>
          <p:cNvSpPr/>
          <p:nvPr/>
        </p:nvSpPr>
        <p:spPr>
          <a:xfrm>
            <a:off x="7564874" y="7135178"/>
            <a:ext cx="6279356" cy="317540"/>
          </a:xfrm>
          <a:prstGeom prst="rect">
            <a:avLst/>
          </a:prstGeom>
          <a:noFill/>
          <a:ln/>
        </p:spPr>
        <p:txBody>
          <a:bodyPr wrap="none" lIns="0" tIns="0" rIns="0" bIns="0" rtlCol="0" anchor="t"/>
          <a:lstStyle/>
          <a:p>
            <a:pPr algn="l" indent="0" marL="0">
              <a:lnSpc>
                <a:spcPts val="2500"/>
              </a:lnSpc>
              <a:buNone/>
            </a:pP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970365"/>
            <a:ext cx="5876211" cy="620078"/>
          </a:xfrm>
          <a:prstGeom prst="rect">
            <a:avLst/>
          </a:prstGeom>
          <a:noFill/>
          <a:ln/>
        </p:spPr>
        <p:txBody>
          <a:bodyPr wrap="none" lIns="0" tIns="0" rIns="0" bIns="0" rtlCol="0" anchor="t"/>
          <a:lstStyle/>
          <a:p>
            <a:pPr algn="l" indent="0" marL="0">
              <a:lnSpc>
                <a:spcPts val="4850"/>
              </a:lnSpc>
              <a:buNone/>
            </a:pPr>
            <a:r>
              <a:rPr lang="en-US" sz="3900" dirty="0">
                <a:solidFill>
                  <a:srgbClr val="233E32"/>
                </a:solidFill>
                <a:latin typeface="Alice" pitchFamily="34" charset="0"/>
                <a:ea typeface="Alice" pitchFamily="34" charset="-122"/>
                <a:cs typeface="Alice" pitchFamily="34" charset="-120"/>
              </a:rPr>
              <a:t>Mô Hình Nhận Diện Ký Tự</a:t>
            </a:r>
            <a:endParaRPr lang="en-US" sz="3900" dirty="0"/>
          </a:p>
        </p:txBody>
      </p:sp>
      <p:sp>
        <p:nvSpPr>
          <p:cNvPr id="3" name="Text 1"/>
          <p:cNvSpPr/>
          <p:nvPr/>
        </p:nvSpPr>
        <p:spPr>
          <a:xfrm>
            <a:off x="793790" y="2987278"/>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2C2821"/>
                </a:solidFill>
                <a:latin typeface="Lora" pitchFamily="34" charset="0"/>
                <a:ea typeface="Lora" pitchFamily="34" charset="-122"/>
                <a:cs typeface="Lora" pitchFamily="34" charset="-120"/>
              </a:rPr>
              <a:t>Sau khi biển số được phát hiện và tiền xử lý, phần mềm sẽ sử dụng một mô hình học máy đã được huấn luyện đặc biệt để nhận diện từng ký tự trên biển số.</a:t>
            </a:r>
            <a:endParaRPr lang="en-US" sz="1550" dirty="0"/>
          </a:p>
        </p:txBody>
      </p:sp>
      <p:sp>
        <p:nvSpPr>
          <p:cNvPr id="4" name="Shape 2"/>
          <p:cNvSpPr/>
          <p:nvPr/>
        </p:nvSpPr>
        <p:spPr>
          <a:xfrm>
            <a:off x="793790" y="3845600"/>
            <a:ext cx="4215289" cy="2413635"/>
          </a:xfrm>
          <a:prstGeom prst="roundRect">
            <a:avLst>
              <a:gd name="adj" fmla="val 1233"/>
            </a:avLst>
          </a:prstGeom>
          <a:solidFill>
            <a:srgbClr val="F0EDE6"/>
          </a:solidFill>
          <a:ln/>
        </p:spPr>
      </p:sp>
      <p:sp>
        <p:nvSpPr>
          <p:cNvPr id="5" name="Text 3"/>
          <p:cNvSpPr/>
          <p:nvPr/>
        </p:nvSpPr>
        <p:spPr>
          <a:xfrm>
            <a:off x="992148" y="4043958"/>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2821"/>
                </a:solidFill>
                <a:latin typeface="Alice" pitchFamily="34" charset="0"/>
                <a:ea typeface="Alice" pitchFamily="34" charset="-122"/>
                <a:cs typeface="Alice" pitchFamily="34" charset="-120"/>
              </a:rPr>
              <a:t>Huấn Luyện Dữ Liệu</a:t>
            </a:r>
            <a:endParaRPr lang="en-US" sz="1950" dirty="0"/>
          </a:p>
        </p:txBody>
      </p:sp>
      <p:sp>
        <p:nvSpPr>
          <p:cNvPr id="6" name="Text 4"/>
          <p:cNvSpPr/>
          <p:nvPr/>
        </p:nvSpPr>
        <p:spPr>
          <a:xfrm>
            <a:off x="992148" y="4473178"/>
            <a:ext cx="3818573" cy="1587698"/>
          </a:xfrm>
          <a:prstGeom prst="rect">
            <a:avLst/>
          </a:prstGeom>
          <a:noFill/>
          <a:ln/>
        </p:spPr>
        <p:txBody>
          <a:bodyPr wrap="square" lIns="0" tIns="0" rIns="0" bIns="0" rtlCol="0" anchor="t"/>
          <a:lstStyle/>
          <a:p>
            <a:pPr algn="l" indent="0" marL="0">
              <a:lnSpc>
                <a:spcPts val="2500"/>
              </a:lnSpc>
              <a:buNone/>
            </a:pPr>
            <a:r>
              <a:rPr lang="en-US" sz="1550" dirty="0">
                <a:solidFill>
                  <a:srgbClr val="2C2821"/>
                </a:solidFill>
                <a:latin typeface="Lora" pitchFamily="34" charset="0"/>
                <a:ea typeface="Lora" pitchFamily="34" charset="-122"/>
                <a:cs typeface="Lora" pitchFamily="34" charset="-120"/>
              </a:rPr>
              <a:t>Mô hình được huấn luyện với bộ dữ liệu lớn gồm các biển số xe máy thực tế, bao gồm nhiều kiểu chữ, kích thước và điều kiện ánh sáng khác nhau để đảm bảo độ robust.</a:t>
            </a:r>
            <a:endParaRPr lang="en-US" sz="1550" dirty="0"/>
          </a:p>
        </p:txBody>
      </p:sp>
      <p:sp>
        <p:nvSpPr>
          <p:cNvPr id="7" name="Shape 5"/>
          <p:cNvSpPr/>
          <p:nvPr/>
        </p:nvSpPr>
        <p:spPr>
          <a:xfrm>
            <a:off x="5207437" y="3845600"/>
            <a:ext cx="4215408" cy="2413635"/>
          </a:xfrm>
          <a:prstGeom prst="roundRect">
            <a:avLst>
              <a:gd name="adj" fmla="val 1233"/>
            </a:avLst>
          </a:prstGeom>
          <a:solidFill>
            <a:srgbClr val="F0EDE6"/>
          </a:solidFill>
          <a:ln/>
        </p:spPr>
      </p:sp>
      <p:sp>
        <p:nvSpPr>
          <p:cNvPr id="8" name="Text 6"/>
          <p:cNvSpPr/>
          <p:nvPr/>
        </p:nvSpPr>
        <p:spPr>
          <a:xfrm>
            <a:off x="5405795" y="4043958"/>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2821"/>
                </a:solidFill>
                <a:latin typeface="Alice" pitchFamily="34" charset="0"/>
                <a:ea typeface="Alice" pitchFamily="34" charset="-122"/>
                <a:cs typeface="Alice" pitchFamily="34" charset="-120"/>
              </a:rPr>
              <a:t>Thuật Toán Tối Ưu</a:t>
            </a:r>
            <a:endParaRPr lang="en-US" sz="1950" dirty="0"/>
          </a:p>
        </p:txBody>
      </p:sp>
      <p:sp>
        <p:nvSpPr>
          <p:cNvPr id="9" name="Text 7"/>
          <p:cNvSpPr/>
          <p:nvPr/>
        </p:nvSpPr>
        <p:spPr>
          <a:xfrm>
            <a:off x="5405795" y="4473178"/>
            <a:ext cx="3818692" cy="1270159"/>
          </a:xfrm>
          <a:prstGeom prst="rect">
            <a:avLst/>
          </a:prstGeom>
          <a:noFill/>
          <a:ln/>
        </p:spPr>
        <p:txBody>
          <a:bodyPr wrap="square" lIns="0" tIns="0" rIns="0" bIns="0" rtlCol="0" anchor="t"/>
          <a:lstStyle/>
          <a:p>
            <a:pPr algn="l" indent="0" marL="0">
              <a:lnSpc>
                <a:spcPts val="2500"/>
              </a:lnSpc>
              <a:buNone/>
            </a:pPr>
            <a:r>
              <a:rPr lang="en-US" sz="1550" dirty="0">
                <a:solidFill>
                  <a:srgbClr val="2C2821"/>
                </a:solidFill>
                <a:latin typeface="Lora" pitchFamily="34" charset="0"/>
                <a:ea typeface="Lora" pitchFamily="34" charset="-122"/>
                <a:cs typeface="Lora" pitchFamily="34" charset="-120"/>
              </a:rPr>
              <a:t>Sử dụng các thuật toán học sâu như CNN (Convolutional Neural Networks) để đạt được độ chính xác cao trong việc phân loại ký tự.</a:t>
            </a:r>
            <a:endParaRPr lang="en-US" sz="1550" dirty="0"/>
          </a:p>
        </p:txBody>
      </p:sp>
      <p:sp>
        <p:nvSpPr>
          <p:cNvPr id="10" name="Shape 8"/>
          <p:cNvSpPr/>
          <p:nvPr/>
        </p:nvSpPr>
        <p:spPr>
          <a:xfrm>
            <a:off x="9621203" y="3845600"/>
            <a:ext cx="4215289" cy="2413635"/>
          </a:xfrm>
          <a:prstGeom prst="roundRect">
            <a:avLst>
              <a:gd name="adj" fmla="val 1233"/>
            </a:avLst>
          </a:prstGeom>
          <a:solidFill>
            <a:srgbClr val="F0EDE6"/>
          </a:solidFill>
          <a:ln/>
        </p:spPr>
      </p:sp>
      <p:sp>
        <p:nvSpPr>
          <p:cNvPr id="11" name="Text 9"/>
          <p:cNvSpPr/>
          <p:nvPr/>
        </p:nvSpPr>
        <p:spPr>
          <a:xfrm>
            <a:off x="9819561" y="4043958"/>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2821"/>
                </a:solidFill>
                <a:latin typeface="Alice" pitchFamily="34" charset="0"/>
                <a:ea typeface="Alice" pitchFamily="34" charset="-122"/>
                <a:cs typeface="Alice" pitchFamily="34" charset="-120"/>
              </a:rPr>
              <a:t>Độ Chính Xác Cao</a:t>
            </a:r>
            <a:endParaRPr lang="en-US" sz="1950" dirty="0"/>
          </a:p>
        </p:txBody>
      </p:sp>
      <p:sp>
        <p:nvSpPr>
          <p:cNvPr id="12" name="Text 10"/>
          <p:cNvSpPr/>
          <p:nvPr/>
        </p:nvSpPr>
        <p:spPr>
          <a:xfrm>
            <a:off x="9819561" y="4473178"/>
            <a:ext cx="3818573" cy="952619"/>
          </a:xfrm>
          <a:prstGeom prst="rect">
            <a:avLst/>
          </a:prstGeom>
          <a:noFill/>
          <a:ln/>
        </p:spPr>
        <p:txBody>
          <a:bodyPr wrap="square" lIns="0" tIns="0" rIns="0" bIns="0" rtlCol="0" anchor="t"/>
          <a:lstStyle/>
          <a:p>
            <a:pPr algn="l" indent="0" marL="0">
              <a:lnSpc>
                <a:spcPts val="2500"/>
              </a:lnSpc>
              <a:buNone/>
            </a:pPr>
            <a:r>
              <a:rPr lang="en-US" sz="1550" dirty="0">
                <a:solidFill>
                  <a:srgbClr val="2C2821"/>
                </a:solidFill>
                <a:latin typeface="Lora" pitchFamily="34" charset="0"/>
                <a:ea typeface="Lora" pitchFamily="34" charset="-122"/>
                <a:cs typeface="Lora" pitchFamily="34" charset="-120"/>
              </a:rPr>
              <a:t>Mô hình được tinh chỉnh để xử lý các biến thể nhỏ của ký tự và điều kiện hình ảnh không lý tưởng.</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2168843"/>
            <a:ext cx="6602492" cy="620078"/>
          </a:xfrm>
          <a:prstGeom prst="rect">
            <a:avLst/>
          </a:prstGeom>
          <a:noFill/>
          <a:ln/>
        </p:spPr>
        <p:txBody>
          <a:bodyPr wrap="none" lIns="0" tIns="0" rIns="0" bIns="0" rtlCol="0" anchor="t"/>
          <a:lstStyle/>
          <a:p>
            <a:pPr algn="l" indent="0" marL="0">
              <a:lnSpc>
                <a:spcPts val="4850"/>
              </a:lnSpc>
              <a:buNone/>
            </a:pPr>
            <a:r>
              <a:rPr lang="en-US" sz="3900" dirty="0">
                <a:solidFill>
                  <a:srgbClr val="233E32"/>
                </a:solidFill>
                <a:latin typeface="Alice" pitchFamily="34" charset="0"/>
                <a:ea typeface="Alice" pitchFamily="34" charset="-122"/>
                <a:cs typeface="Alice" pitchFamily="34" charset="-120"/>
              </a:rPr>
              <a:t>Quản Lý và Xác Minh Dữ Liệu</a:t>
            </a:r>
            <a:endParaRPr lang="en-US" sz="3900" dirty="0"/>
          </a:p>
        </p:txBody>
      </p:sp>
      <p:sp>
        <p:nvSpPr>
          <p:cNvPr id="3" name="Text 1"/>
          <p:cNvSpPr/>
          <p:nvPr/>
        </p:nvSpPr>
        <p:spPr>
          <a:xfrm>
            <a:off x="793790" y="3185755"/>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2C2821"/>
                </a:solidFill>
                <a:latin typeface="Lora" pitchFamily="34" charset="0"/>
                <a:ea typeface="Lora" pitchFamily="34" charset="-122"/>
                <a:cs typeface="Lora" pitchFamily="34" charset="-120"/>
              </a:rPr>
              <a:t>Hệ thống không chỉ nhận diện mà còn quản lý thông tin phương tiện một cách hiệu quả.</a:t>
            </a:r>
            <a:endParaRPr lang="en-US" sz="1550" dirty="0"/>
          </a:p>
        </p:txBody>
      </p:sp>
      <p:sp>
        <p:nvSpPr>
          <p:cNvPr id="4" name="Text 2"/>
          <p:cNvSpPr/>
          <p:nvPr/>
        </p:nvSpPr>
        <p:spPr>
          <a:xfrm>
            <a:off x="793790" y="3924895"/>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33E32"/>
                </a:solidFill>
                <a:latin typeface="Alice" pitchFamily="34" charset="0"/>
                <a:ea typeface="Alice" pitchFamily="34" charset="-122"/>
                <a:cs typeface="Alice" pitchFamily="34" charset="-120"/>
              </a:rPr>
              <a:t>So Sánh &amp; Xác Minh</a:t>
            </a:r>
            <a:endParaRPr lang="en-US" sz="1950" dirty="0"/>
          </a:p>
        </p:txBody>
      </p:sp>
      <p:sp>
        <p:nvSpPr>
          <p:cNvPr id="5" name="Text 3"/>
          <p:cNvSpPr/>
          <p:nvPr/>
        </p:nvSpPr>
        <p:spPr>
          <a:xfrm>
            <a:off x="793790" y="4433411"/>
            <a:ext cx="6279356" cy="635079"/>
          </a:xfrm>
          <a:prstGeom prst="rect">
            <a:avLst/>
          </a:prstGeom>
          <a:noFill/>
          <a:ln/>
        </p:spPr>
        <p:txBody>
          <a:bodyPr wrap="square" lIns="0" tIns="0" rIns="0" bIns="0" rtlCol="0" anchor="t"/>
          <a:lstStyle/>
          <a:p>
            <a:pPr algn="l" indent="0" marL="0">
              <a:lnSpc>
                <a:spcPts val="2500"/>
              </a:lnSpc>
              <a:buNone/>
            </a:pPr>
            <a:r>
              <a:rPr lang="en-US" sz="1550" dirty="0">
                <a:solidFill>
                  <a:srgbClr val="2C2821"/>
                </a:solidFill>
                <a:latin typeface="Lora" pitchFamily="34" charset="0"/>
                <a:ea typeface="Lora" pitchFamily="34" charset="-122"/>
                <a:cs typeface="Lora" pitchFamily="34" charset="-120"/>
              </a:rPr>
              <a:t>Chuỗi ký tự nhận diện được sẽ được so sánh với cơ sở dữ liệu đã đăng ký để xác minh tính hợp lệ của biển số.</a:t>
            </a:r>
            <a:endParaRPr lang="en-US" sz="1550" dirty="0"/>
          </a:p>
        </p:txBody>
      </p:sp>
      <p:sp>
        <p:nvSpPr>
          <p:cNvPr id="6" name="Text 4"/>
          <p:cNvSpPr/>
          <p:nvPr/>
        </p:nvSpPr>
        <p:spPr>
          <a:xfrm>
            <a:off x="793790" y="5247084"/>
            <a:ext cx="6279356" cy="635079"/>
          </a:xfrm>
          <a:prstGeom prst="rect">
            <a:avLst/>
          </a:prstGeom>
          <a:noFill/>
          <a:ln/>
        </p:spPr>
        <p:txBody>
          <a:bodyPr wrap="square" lIns="0" tIns="0" rIns="0" bIns="0" rtlCol="0" anchor="t"/>
          <a:lstStyle/>
          <a:p>
            <a:pPr algn="l" indent="0" marL="0">
              <a:lnSpc>
                <a:spcPts val="2500"/>
              </a:lnSpc>
              <a:buNone/>
            </a:pPr>
            <a:r>
              <a:rPr lang="en-US" sz="1550" dirty="0">
                <a:solidFill>
                  <a:srgbClr val="2C2821"/>
                </a:solidFill>
                <a:latin typeface="Lora" pitchFamily="34" charset="0"/>
                <a:ea typeface="Lora" pitchFamily="34" charset="-122"/>
                <a:cs typeface="Lora" pitchFamily="34" charset="-120"/>
              </a:rPr>
              <a:t>Hệ thống có thể cảnh báo hoặc ghi nhận các biển số không hợp lệ hoặc không có trong danh sách.</a:t>
            </a:r>
            <a:endParaRPr lang="en-US" sz="1550" dirty="0"/>
          </a:p>
        </p:txBody>
      </p:sp>
      <p:sp>
        <p:nvSpPr>
          <p:cNvPr id="7" name="Text 5"/>
          <p:cNvSpPr/>
          <p:nvPr/>
        </p:nvSpPr>
        <p:spPr>
          <a:xfrm>
            <a:off x="7564874" y="3924895"/>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33E32"/>
                </a:solidFill>
                <a:latin typeface="Alice" pitchFamily="34" charset="0"/>
                <a:ea typeface="Alice" pitchFamily="34" charset="-122"/>
                <a:cs typeface="Alice" pitchFamily="34" charset="-120"/>
              </a:rPr>
              <a:t>Lưu Trữ Lịch Sử</a:t>
            </a:r>
            <a:endParaRPr lang="en-US" sz="1950" dirty="0"/>
          </a:p>
        </p:txBody>
      </p:sp>
      <p:sp>
        <p:nvSpPr>
          <p:cNvPr id="8" name="Text 6"/>
          <p:cNvSpPr/>
          <p:nvPr/>
        </p:nvSpPr>
        <p:spPr>
          <a:xfrm>
            <a:off x="7564874" y="4433411"/>
            <a:ext cx="6279356" cy="952619"/>
          </a:xfrm>
          <a:prstGeom prst="rect">
            <a:avLst/>
          </a:prstGeom>
          <a:noFill/>
          <a:ln/>
        </p:spPr>
        <p:txBody>
          <a:bodyPr wrap="square" lIns="0" tIns="0" rIns="0" bIns="0" rtlCol="0" anchor="t"/>
          <a:lstStyle/>
          <a:p>
            <a:pPr algn="l" indent="0" marL="0">
              <a:lnSpc>
                <a:spcPts val="2500"/>
              </a:lnSpc>
              <a:buNone/>
            </a:pPr>
            <a:r>
              <a:rPr lang="en-US" sz="1550" dirty="0">
                <a:solidFill>
                  <a:srgbClr val="2C2821"/>
                </a:solidFill>
                <a:latin typeface="Lora" pitchFamily="34" charset="0"/>
                <a:ea typeface="Lora" pitchFamily="34" charset="-122"/>
                <a:cs typeface="Lora" pitchFamily="34" charset="-120"/>
              </a:rPr>
              <a:t>Mọi lượt nhận diện thành công đều được lưu trữ vào cơ sở dữ liệu, bao gồm thời gian, địa điểm và hình ảnh biển số, phục vụ cho việc tra cứu và quản lý sau này.</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1549837"/>
            <a:ext cx="4961811" cy="620078"/>
          </a:xfrm>
          <a:prstGeom prst="rect">
            <a:avLst/>
          </a:prstGeom>
          <a:noFill/>
          <a:ln/>
        </p:spPr>
        <p:txBody>
          <a:bodyPr wrap="none" lIns="0" tIns="0" rIns="0" bIns="0" rtlCol="0" anchor="t"/>
          <a:lstStyle/>
          <a:p>
            <a:pPr algn="l" indent="0" marL="0">
              <a:lnSpc>
                <a:spcPts val="4850"/>
              </a:lnSpc>
              <a:buNone/>
            </a:pPr>
            <a:r>
              <a:rPr lang="en-US" sz="3900" dirty="0">
                <a:solidFill>
                  <a:srgbClr val="233E32"/>
                </a:solidFill>
                <a:latin typeface="Alice" pitchFamily="34" charset="0"/>
                <a:ea typeface="Alice" pitchFamily="34" charset="-122"/>
                <a:cs typeface="Alice" pitchFamily="34" charset="-120"/>
              </a:rPr>
              <a:t>Tiềm Năng Ứng Dụng</a:t>
            </a:r>
            <a:endParaRPr lang="en-US" sz="3900" dirty="0"/>
          </a:p>
        </p:txBody>
      </p:sp>
      <p:pic>
        <p:nvPicPr>
          <p:cNvPr id="3" name="Image 0" descr="preencoded.png">    </p:cNvPr>
          <p:cNvPicPr>
            <a:picLocks noChangeAspect="1"/>
          </p:cNvPicPr>
          <p:nvPr/>
        </p:nvPicPr>
        <p:blipFill>
          <a:blip r:embed="rId1"/>
          <a:stretch>
            <a:fillRect/>
          </a:stretch>
        </p:blipFill>
        <p:spPr>
          <a:xfrm>
            <a:off x="793790" y="2566749"/>
            <a:ext cx="496133" cy="496133"/>
          </a:xfrm>
          <a:prstGeom prst="rect">
            <a:avLst/>
          </a:prstGeom>
        </p:spPr>
      </p:pic>
      <p:sp>
        <p:nvSpPr>
          <p:cNvPr id="4" name="Text 1"/>
          <p:cNvSpPr/>
          <p:nvPr/>
        </p:nvSpPr>
        <p:spPr>
          <a:xfrm>
            <a:off x="793790" y="3310890"/>
            <a:ext cx="2546985" cy="310158"/>
          </a:xfrm>
          <a:prstGeom prst="rect">
            <a:avLst/>
          </a:prstGeom>
          <a:noFill/>
          <a:ln/>
        </p:spPr>
        <p:txBody>
          <a:bodyPr wrap="none" lIns="0" tIns="0" rIns="0" bIns="0" rtlCol="0" anchor="t"/>
          <a:lstStyle/>
          <a:p>
            <a:pPr algn="l" indent="0" marL="0">
              <a:lnSpc>
                <a:spcPts val="2400"/>
              </a:lnSpc>
              <a:buNone/>
            </a:pPr>
            <a:r>
              <a:rPr lang="en-US" sz="1950" dirty="0">
                <a:solidFill>
                  <a:srgbClr val="2C2821"/>
                </a:solidFill>
                <a:latin typeface="Alice" pitchFamily="34" charset="0"/>
                <a:ea typeface="Alice" pitchFamily="34" charset="-122"/>
                <a:cs typeface="Alice" pitchFamily="34" charset="-120"/>
              </a:rPr>
              <a:t>Bãi Giữ Xe Thông Minh</a:t>
            </a:r>
            <a:endParaRPr lang="en-US" sz="1950" dirty="0"/>
          </a:p>
        </p:txBody>
      </p:sp>
      <p:sp>
        <p:nvSpPr>
          <p:cNvPr id="5" name="Text 2"/>
          <p:cNvSpPr/>
          <p:nvPr/>
        </p:nvSpPr>
        <p:spPr>
          <a:xfrm>
            <a:off x="793790" y="3740110"/>
            <a:ext cx="6397347" cy="317540"/>
          </a:xfrm>
          <a:prstGeom prst="rect">
            <a:avLst/>
          </a:prstGeom>
          <a:noFill/>
          <a:ln/>
        </p:spPr>
        <p:txBody>
          <a:bodyPr wrap="none" lIns="0" tIns="0" rIns="0" bIns="0" rtlCol="0" anchor="t"/>
          <a:lstStyle/>
          <a:p>
            <a:pPr algn="l" indent="0" marL="0">
              <a:lnSpc>
                <a:spcPts val="2500"/>
              </a:lnSpc>
              <a:buNone/>
            </a:pPr>
            <a:r>
              <a:rPr lang="en-US" sz="1550" dirty="0">
                <a:solidFill>
                  <a:srgbClr val="2C2821"/>
                </a:solidFill>
                <a:latin typeface="Lora" pitchFamily="34" charset="0"/>
                <a:ea typeface="Lora" pitchFamily="34" charset="-122"/>
                <a:cs typeface="Lora" pitchFamily="34" charset="-120"/>
              </a:rPr>
              <a:t>Tự động quản lý lượt xe vào/ra, tính phí và thống kê số lượng xe.</a:t>
            </a:r>
            <a:endParaRPr lang="en-US" sz="1550" dirty="0"/>
          </a:p>
        </p:txBody>
      </p:sp>
      <p:pic>
        <p:nvPicPr>
          <p:cNvPr id="6" name="Image 1" descr="preencoded.png">    </p:cNvPr>
          <p:cNvPicPr>
            <a:picLocks noChangeAspect="1"/>
          </p:cNvPicPr>
          <p:nvPr/>
        </p:nvPicPr>
        <p:blipFill>
          <a:blip r:embed="rId2"/>
          <a:stretch>
            <a:fillRect/>
          </a:stretch>
        </p:blipFill>
        <p:spPr>
          <a:xfrm>
            <a:off x="7439144" y="2566749"/>
            <a:ext cx="496133" cy="496133"/>
          </a:xfrm>
          <a:prstGeom prst="rect">
            <a:avLst/>
          </a:prstGeom>
        </p:spPr>
      </p:pic>
      <p:sp>
        <p:nvSpPr>
          <p:cNvPr id="7" name="Text 3"/>
          <p:cNvSpPr/>
          <p:nvPr/>
        </p:nvSpPr>
        <p:spPr>
          <a:xfrm>
            <a:off x="7439144" y="3310890"/>
            <a:ext cx="3321129" cy="310158"/>
          </a:xfrm>
          <a:prstGeom prst="rect">
            <a:avLst/>
          </a:prstGeom>
          <a:noFill/>
          <a:ln/>
        </p:spPr>
        <p:txBody>
          <a:bodyPr wrap="none" lIns="0" tIns="0" rIns="0" bIns="0" rtlCol="0" anchor="t"/>
          <a:lstStyle/>
          <a:p>
            <a:pPr algn="l" indent="0" marL="0">
              <a:lnSpc>
                <a:spcPts val="2400"/>
              </a:lnSpc>
              <a:buNone/>
            </a:pPr>
            <a:r>
              <a:rPr lang="en-US" sz="1950" dirty="0">
                <a:solidFill>
                  <a:srgbClr val="2C2821"/>
                </a:solidFill>
                <a:latin typeface="Alice" pitchFamily="34" charset="0"/>
                <a:ea typeface="Alice" pitchFamily="34" charset="-122"/>
                <a:cs typeface="Alice" pitchFamily="34" charset="-120"/>
              </a:rPr>
              <a:t>Cổng Cơ Quan và Khu Dân Cư</a:t>
            </a:r>
            <a:endParaRPr lang="en-US" sz="1950" dirty="0"/>
          </a:p>
        </p:txBody>
      </p:sp>
      <p:sp>
        <p:nvSpPr>
          <p:cNvPr id="8" name="Text 4"/>
          <p:cNvSpPr/>
          <p:nvPr/>
        </p:nvSpPr>
        <p:spPr>
          <a:xfrm>
            <a:off x="7439144" y="3740110"/>
            <a:ext cx="6397466" cy="635079"/>
          </a:xfrm>
          <a:prstGeom prst="rect">
            <a:avLst/>
          </a:prstGeom>
          <a:noFill/>
          <a:ln/>
        </p:spPr>
        <p:txBody>
          <a:bodyPr wrap="square" lIns="0" tIns="0" rIns="0" bIns="0" rtlCol="0" anchor="t"/>
          <a:lstStyle/>
          <a:p>
            <a:pPr algn="l" indent="0" marL="0">
              <a:lnSpc>
                <a:spcPts val="2500"/>
              </a:lnSpc>
              <a:buNone/>
            </a:pPr>
            <a:r>
              <a:rPr lang="en-US" sz="1550" dirty="0">
                <a:solidFill>
                  <a:srgbClr val="2C2821"/>
                </a:solidFill>
                <a:latin typeface="Lora" pitchFamily="34" charset="0"/>
                <a:ea typeface="Lora" pitchFamily="34" charset="-122"/>
                <a:cs typeface="Lora" pitchFamily="34" charset="-120"/>
              </a:rPr>
              <a:t>Kiểm soát an ninh, chỉ cho phép xe đã đăng ký vào/ra, nâng cao mức độ an toàn.</a:t>
            </a:r>
            <a:endParaRPr lang="en-US" sz="1550" dirty="0"/>
          </a:p>
        </p:txBody>
      </p:sp>
      <p:pic>
        <p:nvPicPr>
          <p:cNvPr id="9" name="Image 2" descr="preencoded.png">    </p:cNvPr>
          <p:cNvPicPr>
            <a:picLocks noChangeAspect="1"/>
          </p:cNvPicPr>
          <p:nvPr/>
        </p:nvPicPr>
        <p:blipFill>
          <a:blip r:embed="rId3"/>
          <a:stretch>
            <a:fillRect/>
          </a:stretch>
        </p:blipFill>
        <p:spPr>
          <a:xfrm>
            <a:off x="793790" y="4871323"/>
            <a:ext cx="496133" cy="496133"/>
          </a:xfrm>
          <a:prstGeom prst="rect">
            <a:avLst/>
          </a:prstGeom>
        </p:spPr>
      </p:pic>
      <p:sp>
        <p:nvSpPr>
          <p:cNvPr id="10" name="Text 5"/>
          <p:cNvSpPr/>
          <p:nvPr/>
        </p:nvSpPr>
        <p:spPr>
          <a:xfrm>
            <a:off x="793790" y="5615464"/>
            <a:ext cx="3226237" cy="310158"/>
          </a:xfrm>
          <a:prstGeom prst="rect">
            <a:avLst/>
          </a:prstGeom>
          <a:noFill/>
          <a:ln/>
        </p:spPr>
        <p:txBody>
          <a:bodyPr wrap="none" lIns="0" tIns="0" rIns="0" bIns="0" rtlCol="0" anchor="t"/>
          <a:lstStyle/>
          <a:p>
            <a:pPr algn="l" indent="0" marL="0">
              <a:lnSpc>
                <a:spcPts val="2400"/>
              </a:lnSpc>
              <a:buNone/>
            </a:pPr>
            <a:r>
              <a:rPr lang="en-US" sz="1950" dirty="0">
                <a:solidFill>
                  <a:srgbClr val="2C2821"/>
                </a:solidFill>
                <a:latin typeface="Alice" pitchFamily="34" charset="0"/>
                <a:ea typeface="Alice" pitchFamily="34" charset="-122"/>
                <a:cs typeface="Alice" pitchFamily="34" charset="-120"/>
              </a:rPr>
              <a:t>Tích Hợp Hệ Thống Giám Sát</a:t>
            </a:r>
            <a:endParaRPr lang="en-US" sz="1950" dirty="0"/>
          </a:p>
        </p:txBody>
      </p:sp>
      <p:sp>
        <p:nvSpPr>
          <p:cNvPr id="11" name="Text 6"/>
          <p:cNvSpPr/>
          <p:nvPr/>
        </p:nvSpPr>
        <p:spPr>
          <a:xfrm>
            <a:off x="793790" y="6044684"/>
            <a:ext cx="6397347" cy="635079"/>
          </a:xfrm>
          <a:prstGeom prst="rect">
            <a:avLst/>
          </a:prstGeom>
          <a:noFill/>
          <a:ln/>
        </p:spPr>
        <p:txBody>
          <a:bodyPr wrap="square" lIns="0" tIns="0" rIns="0" bIns="0" rtlCol="0" anchor="t"/>
          <a:lstStyle/>
          <a:p>
            <a:pPr algn="l" indent="0" marL="0">
              <a:lnSpc>
                <a:spcPts val="2500"/>
              </a:lnSpc>
              <a:buNone/>
            </a:pPr>
            <a:r>
              <a:rPr lang="en-US" sz="1550" dirty="0">
                <a:solidFill>
                  <a:srgbClr val="2C2821"/>
                </a:solidFill>
                <a:latin typeface="Lora" pitchFamily="34" charset="0"/>
                <a:ea typeface="Lora" pitchFamily="34" charset="-122"/>
                <a:cs typeface="Lora" pitchFamily="34" charset="-120"/>
              </a:rPr>
              <a:t>Dễ dàng mở rộng, tích hợp với các hệ thống camera giám sát, barie tự động để tạo thành giải pháp toàn diện.</a:t>
            </a:r>
            <a:endParaRPr lang="en-US" sz="1550" dirty="0"/>
          </a:p>
        </p:txBody>
      </p:sp>
      <p:pic>
        <p:nvPicPr>
          <p:cNvPr id="12" name="Image 3" descr="preencoded.png">    </p:cNvPr>
          <p:cNvPicPr>
            <a:picLocks noChangeAspect="1"/>
          </p:cNvPicPr>
          <p:nvPr/>
        </p:nvPicPr>
        <p:blipFill>
          <a:blip r:embed="rId4"/>
          <a:stretch>
            <a:fillRect/>
          </a:stretch>
        </p:blipFill>
        <p:spPr>
          <a:xfrm>
            <a:off x="7439144" y="4871323"/>
            <a:ext cx="496133" cy="496133"/>
          </a:xfrm>
          <a:prstGeom prst="rect">
            <a:avLst/>
          </a:prstGeom>
        </p:spPr>
      </p:pic>
      <p:sp>
        <p:nvSpPr>
          <p:cNvPr id="13" name="Text 7"/>
          <p:cNvSpPr/>
          <p:nvPr/>
        </p:nvSpPr>
        <p:spPr>
          <a:xfrm>
            <a:off x="7439144" y="5615464"/>
            <a:ext cx="3624024" cy="310158"/>
          </a:xfrm>
          <a:prstGeom prst="rect">
            <a:avLst/>
          </a:prstGeom>
          <a:noFill/>
          <a:ln/>
        </p:spPr>
        <p:txBody>
          <a:bodyPr wrap="none" lIns="0" tIns="0" rIns="0" bIns="0" rtlCol="0" anchor="t"/>
          <a:lstStyle/>
          <a:p>
            <a:pPr algn="l" indent="0" marL="0">
              <a:lnSpc>
                <a:spcPts val="2400"/>
              </a:lnSpc>
              <a:buNone/>
            </a:pPr>
            <a:r>
              <a:rPr lang="en-US" sz="1950" dirty="0">
                <a:solidFill>
                  <a:srgbClr val="2C2821"/>
                </a:solidFill>
                <a:latin typeface="Alice" pitchFamily="34" charset="0"/>
                <a:ea typeface="Alice" pitchFamily="34" charset="-122"/>
                <a:cs typeface="Alice" pitchFamily="34" charset="-120"/>
              </a:rPr>
              <a:t>Quản Lý Thông Tin Phương Tiện</a:t>
            </a:r>
            <a:endParaRPr lang="en-US" sz="1950" dirty="0"/>
          </a:p>
        </p:txBody>
      </p:sp>
      <p:sp>
        <p:nvSpPr>
          <p:cNvPr id="14" name="Text 8"/>
          <p:cNvSpPr/>
          <p:nvPr/>
        </p:nvSpPr>
        <p:spPr>
          <a:xfrm>
            <a:off x="7439144" y="6044684"/>
            <a:ext cx="6397466" cy="635079"/>
          </a:xfrm>
          <a:prstGeom prst="rect">
            <a:avLst/>
          </a:prstGeom>
          <a:noFill/>
          <a:ln/>
        </p:spPr>
        <p:txBody>
          <a:bodyPr wrap="square" lIns="0" tIns="0" rIns="0" bIns="0" rtlCol="0" anchor="t"/>
          <a:lstStyle/>
          <a:p>
            <a:pPr algn="l" indent="0" marL="0">
              <a:lnSpc>
                <a:spcPts val="2500"/>
              </a:lnSpc>
              <a:buNone/>
            </a:pPr>
            <a:r>
              <a:rPr lang="en-US" sz="1550" dirty="0">
                <a:solidFill>
                  <a:srgbClr val="2C2821"/>
                </a:solidFill>
                <a:latin typeface="Lora" pitchFamily="34" charset="0"/>
                <a:ea typeface="Lora" pitchFamily="34" charset="-122"/>
                <a:cs typeface="Lora" pitchFamily="34" charset="-120"/>
              </a:rPr>
              <a:t>Hỗ trợ người dùng và quản trị viên trong việc theo dõi và cập nhật thông tin về phương tiện.</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2243257"/>
            <a:ext cx="6782991" cy="620078"/>
          </a:xfrm>
          <a:prstGeom prst="rect">
            <a:avLst/>
          </a:prstGeom>
          <a:noFill/>
          <a:ln/>
        </p:spPr>
        <p:txBody>
          <a:bodyPr wrap="none" lIns="0" tIns="0" rIns="0" bIns="0" rtlCol="0" anchor="t"/>
          <a:lstStyle/>
          <a:p>
            <a:pPr algn="l" indent="0" marL="0">
              <a:lnSpc>
                <a:spcPts val="4850"/>
              </a:lnSpc>
              <a:buNone/>
            </a:pPr>
            <a:r>
              <a:rPr lang="en-US" sz="3900" dirty="0">
                <a:solidFill>
                  <a:srgbClr val="233E32"/>
                </a:solidFill>
                <a:latin typeface="Alice" pitchFamily="34" charset="0"/>
                <a:ea typeface="Alice" pitchFamily="34" charset="-122"/>
                <a:cs typeface="Alice" pitchFamily="34" charset="-120"/>
              </a:rPr>
              <a:t>Kết Luận và Hướng Phát Triển</a:t>
            </a:r>
            <a:endParaRPr lang="en-US" sz="3900" dirty="0"/>
          </a:p>
        </p:txBody>
      </p:sp>
      <p:sp>
        <p:nvSpPr>
          <p:cNvPr id="3" name="Text 1"/>
          <p:cNvSpPr/>
          <p:nvPr/>
        </p:nvSpPr>
        <p:spPr>
          <a:xfrm>
            <a:off x="793790" y="3260169"/>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2C2821"/>
                </a:solidFill>
                <a:latin typeface="Lora" pitchFamily="34" charset="0"/>
                <a:ea typeface="Lora" pitchFamily="34" charset="-122"/>
                <a:cs typeface="Lora" pitchFamily="34" charset="-120"/>
              </a:rPr>
              <a:t>Hệ thống nhận diện biển số xe máy tự động này mang lại giải pháp hiệu quả, tiết kiệm chi phí và có tính ứng dụng cao trong nhiều lĩnh vực.</a:t>
            </a:r>
            <a:endParaRPr lang="en-US" sz="1550" dirty="0"/>
          </a:p>
        </p:txBody>
      </p:sp>
      <p:sp>
        <p:nvSpPr>
          <p:cNvPr id="4" name="Text 2"/>
          <p:cNvSpPr/>
          <p:nvPr/>
        </p:nvSpPr>
        <p:spPr>
          <a:xfrm>
            <a:off x="793790" y="3999309"/>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33E32"/>
                </a:solidFill>
                <a:latin typeface="Alice" pitchFamily="34" charset="0"/>
                <a:ea typeface="Alice" pitchFamily="34" charset="-122"/>
                <a:cs typeface="Alice" pitchFamily="34" charset="-120"/>
              </a:rPr>
              <a:t>Điểm Nổi Bật</a:t>
            </a:r>
            <a:endParaRPr lang="en-US" sz="1950" dirty="0"/>
          </a:p>
        </p:txBody>
      </p:sp>
      <p:sp>
        <p:nvSpPr>
          <p:cNvPr id="5" name="Text 3"/>
          <p:cNvSpPr/>
          <p:nvPr/>
        </p:nvSpPr>
        <p:spPr>
          <a:xfrm>
            <a:off x="793790" y="4507825"/>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2821"/>
                </a:solidFill>
                <a:latin typeface="Lora" pitchFamily="34" charset="0"/>
                <a:ea typeface="Lora" pitchFamily="34" charset="-122"/>
                <a:cs typeface="Lora" pitchFamily="34" charset="-120"/>
              </a:rPr>
              <a:t>Giải pháp toàn diện từ phần cứng đến phần mềm.</a:t>
            </a:r>
            <a:endParaRPr lang="en-US" sz="1550" dirty="0"/>
          </a:p>
        </p:txBody>
      </p:sp>
      <p:sp>
        <p:nvSpPr>
          <p:cNvPr id="6" name="Text 4"/>
          <p:cNvSpPr/>
          <p:nvPr/>
        </p:nvSpPr>
        <p:spPr>
          <a:xfrm>
            <a:off x="793790" y="4894778"/>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2821"/>
                </a:solidFill>
                <a:latin typeface="Lora" pitchFamily="34" charset="0"/>
                <a:ea typeface="Lora" pitchFamily="34" charset="-122"/>
                <a:cs typeface="Lora" pitchFamily="34" charset="-120"/>
              </a:rPr>
              <a:t>Sử dụng công nghệ AI tiên tiến (YOLO) để đạt hiệu quả cao.</a:t>
            </a:r>
            <a:endParaRPr lang="en-US" sz="1550" dirty="0"/>
          </a:p>
        </p:txBody>
      </p:sp>
      <p:sp>
        <p:nvSpPr>
          <p:cNvPr id="7" name="Text 5"/>
          <p:cNvSpPr/>
          <p:nvPr/>
        </p:nvSpPr>
        <p:spPr>
          <a:xfrm>
            <a:off x="793790" y="5281732"/>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2821"/>
                </a:solidFill>
                <a:latin typeface="Lora" pitchFamily="34" charset="0"/>
                <a:ea typeface="Lora" pitchFamily="34" charset="-122"/>
                <a:cs typeface="Lora" pitchFamily="34" charset="-120"/>
              </a:rPr>
              <a:t>Khả năng mở rộng và tích hợp linh hoạt.</a:t>
            </a:r>
            <a:endParaRPr lang="en-US" sz="1550" dirty="0"/>
          </a:p>
        </p:txBody>
      </p:sp>
      <p:sp>
        <p:nvSpPr>
          <p:cNvPr id="8" name="Text 6"/>
          <p:cNvSpPr/>
          <p:nvPr/>
        </p:nvSpPr>
        <p:spPr>
          <a:xfrm>
            <a:off x="7564874" y="3999309"/>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33E32"/>
                </a:solidFill>
                <a:latin typeface="Alice" pitchFamily="34" charset="0"/>
                <a:ea typeface="Alice" pitchFamily="34" charset="-122"/>
                <a:cs typeface="Alice" pitchFamily="34" charset="-120"/>
              </a:rPr>
              <a:t>Hướng Phát Triển</a:t>
            </a:r>
            <a:endParaRPr lang="en-US" sz="1950" dirty="0"/>
          </a:p>
        </p:txBody>
      </p:sp>
      <p:sp>
        <p:nvSpPr>
          <p:cNvPr id="9" name="Text 7"/>
          <p:cNvSpPr/>
          <p:nvPr/>
        </p:nvSpPr>
        <p:spPr>
          <a:xfrm>
            <a:off x="7564874" y="4507825"/>
            <a:ext cx="6279356"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2C2821"/>
                </a:solidFill>
                <a:latin typeface="Lora" pitchFamily="34" charset="0"/>
                <a:ea typeface="Lora" pitchFamily="34" charset="-122"/>
                <a:cs typeface="Lora" pitchFamily="34" charset="-120"/>
              </a:rPr>
              <a:t>Cải thiện hiệu suất trong điều kiện ánh sáng yếu hoặc thời tiết xấu.</a:t>
            </a:r>
            <a:endParaRPr lang="en-US" sz="1550" dirty="0"/>
          </a:p>
        </p:txBody>
      </p:sp>
      <p:sp>
        <p:nvSpPr>
          <p:cNvPr id="10" name="Text 8"/>
          <p:cNvSpPr/>
          <p:nvPr/>
        </p:nvSpPr>
        <p:spPr>
          <a:xfrm>
            <a:off x="7564874" y="5212318"/>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2821"/>
                </a:solidFill>
                <a:latin typeface="Lora" pitchFamily="34" charset="0"/>
                <a:ea typeface="Lora" pitchFamily="34" charset="-122"/>
                <a:cs typeface="Lora" pitchFamily="34" charset="-120"/>
              </a:rPr>
              <a:t>Hỗ trợ nhận diện biển số bị che khuất một phần hoặc bị hỏng.</a:t>
            </a:r>
            <a:endParaRPr lang="en-US" sz="1550" dirty="0"/>
          </a:p>
        </p:txBody>
      </p:sp>
      <p:sp>
        <p:nvSpPr>
          <p:cNvPr id="11" name="Text 9"/>
          <p:cNvSpPr/>
          <p:nvPr/>
        </p:nvSpPr>
        <p:spPr>
          <a:xfrm>
            <a:off x="7564874" y="5599271"/>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2821"/>
                </a:solidFill>
                <a:latin typeface="Lora" pitchFamily="34" charset="0"/>
                <a:ea typeface="Lora" pitchFamily="34" charset="-122"/>
                <a:cs typeface="Lora" pitchFamily="34" charset="-120"/>
              </a:rPr>
              <a:t>Tích hợp thêm các tính năng phân tích dữ liệu nâng cao.</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2025-07-06T23:46:08Z</dcterms:created>
  <dcterms:modified xsi:type="dcterms:W3CDTF">2025-07-06T23:46:08Z</dcterms:modified>
</cp:coreProperties>
</file>